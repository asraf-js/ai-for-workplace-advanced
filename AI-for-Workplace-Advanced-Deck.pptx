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83218ac3-4c18-34c2-6781-fe4bde918ee4}">
          <p14:sldIdLst>
            <p14:sldId id="256"/>
            <p14:sldId id="257"/>
            <p14:sldId id="258"/>
            <p14:sldId id="259"/>
            <p14:sldId id="260"/>
            <p14:sldId id="261"/>
            <p14:sldId id="262"/>
          </p14:sldIdLst>
        </p14:section>
        <p14:section name="01 How LLMs behave" id="{a7edb939-8d0b-e765-a189-045959f0f422}">
          <p14:sldIdLst>
            <p14:sldId id="263"/>
            <p14:sldId id="264"/>
            <p14:sldId id="265"/>
          </p14:sldIdLst>
        </p14:section>
        <p14:section name="02 Context engineering" id="{7b3ba986-714a-9684-8949-8ac2e5502c41}">
          <p14:sldIdLst>
            <p14:sldId id="266"/>
            <p14:sldId id="267"/>
            <p14:sldId id="268"/>
            <p14:sldId id="269"/>
          </p14:sldIdLst>
        </p14:section>
        <p14:section name="03 Custom assistants" id="{0882a434-c45a-d0bf-07fd-5c73d08ba02e}">
          <p14:sldIdLst>
            <p14:sldId id="270"/>
            <p14:sldId id="271"/>
            <p14:sldId id="272"/>
            <p14:sldId id="273"/>
          </p14:sldIdLst>
        </p14:section>
        <p14:section name="04 Grounded research" id="{10bbeb3c-1603-ba68-170e-f6d466389b7f}">
          <p14:sldIdLst>
            <p14:sldId id="274"/>
            <p14:sldId id="275"/>
            <p14:sldId id="276"/>
          </p14:sldIdLst>
        </p14:section>
        <p14:section name="05 Data analysis" id="{c1b8665c-a679-328d-6b9c-9cc4bbaa532e}">
          <p14:sldIdLst>
            <p14:sldId id="277"/>
            <p14:sldId id="278"/>
            <p14:sldId id="279"/>
          </p14:sldIdLst>
        </p14:section>
        <p14:section name="06 Templates" id="{f202c298-c5b5-ee9a-0591-073b84cbacad}">
          <p14:sldIdLst>
            <p14:sldId id="280"/>
            <p14:sldId id="281"/>
            <p14:sldId id="282"/>
          </p14:sldIdLst>
        </p14:section>
        <p14:section name="07 Evaluating output" id="{d32ca35d-0cad-0e62-b034-24c46b795431}">
          <p14:sldIdLst>
            <p14:sldId id="283"/>
            <p14:sldId id="284"/>
            <p14:sldId id="285"/>
            <p14:sldId id="286"/>
            <p14:sldId id="287"/>
          </p14:sldIdLst>
        </p14:section>
        <p14:section name="Day 2" id="{5d0d9e50-bf70-8684-c2c6-e57b56ae9e8c}">
          <p14:sldIdLst>
            <p14:sldId id="288"/>
          </p14:sldIdLst>
        </p14:section>
        <p14:section name="08 Agents and MCP" id="{7fbbdb13-c8f7-7622-b362-18eafd526fa4}">
          <p14:sldIdLst>
            <p14:sldId id="289"/>
            <p14:sldId id="290"/>
            <p14:sldId id="291"/>
            <p14:sldId id="292"/>
          </p14:sldIdLst>
        </p14:section>
        <p14:section name="09 RAG" id="{60218389-626b-3546-7212-74f1d755c42a}">
          <p14:sldIdLst>
            <p14:sldId id="293"/>
            <p14:sldId id="294"/>
            <p14:sldId id="295"/>
            <p14:sldId id="296"/>
          </p14:sldIdLst>
        </p14:section>
        <p14:section name="10 n8n workflow" id="{0106bb2e-6fe2-254a-db06-122c56bf14b7}">
          <p14:sldIdLst>
            <p14:sldId id="297"/>
            <p14:sldId id="298"/>
            <p14:sldId id="299"/>
            <p14:sldId id="300"/>
          </p14:sldIdLst>
        </p14:section>
        <p14:section name="11 AI security" id="{b6a5fe6f-e928-6805-d3ae-84e869b57e9f}">
          <p14:sldIdLst>
            <p14:sldId id="301"/>
            <p14:sldId id="302"/>
            <p14:sldId id="303"/>
          </p14:sldIdLst>
        </p14:section>
        <p14:section name="12 AI governance" id="{5210fe93-c85f-8311-d16f-c60c1269bb29}">
          <p14:sldIdLst>
            <p14:sldId id="304"/>
            <p14:sldId id="305"/>
            <p14:sldId id="306"/>
            <p14:sldId id="307"/>
          </p14:sldIdLst>
        </p14:section>
        <p14:section name="13 Capstone" id="{9b8cb1b5-7177-b134-72bb-d46001606da1}">
          <p14:sldIdLst>
            <p14:sldId id="308"/>
            <p14:sldId id="309"/>
            <p14:sldId id="310"/>
            <p14:sldId id="311"/>
          </p14:sldIdLst>
        </p14:section>
        <p14:section name="Close" id="{d3d2e617-335f-08df-8359-9665eef8a418}">
          <p14:sldIdLst>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and introduce yourself. This is the follow-on to AI for Workplace (Beginner): everyone here already writes prompts. These two days are about building things with AI that you can trust and hand to colleagues.
Ask the room: which AI tool does your company give you? Note the mix. Every lab works in Copilot, ChatGPT, Claude or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scenario out. Sinar Maju is fictional, and so is every supplier, person and figure in the files.
The thread: on Day 1 they build a Quotation Checker and test it. On Day 2 they connect it, rebuild it as an n8n workflow with human approval, attack it, and write the rules for using it. The capstone applies everything to a new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builds and tests: from how models behave, through the Quotation Checker, to scoring it. Day 2 connects and secures: agents, RAG, the n8n workflow, security, governance, and the capstone.
The stage names match the program flow banner on the course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 are the module estimates from the notes. Add breaks and lunch to suit the venue.
Protect Module 03 (70 minutes) on Day 1, and Modules 10 and 13 (90 minutes each) on Day 2. Those are the ones that run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lab is written as a task, not a tool. Each module's Product Notes table and the product cards on the site show the clicks for each tool.
Check which tool each person will use, and pair people on the same tool where you can. Personal ChatGPT plans can't build GPTs any more: the Quotation Checker is a Project there. Gemini personal accounts use skills, because Gems on personal accounts end in November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address on the whiteboard. No GitHub account is needed.
Stress copying prompts from the Prompts pages with the copy icon: the PDF can add line breaks in the middle of a prompt. Sample files download as one ZIP per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protect the participants and their companies. Repeat rule 1 whenever someone is about to upload a file.
Training emails in Module 10 always start with [AIW TRAINING] and go only to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what's going on inside the tool. This explains most of what goes right and wrong for the rest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no maths. The point is that a total printed in a quotation is just more text to the model unless it's asked to calculate.
Fast versus reasoning: reasoning models work through steps before answering. They catch more in checking tasks, but they can still miss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minutes. Sample files: Module 01 ZIP (the RFQ and one quotation).
Don't tell them what to look for. The debrief question is: did the fast model check the figures, or repeat the ones printed on the page? The expected result is in the Module 01 box and the chair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engineering is putting the right things in front of the model, and nothing that gets in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GCSE from the Beginner course. The new part is boundaries: tell the model to use only the source, and what to do when the source doesn't answer.
Context is everything the model sees: the prompt, files, earlier messages, custom instructions and memory. A long chat full of other tasks confuses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Chaining: check each step before the next depends on it. One big prompt makes mistakes hard to find.
JSON matters on Day 2: the n8n workflow needs the AI's answer as fields, not a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minutes. Uses the RFQ from Module 01's ZIP.
There's no single right answer here: outputs vary. Check that rows can be quoted from the RFQ, and that steps 1 to 3 ran in the same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 of Day 1. The Quotation Checker built here is reused in Modules 07, 10 and 11, so make sure everyone saves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sure each person knows where their tool keeps a custom assistant before they start. The product cards have the clicks.
Copilot Basic agents can't hold files, and Gemini skills hold plain text only: those participants upload the policy and vendor list in each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Checker instructions on the Module 03 prompts page and point out each part.
They deliberately leave out any rule about instructions hidden inside documents. Don't add it: participants break the Checker in Module 11 and add it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minutes. Sample files: Module 03 ZIP.
Don't reveal the problems in the three quotations. The expected results are in the Module 03 boxes and the chair answer key. If someone's Checker skips checks, have them reply: Run all seven checks in your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Notebook (formerly NotebookLM) works best for this lab, because each citation shows the exact quote. Copilot Notebooks and Projects also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habit: ask for the clause number and the exact sentence every time. Then checking is quick.
A good tool says "that's not in the sources". 4.4 tests this with a question the policy doesn't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minutes. Sample files: Module 04 ZIP.
The expected answers are in the Module 04 boxes. If someone's tool invents a rule for the overseas-supplier question, that's the teaching moment: ask it to quote the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months of purchase orders. The lesson is clean first, define the measure, and check one figure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that run code (ChatGPT, Claude, Gemini, and Copilot, which runs Python even on Basic) are far more reliable for sums than tools that read the file as text.
The Excel PivotTable check in 5.3 shows why cleaning matters: one supplier's total comes out higher in Excel. Let them find 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minutes. Sample files: Module 05 ZIP (xlsx and csv).
Don't name the patterns in advance. The expected findings are in the Module 05 boxes and the purchase history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deck templates look almost the same. The difference is underneath, and it shows when AI fills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open both decks and try Home &gt; Layout, Outline View and Check Accessibility before they use any AI. The bad deck has no real titles and only a blank layout.
_design/templates/README.md lists every difference, for your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minutes. Sample files: Module 06 ZIP. Needs desktop Word and PowerPoint.
Copilot Chat (Basic) has no Copilot in the Office apps, but in chat it returns the filled .docx and .pptx to OneDrive. Paste with Keep Text Only only if a tool can't return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good reports aren't evidence. Ten cases with known answers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mistake costs Sinar Maju more. Usually the false negative: a bad quotation gets through. But false positives teach people to ignore the Checker.
The test set includes traps of both kinds. Don't say which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point for the verdict, one for the clause: "Fail" for the wrong reason is luck.
After any change, re-run all ten cases. A fix for one case can break another. That's regression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minutes. Sample files: Module 07 ZIP. Pairs can split the cases: 01 to 05 and 06 to 10.
The expected verdicts are in the Module 07 box and the test-case answer key. Remind them to keep the improved instructions for Modules 10 and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day around the Quotation Checker. Ask each person for their Checker's score, and the one rule they changed.
Tell them to keep their assistant and their improved instructions: Day 2 starts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Ask: did anyone use their Checker or notebook since yesterday? Remind them which AI tool they're using and that their Checker instructions are on the Module 03 prompts page if they lost them.
Check everyone has the n8n access details you sent before Day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agent acts, through connectors. Before building one, map exactly what it would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a common standard for connecting AI tools to other systems, a bit like USB-C. A system offers an MCP server; any tool that supports MCP can use it.
Read versus write is the key distinction. Reading the vendor list is low risk; emailing a purchase order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 of thumb for the whole of Day 2. Module 10's workflow is built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minutes. No files.
The Module 08 box shows an example map. Maps will differ: judge the reasoning, especially the approvals.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adds an old copy of the policy to the notebook. What happens to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plain: chunks, a meaning index, retrieval by meaning, answer from the chunks.
The key insight: retrieval matches meaning, not date or version. A chunk from page 2 doesn't carry page 1's SUPERSEDED stamp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A (telling the tool which version wins) helps. Fix B (removing the old file) is the one you can trust in six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minutes. Sample files: Module 09 ZIP (both policy versions).
Results vary from run to run. The expected right and wrong answers are in the Module 09 box and the policy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longest lab. Check before class that the starter imports into your trial account and that the trial shows Gateway credits (or the class credential works).
For a non-technical group, or where IT blocks n8n or the mailbox connection, build 10.1 to 10.6 on screen while they follow, then have them predict each route before it runs in 10.7. The locked-down page in the product cards gives the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nodes come in the starter file. Participants build the AI check, the vendor rule, the Switch and the approval.
The Code node checks the vendor list with a rule, not AI: a lookup is right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back to this line in the Module 10 debrief and again in the capstone.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80 minutes. Sample files: Module 10 ZIP. Emails go only to yourself, with [AIW TRAINING] in the subject.
Common snags: the binary field name in Read the PDF text, Require Specific Output Format left off, and verdicts in the wrong case for the Switch. The expected routes are in the Module 10 box and the n8n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attack their own Checker. Remind them: only test tools you own or have been asked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Indirect prompt injection: instructions hidden in content the AI reads, such as files, emails or web pages. White 1-point text is invisible to a person and plain text to the AI.
The four risks are from the OWASP Top 10 for LLM Applications (2025), in everyday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minutes. Needs Word and the Module 07 files.
Checkers react differently: some obey, some ignore it silently, some report it. Collect a few results across tools for the debrief. The expected behaviour is in the Module 11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explains rules for training, not legal advice. Before each class, check the status of the AI Governance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PDPA amendments: in force from 1 June 2025 (Data Protection Officer, breach notification, data portability).
AIGE: MOSTI, September 2024, voluntary.
AI Governance Bill: public consultation by the National AI Office in July 2026, a risk-based draft. Not law as of October 2026: check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National Guidelines on AI Governance and Ethics (MOSTI, 2024). In 12.4 participants map their rules to these and look for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minutes. No files.
Risk ratings are judgement: the reason matters more than the label. The Module 12 box shows one defensible set. Delete any law or deadline the AI invents.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of three or four. Step back: let them use the notes from both days. Hints only if a team is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brief has its own sample data, with the tricky cases built in. Don't reveal them: teams find them in 13.3.
Two teams can pick the same brief. Their designs will differ. Steer HR participants to Brief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pitch, 3 minutes questions per team. Other teams score with the rubric on the Module 13 page.
Teams that test their design on the data usually score well on Risks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minutes before pitches, then 35 minutes of pitches. Sample files: Module 13 ZIP, including the canvas.
The cases each brief's data contains are in the Module 13 boxes and the capstone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person which habit they'll use first, and on what task.
Recap the thread: one Quotation Checker, built, tested, grounded, automated with approval, attacked and governed.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them to the product cards for their own tool, and to the capstone canvas for designing their next workflow at work.
After the course, questions go to the training coordinator who arranged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Title-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ivider-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ontent-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Content-2-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Content-3-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Content-4-image-2.jpe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Statement-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raf JS logo">    </p:cNvPr>
          <p:cNvPicPr>
            <a:picLocks noChangeAspect="1"/>
          </p:cNvPicPr>
          <p:nvPr/>
        </p:nvPicPr>
        <p:blipFill>
          <a:blip r:embed="rId1"/>
          <a:stretch>
            <a:fillRect/>
          </a:stretch>
        </p:blipFill>
        <p:spPr>
          <a:xfrm>
            <a:off x="658368" y="457200"/>
            <a:ext cx="777240" cy="777240"/>
          </a:xfrm>
          <a:prstGeom prst="rect">
            <a:avLst/>
          </a:prstGeom>
        </p:spPr>
      </p:pic>
      <p:sp>
        <p:nvSpPr>
          <p:cNvPr id="3" name="Text 0"/>
          <p:cNvSpPr/>
          <p:nvPr>
            <p:ph idx="101" type="body" hasCustomPrompt="1"/>
          </p:nvPr>
        </p:nvSpPr>
        <p:spPr>
          <a:xfrm>
            <a:off x="731520" y="1463040"/>
            <a:ext cx="10058400" cy="365760"/>
          </a:xfrm>
          <a:prstGeom prst="rect">
            <a:avLst/>
          </a:prstGeom>
          <a:noFill/>
          <a:ln/>
        </p:spPr>
        <p:txBody>
          <a:bodyPr wrap="square" rtlCol="0"/>
          <a:lstStyle>
            <a:lvl1pPr indent="0" marL="0">
              <a:buNone/>
              <a:defRPr lang="en-US" sz="1600" dirty="0">
                <a:solidFill>
                  <a:srgbClr val="00EEFC"/>
                </a:solidFill>
              </a:defRPr>
            </a:lvl1pPr>
          </a:lstStyle>
          <a:p>
            <a:pPr indent="0" marL="0">
              <a:buNone/>
            </a:pPr>
            <a:endParaRPr lang="en-US" sz="1600" dirty="0"/>
          </a:p>
        </p:txBody>
      </p:sp>
      <p:sp>
        <p:nvSpPr>
          <p:cNvPr id="4" name="Text 0"/>
          <p:cNvSpPr/>
          <p:nvPr>
            <p:ph type="title" hasCustomPrompt="1"/>
          </p:nvPr>
        </p:nvSpPr>
        <p:spPr>
          <a:xfrm>
            <a:off x="731520" y="1920240"/>
            <a:ext cx="10515600" cy="1371600"/>
          </a:xfrm>
          <a:prstGeom prst="rect">
            <a:avLst/>
          </a:prstGeom>
          <a:noFill/>
          <a:ln/>
        </p:spPr>
        <p:txBody>
          <a:bodyPr wrap="square" rtlCol="0"/>
          <a:lstStyle>
            <a:lvl1pPr algn="l" indent="0" marL="0">
              <a:buNone/>
              <a:defRPr lang="en-US" sz="4800" dirty="0">
                <a:solidFill>
                  <a:schemeClr val="bg1"/>
                </a:solidFill>
              </a:defRPr>
            </a:lvl1pPr>
          </a:lstStyle>
          <a:p>
            <a:pPr algn="l" indent="0" marL="0">
              <a:buNone/>
            </a:pPr>
            <a:endParaRPr lang="en-US" sz="4800" dirty="0"/>
          </a:p>
        </p:txBody>
      </p:sp>
      <p:sp>
        <p:nvSpPr>
          <p:cNvPr id="5" name="Text 0"/>
          <p:cNvSpPr/>
          <p:nvPr>
            <p:ph idx="103" type="body" hasCustomPrompt="1"/>
          </p:nvPr>
        </p:nvSpPr>
        <p:spPr>
          <a:xfrm>
            <a:off x="731520" y="3383280"/>
            <a:ext cx="914400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6" name="Text 0"/>
          <p:cNvSpPr/>
          <p:nvPr>
            <p:ph idx="104" type="body" hasCustomPrompt="1"/>
          </p:nvPr>
        </p:nvSpPr>
        <p:spPr>
          <a:xfrm>
            <a:off x="731520" y="5669280"/>
            <a:ext cx="9601200" cy="365760"/>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raf JS logo">    </p:cNvPr>
          <p:cNvPicPr>
            <a:picLocks noChangeAspect="1"/>
          </p:cNvPicPr>
          <p:nvPr/>
        </p:nvPicPr>
        <p:blipFill>
          <a:blip r:embed="rId1"/>
          <a:stretch>
            <a:fillRect/>
          </a:stretch>
        </p:blipFill>
        <p:spPr>
          <a:xfrm>
            <a:off x="685800" y="5989320"/>
            <a:ext cx="502920" cy="502920"/>
          </a:xfrm>
          <a:prstGeom prst="rect">
            <a:avLst/>
          </a:prstGeom>
        </p:spPr>
      </p:pic>
      <p:sp>
        <p:nvSpPr>
          <p:cNvPr id="3" name="Text 0"/>
          <p:cNvSpPr/>
          <p:nvPr>
            <p:ph idx="101" type="body" hasCustomPrompt="1"/>
          </p:nvPr>
        </p:nvSpPr>
        <p:spPr>
          <a:xfrm>
            <a:off x="731520" y="914400"/>
            <a:ext cx="3657600" cy="1463040"/>
          </a:xfrm>
          <a:prstGeom prst="rect">
            <a:avLst/>
          </a:prstGeom>
          <a:noFill/>
          <a:ln/>
        </p:spPr>
        <p:txBody>
          <a:bodyPr wrap="square" rtlCol="0"/>
          <a:lstStyle>
            <a:lvl1pPr indent="0" marL="0">
              <a:buNone/>
              <a:defRPr lang="en-US" sz="8800" dirty="0">
                <a:solidFill>
                  <a:srgbClr val="00EEFC"/>
                </a:solidFill>
                <a:latin typeface="Segoe UI Light" pitchFamily="34" charset="0"/>
                <a:ea typeface="Segoe UI Light" pitchFamily="34" charset="-122"/>
                <a:cs typeface="Segoe UI Light" pitchFamily="34" charset="-120"/>
              </a:defRPr>
            </a:lvl1pPr>
          </a:lstStyle>
          <a:p>
            <a:pPr indent="0" marL="0">
              <a:buNone/>
            </a:pPr>
            <a:endParaRPr lang="en-US" sz="8800" dirty="0"/>
          </a:p>
        </p:txBody>
      </p:sp>
      <p:sp>
        <p:nvSpPr>
          <p:cNvPr id="4" name="Text 0"/>
          <p:cNvSpPr/>
          <p:nvPr>
            <p:ph type="title" hasCustomPrompt="1"/>
          </p:nvPr>
        </p:nvSpPr>
        <p:spPr>
          <a:xfrm>
            <a:off x="731520" y="2606040"/>
            <a:ext cx="10515600" cy="1097280"/>
          </a:xfrm>
          <a:prstGeom prst="rect">
            <a:avLst/>
          </a:prstGeom>
          <a:noFill/>
          <a:ln/>
        </p:spPr>
        <p:txBody>
          <a:bodyPr wrap="square" rtlCol="0"/>
          <a:lstStyle>
            <a:lvl1pPr algn="l" indent="0" marL="0">
              <a:buNone/>
              <a:defRPr lang="en-US" sz="4000" dirty="0">
                <a:solidFill>
                  <a:schemeClr val="bg1"/>
                </a:solidFill>
              </a:defRPr>
            </a:lvl1pPr>
          </a:lstStyle>
          <a:p>
            <a:pPr algn="l" indent="0" marL="0">
              <a:buNone/>
            </a:pPr>
            <a:endParaRPr lang="en-US" sz="4000" dirty="0"/>
          </a:p>
        </p:txBody>
      </p:sp>
      <p:sp>
        <p:nvSpPr>
          <p:cNvPr id="5" name="Text 0"/>
          <p:cNvSpPr/>
          <p:nvPr>
            <p:ph idx="103" type="body" hasCustomPrompt="1"/>
          </p:nvPr>
        </p:nvSpPr>
        <p:spPr>
          <a:xfrm>
            <a:off x="731520" y="3931920"/>
            <a:ext cx="6949440" cy="146304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pic>
        <p:nvPicPr>
          <p:cNvPr id="4" name="Image 0" descr="Asraf JS logo">    </p:cNvPr>
          <p:cNvPicPr>
            <a:picLocks noChangeAspect="1"/>
          </p:cNvPicPr>
          <p:nvPr/>
        </p:nvPicPr>
        <p:blipFill>
          <a:blip r:embed="rId1"/>
          <a:stretch>
            <a:fillRect/>
          </a:stretch>
        </p:blipFill>
        <p:spPr>
          <a:xfrm>
            <a:off x="502920" y="6245352"/>
            <a:ext cx="384048" cy="384048"/>
          </a:xfrm>
          <a:prstGeom prst="rect">
            <a:avLst/>
          </a:prstGeom>
        </p:spPr>
      </p:pic>
      <p:sp>
        <p:nvSpPr>
          <p:cNvPr id="5" name="Text 0"/>
          <p:cNvSpPr/>
          <p:nvPr/>
        </p:nvSpPr>
        <p:spPr>
          <a:xfrm>
            <a:off x="96012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AI for Workplace (Advanced)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pic>
        <p:nvPicPr>
          <p:cNvPr id="4" name="Image 0" descr="Asraf JS logo">    </p:cNvPr>
          <p:cNvPicPr>
            <a:picLocks noChangeAspect="1"/>
          </p:cNvPicPr>
          <p:nvPr/>
        </p:nvPicPr>
        <p:blipFill>
          <a:blip r:embed="rId1"/>
          <a:stretch>
            <a:fillRect/>
          </a:stretch>
        </p:blipFill>
        <p:spPr>
          <a:xfrm>
            <a:off x="502920" y="6245352"/>
            <a:ext cx="384048" cy="384048"/>
          </a:xfrm>
          <a:prstGeom prst="rect">
            <a:avLst/>
          </a:prstGeom>
        </p:spPr>
      </p:pic>
      <p:sp>
        <p:nvSpPr>
          <p:cNvPr id="5" name="Text 0"/>
          <p:cNvSpPr/>
          <p:nvPr/>
        </p:nvSpPr>
        <p:spPr>
          <a:xfrm>
            <a:off x="96012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AI for Workplace (Advanced)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pic>
        <p:nvPicPr>
          <p:cNvPr id="4" name="Image 0" descr="Asraf JS logo">    </p:cNvPr>
          <p:cNvPicPr>
            <a:picLocks noChangeAspect="1"/>
          </p:cNvPicPr>
          <p:nvPr/>
        </p:nvPicPr>
        <p:blipFill>
          <a:blip r:embed="rId1"/>
          <a:stretch>
            <a:fillRect/>
          </a:stretch>
        </p:blipFill>
        <p:spPr>
          <a:xfrm>
            <a:off x="502920" y="6245352"/>
            <a:ext cx="384048" cy="384048"/>
          </a:xfrm>
          <a:prstGeom prst="rect">
            <a:avLst/>
          </a:prstGeom>
        </p:spPr>
      </p:pic>
      <p:sp>
        <p:nvSpPr>
          <p:cNvPr id="5" name="Text 0"/>
          <p:cNvSpPr/>
          <p:nvPr/>
        </p:nvSpPr>
        <p:spPr>
          <a:xfrm>
            <a:off x="96012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AI for Workplace (Advanced)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rtlCol="0"/>
          <a:lstStyle>
            <a:lvl1pPr algn="l" indent="0" marL="0">
              <a:buNone/>
              <a:defRPr lang="en-US" sz="3200" dirty="0">
                <a:solidFill>
                  <a:schemeClr val="tx1"/>
                </a:solidFill>
              </a:defRPr>
            </a:lvl1pPr>
          </a:lstStyle>
          <a:p>
            <a:pPr algn="l" indent="0" marL="0">
              <a:buNone/>
            </a:pPr>
            <a:endParaRPr lang="en-US" sz="3200" dirty="0"/>
          </a:p>
        </p:txBody>
      </p:sp>
      <p:pic>
        <p:nvPicPr>
          <p:cNvPr id="4" name="Image 0" descr="Asraf JS logo">    </p:cNvPr>
          <p:cNvPicPr>
            <a:picLocks noChangeAspect="1"/>
          </p:cNvPicPr>
          <p:nvPr/>
        </p:nvPicPr>
        <p:blipFill>
          <a:blip r:embed="rId1"/>
          <a:stretch>
            <a:fillRect/>
          </a:stretch>
        </p:blipFill>
        <p:spPr>
          <a:xfrm>
            <a:off x="502920" y="6245352"/>
            <a:ext cx="384048" cy="384048"/>
          </a:xfrm>
          <a:prstGeom prst="rect">
            <a:avLst/>
          </a:prstGeom>
        </p:spPr>
      </p:pic>
      <p:sp>
        <p:nvSpPr>
          <p:cNvPr id="5" name="Text 0"/>
          <p:cNvSpPr/>
          <p:nvPr/>
        </p:nvSpPr>
        <p:spPr>
          <a:xfrm>
            <a:off x="96012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AI for Workplace (Advanced)</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Asraf JS logo">    </p:cNvPr>
          <p:cNvPicPr>
            <a:picLocks noChangeAspect="1"/>
          </p:cNvPicPr>
          <p:nvPr/>
        </p:nvPicPr>
        <p:blipFill>
          <a:blip r:embed="rId1"/>
          <a:stretch>
            <a:fillRect/>
          </a:stretch>
        </p:blipFill>
        <p:spPr>
          <a:xfrm>
            <a:off x="685800" y="502920"/>
            <a:ext cx="548640" cy="548640"/>
          </a:xfrm>
          <a:prstGeom prst="rect">
            <a:avLst/>
          </a:prstGeom>
        </p:spPr>
      </p:pic>
      <p:sp>
        <p:nvSpPr>
          <p:cNvPr id="3" name="Text 0"/>
          <p:cNvSpPr/>
          <p:nvPr>
            <p:ph type="title" hasCustomPrompt="1"/>
          </p:nvPr>
        </p:nvSpPr>
        <p:spPr>
          <a:xfrm>
            <a:off x="731520" y="2011680"/>
            <a:ext cx="10241280" cy="1828800"/>
          </a:xfrm>
          <a:prstGeom prst="rect">
            <a:avLst/>
          </a:prstGeom>
          <a:noFill/>
          <a:ln/>
        </p:spPr>
        <p:txBody>
          <a:bodyPr wrap="square" rtlCol="0"/>
          <a:lstStyle>
            <a:lvl1pPr algn="l" indent="0" marL="0">
              <a:buNone/>
              <a:defRPr lang="en-US" sz="4000" dirty="0">
                <a:solidFill>
                  <a:schemeClr val="accent1"/>
                </a:solidFill>
              </a:defRPr>
            </a:lvl1pPr>
          </a:lstStyle>
          <a:p>
            <a:pPr algn="l" indent="0" marL="0">
              <a:buNone/>
            </a:pPr>
            <a:endParaRPr lang="en-US" sz="4000" dirty="0"/>
          </a:p>
        </p:txBody>
      </p:sp>
      <p:sp>
        <p:nvSpPr>
          <p:cNvPr id="4" name="Text 0"/>
          <p:cNvSpPr/>
          <p:nvPr>
            <p:ph idx="102" type="body" hasCustomPrompt="1"/>
          </p:nvPr>
        </p:nvSpPr>
        <p:spPr>
          <a:xfrm>
            <a:off x="731520" y="4069080"/>
            <a:ext cx="9601200" cy="91440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7.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6.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7.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5.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7.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6.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7.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6.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7.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6.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7.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4.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5.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6.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7.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4.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6.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slideLayout" Target="../slideLayouts/slideLayout7.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5.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slideLayout" Target="../slideLayouts/slideLayout6.xml"/><Relationship Id="rId7"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731520" y="1463040"/>
            <a:ext cx="10058400" cy="365760"/>
          </a:xfrm>
          <a:prstGeom prst="rect">
            <a:avLst/>
          </a:prstGeom>
          <a:noFill/>
          <a:ln/>
        </p:spPr>
        <p:txBody>
          <a:bodyPr wrap="square" lIns="0" tIns="0" rIns="0" bIns="0" rtlCol="0"/>
          <a:lstStyle/>
          <a:p>
            <a:pPr indent="0" marL="0">
              <a:buNone/>
            </a:pPr>
            <a:r>
              <a:rPr lang="en-US" sz="1600" dirty="0">
                <a:solidFill>
                  <a:srgbClr val="00EEFC"/>
                </a:solidFill>
              </a:rPr>
              <a:t>Two-day advanced course</a:t>
            </a:r>
            <a:endParaRPr lang="en-US" sz="1600" dirty="0"/>
          </a:p>
        </p:txBody>
      </p:sp>
      <p:sp>
        <p:nvSpPr>
          <p:cNvPr id="3" name="Text 0"/>
          <p:cNvSpPr/>
          <p:nvPr>
            <p:ph type="title" hasCustomPrompt="1"/>
          </p:nvPr>
        </p:nvSpPr>
        <p:spPr>
          <a:xfrm>
            <a:off x="731520" y="1920240"/>
            <a:ext cx="10515600" cy="1371600"/>
          </a:xfrm>
          <a:prstGeom prst="rect">
            <a:avLst/>
          </a:prstGeom>
          <a:noFill/>
          <a:ln/>
        </p:spPr>
        <p:txBody>
          <a:bodyPr wrap="square" lIns="0" tIns="0" rIns="0" bIns="0" rtlCol="0" anchor="t"/>
          <a:lstStyle/>
          <a:p>
            <a:pPr algn="l" indent="0" marL="0">
              <a:buNone/>
            </a:pPr>
            <a:r>
              <a:rPr lang="en-US" sz="4800" dirty="0">
                <a:solidFill>
                  <a:schemeClr val="bg1"/>
                </a:solidFill>
              </a:rPr>
              <a:t>AI for Workplace (Advanced)</a:t>
            </a:r>
            <a:endParaRPr lang="en-US" sz="4800" dirty="0"/>
          </a:p>
        </p:txBody>
      </p:sp>
      <p:sp>
        <p:nvSpPr>
          <p:cNvPr id="4" name="Text 0"/>
          <p:cNvSpPr/>
          <p:nvPr>
            <p:ph idx="103" type="body" hasCustomPrompt="1"/>
          </p:nvPr>
        </p:nvSpPr>
        <p:spPr>
          <a:xfrm>
            <a:off x="731520" y="3383280"/>
            <a:ext cx="9144000" cy="914400"/>
          </a:xfrm>
          <a:prstGeom prst="rect">
            <a:avLst/>
          </a:prstGeom>
          <a:noFill/>
          <a:ln/>
        </p:spPr>
        <p:txBody>
          <a:bodyPr wrap="square" lIns="0" tIns="0" rIns="0" bIns="0" rtlCol="0" anchor="t"/>
          <a:lstStyle/>
          <a:p>
            <a:pPr indent="0" marL="0">
              <a:buNone/>
            </a:pPr>
            <a:r>
              <a:rPr lang="en-US" sz="2200" dirty="0">
                <a:solidFill>
                  <a:schemeClr val="bg2"/>
                </a:solidFill>
              </a:rPr>
              <a:t>Custom assistants, grounding, templates, evaluation, agent workflows and AI governance</a:t>
            </a:r>
            <a:endParaRPr lang="en-US" sz="2200" dirty="0"/>
          </a:p>
        </p:txBody>
      </p:sp>
      <p:sp>
        <p:nvSpPr>
          <p:cNvPr id="5" name="Text 0"/>
          <p:cNvSpPr/>
          <p:nvPr>
            <p:ph idx="104" type="body" hasCustomPrompt="1"/>
          </p:nvPr>
        </p:nvSpPr>
        <p:spPr>
          <a:xfrm>
            <a:off x="731520" y="5669280"/>
            <a:ext cx="9601200" cy="365760"/>
          </a:xfrm>
          <a:prstGeom prst="rect">
            <a:avLst/>
          </a:prstGeom>
          <a:noFill/>
          <a:ln/>
        </p:spPr>
        <p:txBody>
          <a:bodyPr wrap="square" lIns="0" tIns="0" rIns="0" bIns="0" rtlCol="0"/>
          <a:lstStyle/>
          <a:p>
            <a:pPr indent="0" marL="0">
              <a:buNone/>
            </a:pPr>
            <a:r>
              <a:rPr lang="en-US" sz="1400" dirty="0">
                <a:solidFill>
                  <a:schemeClr val="bg2"/>
                </a:solidFill>
              </a:rPr>
              <a:t>Asraf Jaafar Sidik  |  Microsoft Certified Trainer  |  Copilot, ChatGPT, Claude and Gemini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two days</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One assistant, built on Day 1 and improved on Day 2</a:t>
            </a:r>
            <a:endParaRPr lang="en-US" sz="3200" dirty="0"/>
          </a:p>
        </p:txBody>
      </p:sp>
      <p:sp>
        <p:nvSpPr>
          <p:cNvPr id="5" name="Scenario panel"/>
          <p:cNvSpPr/>
          <p:nvPr/>
        </p:nvSpPr>
        <p:spPr>
          <a:xfrm>
            <a:off x="548640" y="1783080"/>
            <a:ext cx="6035040" cy="4160520"/>
          </a:xfrm>
          <a:prstGeom prst="roundRect">
            <a:avLst>
              <a:gd name="adj" fmla="val 2198"/>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14400" y="2148840"/>
            <a:ext cx="548640" cy="548640"/>
          </a:xfrm>
          <a:prstGeom prst="rect">
            <a:avLst/>
          </a:prstGeom>
        </p:spPr>
      </p:pic>
      <p:sp>
        <p:nvSpPr>
          <p:cNvPr id="7" name="Text 3"/>
          <p:cNvSpPr txBox="1"/>
          <p:nvPr/>
        </p:nvSpPr>
        <p:spPr>
          <a:xfrm>
            <a:off x="914400" y="2926080"/>
            <a:ext cx="5303520" cy="274320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You're a procurement executive at Sinar Maju Sdn Bhd, an office supplies distributor in Petaling Jaya.</a:t>
            </a:r>
            <a:endParaRPr lang="en-US" sz="1800" dirty="0"/>
          </a:p>
          <a:p>
            <a:pPr indent="0" marL="0">
              <a:buNone/>
            </a:pPr>
            <a:r>
              <a:rPr lang="en-US" sz="1000" dirty="0">
                <a:solidFill>
                  <a:schemeClr val="bg1"/>
                </a:solidFill>
              </a:rPr>
              <a:t> </a:t>
            </a:r>
            <a:endParaRPr lang="en-US" sz="1800" dirty="0"/>
          </a:p>
          <a:p>
            <a:pPr indent="0" marL="0">
              <a:buNone/>
            </a:pPr>
            <a:r>
              <a:rPr lang="en-US" sz="1800" dirty="0">
                <a:solidFill>
                  <a:schemeClr val="bg1"/>
                </a:solidFill>
              </a:rPr>
              <a:t>Quotations arrive every week. Each one must be checked against the Procurement Policy before anyone can approve it. You're going to build an AI Quotation Checker, prove it works, and make it safe to use.</a:t>
            </a:r>
            <a:endParaRPr lang="en-US" sz="1800" dirty="0"/>
          </a:p>
        </p:txBody>
      </p:sp>
      <p:sp>
        <p:nvSpPr>
          <p:cNvPr id="8" name="Text 4"/>
          <p:cNvSpPr txBox="1"/>
          <p:nvPr/>
        </p:nvSpPr>
        <p:spPr>
          <a:xfrm>
            <a:off x="7132320" y="1783080"/>
            <a:ext cx="4480560" cy="731520"/>
          </a:xfrm>
          <a:prstGeom prst="rect">
            <a:avLst/>
          </a:prstGeom>
          <a:noFill/>
          <a:ln/>
        </p:spPr>
        <p:txBody>
          <a:bodyPr wrap="square" lIns="0" tIns="0" rIns="0" bIns="0" rtlCol="0" anchor="t"/>
          <a:lstStyle/>
          <a:p>
            <a:pPr indent="0" marL="0">
              <a:buNone/>
            </a:pPr>
            <a:r>
              <a:rPr lang="en-US" sz="4000" dirty="0">
                <a:solidFill>
                  <a:schemeClr val="accent1"/>
                </a:solidFill>
                <a:latin typeface="Segoe UI Light" pitchFamily="34" charset="0"/>
                <a:ea typeface="Segoe UI Light" pitchFamily="34" charset="-122"/>
                <a:cs typeface="Segoe UI Light" pitchFamily="34" charset="-120"/>
              </a:rPr>
              <a:t>13</a:t>
            </a:r>
            <a:endParaRPr lang="en-US" sz="4000" dirty="0"/>
          </a:p>
        </p:txBody>
      </p:sp>
      <p:sp>
        <p:nvSpPr>
          <p:cNvPr id="9" name="Text 5"/>
          <p:cNvSpPr txBox="1"/>
          <p:nvPr/>
        </p:nvSpPr>
        <p:spPr>
          <a:xfrm>
            <a:off x="7132320" y="2514600"/>
            <a:ext cx="4480560" cy="365760"/>
          </a:xfrm>
          <a:prstGeom prst="rect">
            <a:avLst/>
          </a:prstGeom>
          <a:noFill/>
          <a:ln/>
        </p:spPr>
        <p:txBody>
          <a:bodyPr wrap="square" lIns="0" tIns="0" rIns="0" bIns="0" rtlCol="0" anchor="t"/>
          <a:lstStyle/>
          <a:p>
            <a:pPr indent="0" marL="0">
              <a:buNone/>
            </a:pPr>
            <a:r>
              <a:rPr lang="en-US" sz="1600" dirty="0">
                <a:solidFill>
                  <a:schemeClr val="accent4"/>
                </a:solidFill>
              </a:rPr>
              <a:t>modules over two days</a:t>
            </a:r>
            <a:endParaRPr lang="en-US" sz="1600" dirty="0"/>
          </a:p>
        </p:txBody>
      </p:sp>
      <p:sp>
        <p:nvSpPr>
          <p:cNvPr id="10" name="Divider line"/>
          <p:cNvSpPr/>
          <p:nvPr/>
        </p:nvSpPr>
        <p:spPr>
          <a:xfrm>
            <a:off x="7132320" y="3044952"/>
            <a:ext cx="4480560" cy="0"/>
          </a:xfrm>
          <a:prstGeom prst="line">
            <a:avLst/>
          </a:prstGeom>
          <a:noFill/>
          <a:ln w="12700">
            <a:solidFill>
              <a:srgbClr val="E0E0E0"/>
            </a:solidFill>
            <a:prstDash val="solid"/>
          </a:ln>
        </p:spPr>
      </p:sp>
      <p:sp>
        <p:nvSpPr>
          <p:cNvPr id="11" name="Text 7"/>
          <p:cNvSpPr txBox="1"/>
          <p:nvPr/>
        </p:nvSpPr>
        <p:spPr>
          <a:xfrm>
            <a:off x="7132320" y="3200400"/>
            <a:ext cx="4480560" cy="731520"/>
          </a:xfrm>
          <a:prstGeom prst="rect">
            <a:avLst/>
          </a:prstGeom>
          <a:noFill/>
          <a:ln/>
        </p:spPr>
        <p:txBody>
          <a:bodyPr wrap="square" lIns="0" tIns="0" rIns="0" bIns="0" rtlCol="0" anchor="t"/>
          <a:lstStyle/>
          <a:p>
            <a:pPr indent="0" marL="0">
              <a:buNone/>
            </a:pPr>
            <a:r>
              <a:rPr lang="en-US" sz="4000" dirty="0">
                <a:solidFill>
                  <a:schemeClr val="accent1"/>
                </a:solidFill>
                <a:latin typeface="Segoe UI Light" pitchFamily="34" charset="0"/>
                <a:ea typeface="Segoe UI Light" pitchFamily="34" charset="-122"/>
                <a:cs typeface="Segoe UI Light" pitchFamily="34" charset="-120"/>
              </a:rPr>
              <a:t>1</a:t>
            </a:r>
            <a:endParaRPr lang="en-US" sz="4000" dirty="0"/>
          </a:p>
        </p:txBody>
      </p:sp>
      <p:sp>
        <p:nvSpPr>
          <p:cNvPr id="12" name="Text 8"/>
          <p:cNvSpPr txBox="1"/>
          <p:nvPr/>
        </p:nvSpPr>
        <p:spPr>
          <a:xfrm>
            <a:off x="7132320" y="3931920"/>
            <a:ext cx="4480560" cy="365760"/>
          </a:xfrm>
          <a:prstGeom prst="rect">
            <a:avLst/>
          </a:prstGeom>
          <a:noFill/>
          <a:ln/>
        </p:spPr>
        <p:txBody>
          <a:bodyPr wrap="square" lIns="0" tIns="0" rIns="0" bIns="0" rtlCol="0" anchor="t"/>
          <a:lstStyle/>
          <a:p>
            <a:pPr indent="0" marL="0">
              <a:buNone/>
            </a:pPr>
            <a:r>
              <a:rPr lang="en-US" sz="1600" dirty="0">
                <a:solidFill>
                  <a:schemeClr val="accent4"/>
                </a:solidFill>
              </a:rPr>
              <a:t>Quotation Checker you keep improving</a:t>
            </a:r>
            <a:endParaRPr lang="en-US" sz="1600" dirty="0"/>
          </a:p>
        </p:txBody>
      </p:sp>
      <p:sp>
        <p:nvSpPr>
          <p:cNvPr id="13" name="Divider line"/>
          <p:cNvSpPr/>
          <p:nvPr/>
        </p:nvSpPr>
        <p:spPr>
          <a:xfrm>
            <a:off x="7132320" y="4462272"/>
            <a:ext cx="4480560" cy="0"/>
          </a:xfrm>
          <a:prstGeom prst="line">
            <a:avLst/>
          </a:prstGeom>
          <a:noFill/>
          <a:ln w="12700">
            <a:solidFill>
              <a:srgbClr val="E0E0E0"/>
            </a:solidFill>
            <a:prstDash val="solid"/>
          </a:ln>
        </p:spPr>
      </p:sp>
      <p:sp>
        <p:nvSpPr>
          <p:cNvPr id="14" name="Text 10"/>
          <p:cNvSpPr txBox="1"/>
          <p:nvPr/>
        </p:nvSpPr>
        <p:spPr>
          <a:xfrm>
            <a:off x="7132320" y="4617720"/>
            <a:ext cx="4480560" cy="731520"/>
          </a:xfrm>
          <a:prstGeom prst="rect">
            <a:avLst/>
          </a:prstGeom>
          <a:noFill/>
          <a:ln/>
        </p:spPr>
        <p:txBody>
          <a:bodyPr wrap="square" lIns="0" tIns="0" rIns="0" bIns="0" rtlCol="0" anchor="t"/>
          <a:lstStyle/>
          <a:p>
            <a:pPr indent="0" marL="0">
              <a:buNone/>
            </a:pPr>
            <a:r>
              <a:rPr lang="en-US" sz="4000" dirty="0">
                <a:solidFill>
                  <a:schemeClr val="accent1"/>
                </a:solidFill>
                <a:latin typeface="Segoe UI Light" pitchFamily="34" charset="0"/>
                <a:ea typeface="Segoe UI Light" pitchFamily="34" charset="-122"/>
                <a:cs typeface="Segoe UI Light" pitchFamily="34" charset="-120"/>
              </a:rPr>
              <a:t>4</a:t>
            </a:r>
            <a:endParaRPr lang="en-US" sz="4000" dirty="0"/>
          </a:p>
        </p:txBody>
      </p:sp>
      <p:sp>
        <p:nvSpPr>
          <p:cNvPr id="15" name="Text 11"/>
          <p:cNvSpPr txBox="1"/>
          <p:nvPr/>
        </p:nvSpPr>
        <p:spPr>
          <a:xfrm>
            <a:off x="7132320" y="5349240"/>
            <a:ext cx="4480560" cy="365760"/>
          </a:xfrm>
          <a:prstGeom prst="rect">
            <a:avLst/>
          </a:prstGeom>
          <a:noFill/>
          <a:ln/>
        </p:spPr>
        <p:txBody>
          <a:bodyPr wrap="square" lIns="0" tIns="0" rIns="0" bIns="0" rtlCol="0" anchor="t"/>
          <a:lstStyle/>
          <a:p>
            <a:pPr indent="0" marL="0">
              <a:buNone/>
            </a:pPr>
            <a:r>
              <a:rPr lang="en-US" sz="1600" dirty="0">
                <a:solidFill>
                  <a:schemeClr val="accent4"/>
                </a:solidFill>
              </a:rPr>
              <a:t>AI tools: Copilot, ChatGPT, Claude, Gemini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The course at a glance</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Thirteen modules, one stage each</a:t>
            </a:r>
            <a:endParaRPr lang="en-US" sz="3200" dirty="0"/>
          </a:p>
        </p:txBody>
      </p:sp>
      <p:sp>
        <p:nvSpPr>
          <p:cNvPr id="5" name="Divider line"/>
          <p:cNvSpPr/>
          <p:nvPr/>
        </p:nvSpPr>
        <p:spPr>
          <a:xfrm>
            <a:off x="548640" y="1783080"/>
            <a:ext cx="1417320" cy="0"/>
          </a:xfrm>
          <a:prstGeom prst="line">
            <a:avLst/>
          </a:prstGeom>
          <a:noFill/>
          <a:ln w="12700">
            <a:solidFill>
              <a:srgbClr val="E0E0E0"/>
            </a:solidFill>
            <a:prstDash val="solid"/>
          </a:ln>
        </p:spPr>
      </p:sp>
      <p:sp>
        <p:nvSpPr>
          <p:cNvPr id="6" name="Text 3"/>
          <p:cNvSpPr txBox="1"/>
          <p:nvPr/>
        </p:nvSpPr>
        <p:spPr>
          <a:xfrm>
            <a:off x="548640" y="1920240"/>
            <a:ext cx="1417320" cy="54864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01</a:t>
            </a:r>
            <a:endParaRPr lang="en-US" sz="2600" dirty="0"/>
          </a:p>
        </p:txBody>
      </p:sp>
      <p:sp>
        <p:nvSpPr>
          <p:cNvPr id="7" name="Text 4"/>
          <p:cNvSpPr txBox="1"/>
          <p:nvPr/>
        </p:nvSpPr>
        <p:spPr>
          <a:xfrm>
            <a:off x="548640" y="251460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Understand</a:t>
            </a:r>
            <a:endParaRPr lang="en-US" sz="1600" dirty="0"/>
          </a:p>
        </p:txBody>
      </p:sp>
      <p:sp>
        <p:nvSpPr>
          <p:cNvPr id="8" name="Text 5"/>
          <p:cNvSpPr txBox="1"/>
          <p:nvPr/>
        </p:nvSpPr>
        <p:spPr>
          <a:xfrm>
            <a:off x="548640" y="292608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How LLMs behave</a:t>
            </a:r>
            <a:endParaRPr lang="en-US" sz="1200" dirty="0"/>
          </a:p>
        </p:txBody>
      </p:sp>
      <p:sp>
        <p:nvSpPr>
          <p:cNvPr id="9" name="Divider line"/>
          <p:cNvSpPr/>
          <p:nvPr/>
        </p:nvSpPr>
        <p:spPr>
          <a:xfrm>
            <a:off x="2148840" y="1783080"/>
            <a:ext cx="1417320" cy="0"/>
          </a:xfrm>
          <a:prstGeom prst="line">
            <a:avLst/>
          </a:prstGeom>
          <a:noFill/>
          <a:ln w="12700">
            <a:solidFill>
              <a:srgbClr val="E0E0E0"/>
            </a:solidFill>
            <a:prstDash val="solid"/>
          </a:ln>
        </p:spPr>
      </p:sp>
      <p:sp>
        <p:nvSpPr>
          <p:cNvPr id="10" name="Text 7"/>
          <p:cNvSpPr txBox="1"/>
          <p:nvPr/>
        </p:nvSpPr>
        <p:spPr>
          <a:xfrm>
            <a:off x="2148840" y="1920240"/>
            <a:ext cx="1417320" cy="54864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02</a:t>
            </a:r>
            <a:endParaRPr lang="en-US" sz="2600" dirty="0"/>
          </a:p>
        </p:txBody>
      </p:sp>
      <p:sp>
        <p:nvSpPr>
          <p:cNvPr id="11" name="Text 8"/>
          <p:cNvSpPr txBox="1"/>
          <p:nvPr/>
        </p:nvSpPr>
        <p:spPr>
          <a:xfrm>
            <a:off x="2148840" y="251460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Instruct</a:t>
            </a:r>
            <a:endParaRPr lang="en-US" sz="1600" dirty="0"/>
          </a:p>
        </p:txBody>
      </p:sp>
      <p:sp>
        <p:nvSpPr>
          <p:cNvPr id="12" name="Text 9"/>
          <p:cNvSpPr txBox="1"/>
          <p:nvPr/>
        </p:nvSpPr>
        <p:spPr>
          <a:xfrm>
            <a:off x="2148840" y="292608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Context and structured output</a:t>
            </a:r>
            <a:endParaRPr lang="en-US" sz="1200" dirty="0"/>
          </a:p>
        </p:txBody>
      </p:sp>
      <p:sp>
        <p:nvSpPr>
          <p:cNvPr id="13" name="Divider line"/>
          <p:cNvSpPr/>
          <p:nvPr/>
        </p:nvSpPr>
        <p:spPr>
          <a:xfrm>
            <a:off x="3749040" y="1783080"/>
            <a:ext cx="1417320" cy="0"/>
          </a:xfrm>
          <a:prstGeom prst="line">
            <a:avLst/>
          </a:prstGeom>
          <a:noFill/>
          <a:ln w="12700">
            <a:solidFill>
              <a:srgbClr val="E0E0E0"/>
            </a:solidFill>
            <a:prstDash val="solid"/>
          </a:ln>
        </p:spPr>
      </p:sp>
      <p:sp>
        <p:nvSpPr>
          <p:cNvPr id="14" name="Text 11"/>
          <p:cNvSpPr txBox="1"/>
          <p:nvPr/>
        </p:nvSpPr>
        <p:spPr>
          <a:xfrm>
            <a:off x="3749040" y="1920240"/>
            <a:ext cx="1417320" cy="54864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03</a:t>
            </a:r>
            <a:endParaRPr lang="en-US" sz="2600" dirty="0"/>
          </a:p>
        </p:txBody>
      </p:sp>
      <p:sp>
        <p:nvSpPr>
          <p:cNvPr id="15" name="Text 12"/>
          <p:cNvSpPr txBox="1"/>
          <p:nvPr/>
        </p:nvSpPr>
        <p:spPr>
          <a:xfrm>
            <a:off x="3749040" y="251460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Build</a:t>
            </a:r>
            <a:endParaRPr lang="en-US" sz="1600" dirty="0"/>
          </a:p>
        </p:txBody>
      </p:sp>
      <p:sp>
        <p:nvSpPr>
          <p:cNvPr id="16" name="Text 13"/>
          <p:cNvSpPr txBox="1"/>
          <p:nvPr/>
        </p:nvSpPr>
        <p:spPr>
          <a:xfrm>
            <a:off x="3749040" y="292608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The Quotation Checker</a:t>
            </a:r>
            <a:endParaRPr lang="en-US" sz="1200" dirty="0"/>
          </a:p>
        </p:txBody>
      </p:sp>
      <p:sp>
        <p:nvSpPr>
          <p:cNvPr id="17" name="Divider line"/>
          <p:cNvSpPr/>
          <p:nvPr/>
        </p:nvSpPr>
        <p:spPr>
          <a:xfrm>
            <a:off x="5349240" y="1783080"/>
            <a:ext cx="1417320" cy="0"/>
          </a:xfrm>
          <a:prstGeom prst="line">
            <a:avLst/>
          </a:prstGeom>
          <a:noFill/>
          <a:ln w="12700">
            <a:solidFill>
              <a:srgbClr val="E0E0E0"/>
            </a:solidFill>
            <a:prstDash val="solid"/>
          </a:ln>
        </p:spPr>
      </p:sp>
      <p:sp>
        <p:nvSpPr>
          <p:cNvPr id="18" name="Text 15"/>
          <p:cNvSpPr txBox="1"/>
          <p:nvPr/>
        </p:nvSpPr>
        <p:spPr>
          <a:xfrm>
            <a:off x="5349240" y="1920240"/>
            <a:ext cx="1417320" cy="54864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04</a:t>
            </a:r>
            <a:endParaRPr lang="en-US" sz="2600" dirty="0"/>
          </a:p>
        </p:txBody>
      </p:sp>
      <p:sp>
        <p:nvSpPr>
          <p:cNvPr id="19" name="Text 16"/>
          <p:cNvSpPr txBox="1"/>
          <p:nvPr/>
        </p:nvSpPr>
        <p:spPr>
          <a:xfrm>
            <a:off x="5349240" y="251460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Ground</a:t>
            </a:r>
            <a:endParaRPr lang="en-US" sz="1600" dirty="0"/>
          </a:p>
        </p:txBody>
      </p:sp>
      <p:sp>
        <p:nvSpPr>
          <p:cNvPr id="20" name="Text 17"/>
          <p:cNvSpPr txBox="1"/>
          <p:nvPr/>
        </p:nvSpPr>
        <p:spPr>
          <a:xfrm>
            <a:off x="5349240" y="292608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Answers from your sources</a:t>
            </a:r>
            <a:endParaRPr lang="en-US" sz="1200" dirty="0"/>
          </a:p>
        </p:txBody>
      </p:sp>
      <p:sp>
        <p:nvSpPr>
          <p:cNvPr id="21" name="Divider line"/>
          <p:cNvSpPr/>
          <p:nvPr/>
        </p:nvSpPr>
        <p:spPr>
          <a:xfrm>
            <a:off x="6949440" y="1783080"/>
            <a:ext cx="1417320" cy="0"/>
          </a:xfrm>
          <a:prstGeom prst="line">
            <a:avLst/>
          </a:prstGeom>
          <a:noFill/>
          <a:ln w="12700">
            <a:solidFill>
              <a:srgbClr val="E0E0E0"/>
            </a:solidFill>
            <a:prstDash val="solid"/>
          </a:ln>
        </p:spPr>
      </p:sp>
      <p:sp>
        <p:nvSpPr>
          <p:cNvPr id="22" name="Text 19"/>
          <p:cNvSpPr txBox="1"/>
          <p:nvPr/>
        </p:nvSpPr>
        <p:spPr>
          <a:xfrm>
            <a:off x="6949440" y="1920240"/>
            <a:ext cx="1417320" cy="54864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05</a:t>
            </a:r>
            <a:endParaRPr lang="en-US" sz="2600" dirty="0"/>
          </a:p>
        </p:txBody>
      </p:sp>
      <p:sp>
        <p:nvSpPr>
          <p:cNvPr id="23" name="Text 20"/>
          <p:cNvSpPr txBox="1"/>
          <p:nvPr/>
        </p:nvSpPr>
        <p:spPr>
          <a:xfrm>
            <a:off x="6949440" y="251460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Analyse</a:t>
            </a:r>
            <a:endParaRPr lang="en-US" sz="1600" dirty="0"/>
          </a:p>
        </p:txBody>
      </p:sp>
      <p:sp>
        <p:nvSpPr>
          <p:cNvPr id="24" name="Text 21"/>
          <p:cNvSpPr txBox="1"/>
          <p:nvPr/>
        </p:nvSpPr>
        <p:spPr>
          <a:xfrm>
            <a:off x="6949440" y="292608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Purchase history</a:t>
            </a:r>
            <a:endParaRPr lang="en-US" sz="1200" dirty="0"/>
          </a:p>
        </p:txBody>
      </p:sp>
      <p:sp>
        <p:nvSpPr>
          <p:cNvPr id="25" name="Divider line"/>
          <p:cNvSpPr/>
          <p:nvPr/>
        </p:nvSpPr>
        <p:spPr>
          <a:xfrm>
            <a:off x="8549640" y="1783080"/>
            <a:ext cx="1417320" cy="0"/>
          </a:xfrm>
          <a:prstGeom prst="line">
            <a:avLst/>
          </a:prstGeom>
          <a:noFill/>
          <a:ln w="12700">
            <a:solidFill>
              <a:srgbClr val="E0E0E0"/>
            </a:solidFill>
            <a:prstDash val="solid"/>
          </a:ln>
        </p:spPr>
      </p:sp>
      <p:sp>
        <p:nvSpPr>
          <p:cNvPr id="26" name="Text 23"/>
          <p:cNvSpPr txBox="1"/>
          <p:nvPr/>
        </p:nvSpPr>
        <p:spPr>
          <a:xfrm>
            <a:off x="8549640" y="1920240"/>
            <a:ext cx="1417320" cy="54864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06</a:t>
            </a:r>
            <a:endParaRPr lang="en-US" sz="2600" dirty="0"/>
          </a:p>
        </p:txBody>
      </p:sp>
      <p:sp>
        <p:nvSpPr>
          <p:cNvPr id="27" name="Text 24"/>
          <p:cNvSpPr txBox="1"/>
          <p:nvPr/>
        </p:nvSpPr>
        <p:spPr>
          <a:xfrm>
            <a:off x="8549640" y="251460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Format</a:t>
            </a:r>
            <a:endParaRPr lang="en-US" sz="1600" dirty="0"/>
          </a:p>
        </p:txBody>
      </p:sp>
      <p:sp>
        <p:nvSpPr>
          <p:cNvPr id="28" name="Text 25"/>
          <p:cNvSpPr txBox="1"/>
          <p:nvPr/>
        </p:nvSpPr>
        <p:spPr>
          <a:xfrm>
            <a:off x="8549640" y="292608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Word and PowerPoint templates</a:t>
            </a:r>
            <a:endParaRPr lang="en-US" sz="1200" dirty="0"/>
          </a:p>
        </p:txBody>
      </p:sp>
      <p:sp>
        <p:nvSpPr>
          <p:cNvPr id="29" name="Divider line"/>
          <p:cNvSpPr/>
          <p:nvPr/>
        </p:nvSpPr>
        <p:spPr>
          <a:xfrm>
            <a:off x="10149840" y="1783080"/>
            <a:ext cx="1417320" cy="0"/>
          </a:xfrm>
          <a:prstGeom prst="line">
            <a:avLst/>
          </a:prstGeom>
          <a:noFill/>
          <a:ln w="12700">
            <a:solidFill>
              <a:srgbClr val="E0E0E0"/>
            </a:solidFill>
            <a:prstDash val="solid"/>
          </a:ln>
        </p:spPr>
      </p:sp>
      <p:sp>
        <p:nvSpPr>
          <p:cNvPr id="30" name="Text 27"/>
          <p:cNvSpPr txBox="1"/>
          <p:nvPr/>
        </p:nvSpPr>
        <p:spPr>
          <a:xfrm>
            <a:off x="10149840" y="1920240"/>
            <a:ext cx="1417320" cy="54864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07</a:t>
            </a:r>
            <a:endParaRPr lang="en-US" sz="2600" dirty="0"/>
          </a:p>
        </p:txBody>
      </p:sp>
      <p:sp>
        <p:nvSpPr>
          <p:cNvPr id="31" name="Text 28"/>
          <p:cNvSpPr txBox="1"/>
          <p:nvPr/>
        </p:nvSpPr>
        <p:spPr>
          <a:xfrm>
            <a:off x="10149840" y="251460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Measure</a:t>
            </a:r>
            <a:endParaRPr lang="en-US" sz="1600" dirty="0"/>
          </a:p>
        </p:txBody>
      </p:sp>
      <p:sp>
        <p:nvSpPr>
          <p:cNvPr id="32" name="Text 29"/>
          <p:cNvSpPr txBox="1"/>
          <p:nvPr/>
        </p:nvSpPr>
        <p:spPr>
          <a:xfrm>
            <a:off x="10149840" y="292608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Score the Checker</a:t>
            </a:r>
            <a:endParaRPr lang="en-US" sz="1200" dirty="0"/>
          </a:p>
        </p:txBody>
      </p:sp>
      <p:sp>
        <p:nvSpPr>
          <p:cNvPr id="33" name="Divider line"/>
          <p:cNvSpPr/>
          <p:nvPr/>
        </p:nvSpPr>
        <p:spPr>
          <a:xfrm>
            <a:off x="548640" y="3931920"/>
            <a:ext cx="1417320" cy="0"/>
          </a:xfrm>
          <a:prstGeom prst="line">
            <a:avLst/>
          </a:prstGeom>
          <a:noFill/>
          <a:ln w="12700">
            <a:solidFill>
              <a:srgbClr val="E0E0E0"/>
            </a:solidFill>
            <a:prstDash val="solid"/>
          </a:ln>
        </p:spPr>
      </p:sp>
      <p:sp>
        <p:nvSpPr>
          <p:cNvPr id="34" name="Text 31"/>
          <p:cNvSpPr txBox="1"/>
          <p:nvPr/>
        </p:nvSpPr>
        <p:spPr>
          <a:xfrm>
            <a:off x="548640" y="4069080"/>
            <a:ext cx="1417320" cy="548640"/>
          </a:xfrm>
          <a:prstGeom prst="rect">
            <a:avLst/>
          </a:prstGeom>
          <a:noFill/>
          <a:ln/>
        </p:spPr>
        <p:txBody>
          <a:bodyPr wrap="square" lIns="0" tIns="0" rIns="0" bIns="0" rtlCol="0" anchor="t"/>
          <a:lstStyle/>
          <a:p>
            <a:pPr indent="0" marL="0">
              <a:buNone/>
            </a:pPr>
            <a:r>
              <a:rPr lang="en-US" sz="2600" dirty="0">
                <a:solidFill>
                  <a:schemeClr val="accent2"/>
                </a:solidFill>
                <a:latin typeface="Segoe UI Light" pitchFamily="34" charset="0"/>
                <a:ea typeface="Segoe UI Light" pitchFamily="34" charset="-122"/>
                <a:cs typeface="Segoe UI Light" pitchFamily="34" charset="-120"/>
              </a:rPr>
              <a:t>08</a:t>
            </a:r>
            <a:endParaRPr lang="en-US" sz="2600" dirty="0"/>
          </a:p>
        </p:txBody>
      </p:sp>
      <p:sp>
        <p:nvSpPr>
          <p:cNvPr id="35" name="Text 32"/>
          <p:cNvSpPr txBox="1"/>
          <p:nvPr/>
        </p:nvSpPr>
        <p:spPr>
          <a:xfrm>
            <a:off x="548640" y="466344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Connect</a:t>
            </a:r>
            <a:endParaRPr lang="en-US" sz="1600" dirty="0"/>
          </a:p>
        </p:txBody>
      </p:sp>
      <p:sp>
        <p:nvSpPr>
          <p:cNvPr id="36" name="Text 33"/>
          <p:cNvSpPr txBox="1"/>
          <p:nvPr/>
        </p:nvSpPr>
        <p:spPr>
          <a:xfrm>
            <a:off x="548640" y="507492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Agents, connectors, MCP</a:t>
            </a:r>
            <a:endParaRPr lang="en-US" sz="1200" dirty="0"/>
          </a:p>
        </p:txBody>
      </p:sp>
      <p:sp>
        <p:nvSpPr>
          <p:cNvPr id="37" name="Divider line"/>
          <p:cNvSpPr/>
          <p:nvPr/>
        </p:nvSpPr>
        <p:spPr>
          <a:xfrm>
            <a:off x="2148840" y="3931920"/>
            <a:ext cx="1417320" cy="0"/>
          </a:xfrm>
          <a:prstGeom prst="line">
            <a:avLst/>
          </a:prstGeom>
          <a:noFill/>
          <a:ln w="12700">
            <a:solidFill>
              <a:srgbClr val="E0E0E0"/>
            </a:solidFill>
            <a:prstDash val="solid"/>
          </a:ln>
        </p:spPr>
      </p:sp>
      <p:sp>
        <p:nvSpPr>
          <p:cNvPr id="38" name="Text 35"/>
          <p:cNvSpPr txBox="1"/>
          <p:nvPr/>
        </p:nvSpPr>
        <p:spPr>
          <a:xfrm>
            <a:off x="2148840" y="4069080"/>
            <a:ext cx="1417320" cy="548640"/>
          </a:xfrm>
          <a:prstGeom prst="rect">
            <a:avLst/>
          </a:prstGeom>
          <a:noFill/>
          <a:ln/>
        </p:spPr>
        <p:txBody>
          <a:bodyPr wrap="square" lIns="0" tIns="0" rIns="0" bIns="0" rtlCol="0" anchor="t"/>
          <a:lstStyle/>
          <a:p>
            <a:pPr indent="0" marL="0">
              <a:buNone/>
            </a:pPr>
            <a:r>
              <a:rPr lang="en-US" sz="2600" dirty="0">
                <a:solidFill>
                  <a:schemeClr val="accent2"/>
                </a:solidFill>
                <a:latin typeface="Segoe UI Light" pitchFamily="34" charset="0"/>
                <a:ea typeface="Segoe UI Light" pitchFamily="34" charset="-122"/>
                <a:cs typeface="Segoe UI Light" pitchFamily="34" charset="-120"/>
              </a:rPr>
              <a:t>09</a:t>
            </a:r>
            <a:endParaRPr lang="en-US" sz="2600" dirty="0"/>
          </a:p>
        </p:txBody>
      </p:sp>
      <p:sp>
        <p:nvSpPr>
          <p:cNvPr id="39" name="Text 36"/>
          <p:cNvSpPr txBox="1"/>
          <p:nvPr/>
        </p:nvSpPr>
        <p:spPr>
          <a:xfrm>
            <a:off x="2148840" y="466344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Diagnose</a:t>
            </a:r>
            <a:endParaRPr lang="en-US" sz="1600" dirty="0"/>
          </a:p>
        </p:txBody>
      </p:sp>
      <p:sp>
        <p:nvSpPr>
          <p:cNvPr id="40" name="Text 37"/>
          <p:cNvSpPr txBox="1"/>
          <p:nvPr/>
        </p:nvSpPr>
        <p:spPr>
          <a:xfrm>
            <a:off x="2148840" y="507492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A wrong citation</a:t>
            </a:r>
            <a:endParaRPr lang="en-US" sz="1200" dirty="0"/>
          </a:p>
        </p:txBody>
      </p:sp>
      <p:sp>
        <p:nvSpPr>
          <p:cNvPr id="41" name="Divider line"/>
          <p:cNvSpPr/>
          <p:nvPr/>
        </p:nvSpPr>
        <p:spPr>
          <a:xfrm>
            <a:off x="3749040" y="3931920"/>
            <a:ext cx="1417320" cy="0"/>
          </a:xfrm>
          <a:prstGeom prst="line">
            <a:avLst/>
          </a:prstGeom>
          <a:noFill/>
          <a:ln w="12700">
            <a:solidFill>
              <a:srgbClr val="E0E0E0"/>
            </a:solidFill>
            <a:prstDash val="solid"/>
          </a:ln>
        </p:spPr>
      </p:sp>
      <p:sp>
        <p:nvSpPr>
          <p:cNvPr id="42" name="Text 39"/>
          <p:cNvSpPr txBox="1"/>
          <p:nvPr/>
        </p:nvSpPr>
        <p:spPr>
          <a:xfrm>
            <a:off x="3749040" y="4069080"/>
            <a:ext cx="1417320" cy="548640"/>
          </a:xfrm>
          <a:prstGeom prst="rect">
            <a:avLst/>
          </a:prstGeom>
          <a:noFill/>
          <a:ln/>
        </p:spPr>
        <p:txBody>
          <a:bodyPr wrap="square" lIns="0" tIns="0" rIns="0" bIns="0" rtlCol="0" anchor="t"/>
          <a:lstStyle/>
          <a:p>
            <a:pPr indent="0" marL="0">
              <a:buNone/>
            </a:pPr>
            <a:r>
              <a:rPr lang="en-US" sz="2600" dirty="0">
                <a:solidFill>
                  <a:schemeClr val="accent2"/>
                </a:solidFill>
                <a:latin typeface="Segoe UI Light" pitchFamily="34" charset="0"/>
                <a:ea typeface="Segoe UI Light" pitchFamily="34" charset="-122"/>
                <a:cs typeface="Segoe UI Light" pitchFamily="34" charset="-120"/>
              </a:rPr>
              <a:t>10</a:t>
            </a:r>
            <a:endParaRPr lang="en-US" sz="2600" dirty="0"/>
          </a:p>
        </p:txBody>
      </p:sp>
      <p:sp>
        <p:nvSpPr>
          <p:cNvPr id="43" name="Text 40"/>
          <p:cNvSpPr txBox="1"/>
          <p:nvPr/>
        </p:nvSpPr>
        <p:spPr>
          <a:xfrm>
            <a:off x="3749040" y="466344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Automate</a:t>
            </a:r>
            <a:endParaRPr lang="en-US" sz="1600" dirty="0"/>
          </a:p>
        </p:txBody>
      </p:sp>
      <p:sp>
        <p:nvSpPr>
          <p:cNvPr id="44" name="Text 41"/>
          <p:cNvSpPr txBox="1"/>
          <p:nvPr/>
        </p:nvSpPr>
        <p:spPr>
          <a:xfrm>
            <a:off x="3749040" y="507492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n8n workflow, human approval</a:t>
            </a:r>
            <a:endParaRPr lang="en-US" sz="1200" dirty="0"/>
          </a:p>
        </p:txBody>
      </p:sp>
      <p:sp>
        <p:nvSpPr>
          <p:cNvPr id="45" name="Divider line"/>
          <p:cNvSpPr/>
          <p:nvPr/>
        </p:nvSpPr>
        <p:spPr>
          <a:xfrm>
            <a:off x="5349240" y="3931920"/>
            <a:ext cx="1417320" cy="0"/>
          </a:xfrm>
          <a:prstGeom prst="line">
            <a:avLst/>
          </a:prstGeom>
          <a:noFill/>
          <a:ln w="12700">
            <a:solidFill>
              <a:srgbClr val="E0E0E0"/>
            </a:solidFill>
            <a:prstDash val="solid"/>
          </a:ln>
        </p:spPr>
      </p:sp>
      <p:sp>
        <p:nvSpPr>
          <p:cNvPr id="46" name="Text 43"/>
          <p:cNvSpPr txBox="1"/>
          <p:nvPr/>
        </p:nvSpPr>
        <p:spPr>
          <a:xfrm>
            <a:off x="5349240" y="4069080"/>
            <a:ext cx="1417320" cy="548640"/>
          </a:xfrm>
          <a:prstGeom prst="rect">
            <a:avLst/>
          </a:prstGeom>
          <a:noFill/>
          <a:ln/>
        </p:spPr>
        <p:txBody>
          <a:bodyPr wrap="square" lIns="0" tIns="0" rIns="0" bIns="0" rtlCol="0" anchor="t"/>
          <a:lstStyle/>
          <a:p>
            <a:pPr indent="0" marL="0">
              <a:buNone/>
            </a:pPr>
            <a:r>
              <a:rPr lang="en-US" sz="2600" dirty="0">
                <a:solidFill>
                  <a:schemeClr val="accent2"/>
                </a:solidFill>
                <a:latin typeface="Segoe UI Light" pitchFamily="34" charset="0"/>
                <a:ea typeface="Segoe UI Light" pitchFamily="34" charset="-122"/>
                <a:cs typeface="Segoe UI Light" pitchFamily="34" charset="-120"/>
              </a:rPr>
              <a:t>11</a:t>
            </a:r>
            <a:endParaRPr lang="en-US" sz="2600" dirty="0"/>
          </a:p>
        </p:txBody>
      </p:sp>
      <p:sp>
        <p:nvSpPr>
          <p:cNvPr id="47" name="Text 44"/>
          <p:cNvSpPr txBox="1"/>
          <p:nvPr/>
        </p:nvSpPr>
        <p:spPr>
          <a:xfrm>
            <a:off x="5349240" y="466344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Attack</a:t>
            </a:r>
            <a:endParaRPr lang="en-US" sz="1600" dirty="0"/>
          </a:p>
        </p:txBody>
      </p:sp>
      <p:sp>
        <p:nvSpPr>
          <p:cNvPr id="48" name="Text 45"/>
          <p:cNvSpPr txBox="1"/>
          <p:nvPr/>
        </p:nvSpPr>
        <p:spPr>
          <a:xfrm>
            <a:off x="5349240" y="507492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Hidden instructions</a:t>
            </a:r>
            <a:endParaRPr lang="en-US" sz="1200" dirty="0"/>
          </a:p>
        </p:txBody>
      </p:sp>
      <p:sp>
        <p:nvSpPr>
          <p:cNvPr id="49" name="Divider line"/>
          <p:cNvSpPr/>
          <p:nvPr/>
        </p:nvSpPr>
        <p:spPr>
          <a:xfrm>
            <a:off x="6949440" y="3931920"/>
            <a:ext cx="1417320" cy="0"/>
          </a:xfrm>
          <a:prstGeom prst="line">
            <a:avLst/>
          </a:prstGeom>
          <a:noFill/>
          <a:ln w="12700">
            <a:solidFill>
              <a:srgbClr val="E0E0E0"/>
            </a:solidFill>
            <a:prstDash val="solid"/>
          </a:ln>
        </p:spPr>
      </p:sp>
      <p:sp>
        <p:nvSpPr>
          <p:cNvPr id="50" name="Text 47"/>
          <p:cNvSpPr txBox="1"/>
          <p:nvPr/>
        </p:nvSpPr>
        <p:spPr>
          <a:xfrm>
            <a:off x="6949440" y="4069080"/>
            <a:ext cx="1417320" cy="548640"/>
          </a:xfrm>
          <a:prstGeom prst="rect">
            <a:avLst/>
          </a:prstGeom>
          <a:noFill/>
          <a:ln/>
        </p:spPr>
        <p:txBody>
          <a:bodyPr wrap="square" lIns="0" tIns="0" rIns="0" bIns="0" rtlCol="0" anchor="t"/>
          <a:lstStyle/>
          <a:p>
            <a:pPr indent="0" marL="0">
              <a:buNone/>
            </a:pPr>
            <a:r>
              <a:rPr lang="en-US" sz="2600" dirty="0">
                <a:solidFill>
                  <a:schemeClr val="accent2"/>
                </a:solidFill>
                <a:latin typeface="Segoe UI Light" pitchFamily="34" charset="0"/>
                <a:ea typeface="Segoe UI Light" pitchFamily="34" charset="-122"/>
                <a:cs typeface="Segoe UI Light" pitchFamily="34" charset="-120"/>
              </a:rPr>
              <a:t>12</a:t>
            </a:r>
            <a:endParaRPr lang="en-US" sz="2600" dirty="0"/>
          </a:p>
        </p:txBody>
      </p:sp>
      <p:sp>
        <p:nvSpPr>
          <p:cNvPr id="51" name="Text 48"/>
          <p:cNvSpPr txBox="1"/>
          <p:nvPr/>
        </p:nvSpPr>
        <p:spPr>
          <a:xfrm>
            <a:off x="6949440" y="466344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Govern</a:t>
            </a:r>
            <a:endParaRPr lang="en-US" sz="1600" dirty="0"/>
          </a:p>
        </p:txBody>
      </p:sp>
      <p:sp>
        <p:nvSpPr>
          <p:cNvPr id="52" name="Text 49"/>
          <p:cNvSpPr txBox="1"/>
          <p:nvPr/>
        </p:nvSpPr>
        <p:spPr>
          <a:xfrm>
            <a:off x="6949440" y="507492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Rules and a register</a:t>
            </a:r>
            <a:endParaRPr lang="en-US" sz="1200" dirty="0"/>
          </a:p>
        </p:txBody>
      </p:sp>
      <p:sp>
        <p:nvSpPr>
          <p:cNvPr id="53" name="Divider line"/>
          <p:cNvSpPr/>
          <p:nvPr/>
        </p:nvSpPr>
        <p:spPr>
          <a:xfrm>
            <a:off x="8549640" y="3931920"/>
            <a:ext cx="1417320" cy="0"/>
          </a:xfrm>
          <a:prstGeom prst="line">
            <a:avLst/>
          </a:prstGeom>
          <a:noFill/>
          <a:ln w="12700">
            <a:solidFill>
              <a:srgbClr val="E0E0E0"/>
            </a:solidFill>
            <a:prstDash val="solid"/>
          </a:ln>
        </p:spPr>
      </p:sp>
      <p:sp>
        <p:nvSpPr>
          <p:cNvPr id="54" name="Text 51"/>
          <p:cNvSpPr txBox="1"/>
          <p:nvPr/>
        </p:nvSpPr>
        <p:spPr>
          <a:xfrm>
            <a:off x="8549640" y="4069080"/>
            <a:ext cx="1417320" cy="548640"/>
          </a:xfrm>
          <a:prstGeom prst="rect">
            <a:avLst/>
          </a:prstGeom>
          <a:noFill/>
          <a:ln/>
        </p:spPr>
        <p:txBody>
          <a:bodyPr wrap="square" lIns="0" tIns="0" rIns="0" bIns="0" rtlCol="0" anchor="t"/>
          <a:lstStyle/>
          <a:p>
            <a:pPr indent="0" marL="0">
              <a:buNone/>
            </a:pPr>
            <a:r>
              <a:rPr lang="en-US" sz="2600" dirty="0">
                <a:solidFill>
                  <a:schemeClr val="accent2"/>
                </a:solidFill>
                <a:latin typeface="Segoe UI Light" pitchFamily="34" charset="0"/>
                <a:ea typeface="Segoe UI Light" pitchFamily="34" charset="-122"/>
                <a:cs typeface="Segoe UI Light" pitchFamily="34" charset="-120"/>
              </a:rPr>
              <a:t>13</a:t>
            </a:r>
            <a:endParaRPr lang="en-US" sz="2600" dirty="0"/>
          </a:p>
        </p:txBody>
      </p:sp>
      <p:sp>
        <p:nvSpPr>
          <p:cNvPr id="55" name="Text 52"/>
          <p:cNvSpPr txBox="1"/>
          <p:nvPr/>
        </p:nvSpPr>
        <p:spPr>
          <a:xfrm>
            <a:off x="8549640" y="4663440"/>
            <a:ext cx="1463040" cy="457200"/>
          </a:xfrm>
          <a:prstGeom prst="rect">
            <a:avLst/>
          </a:prstGeom>
          <a:noFill/>
          <a:ln/>
        </p:spPr>
        <p:txBody>
          <a:bodyPr wrap="square" lIns="0" tIns="0" rIns="0" bIns="0" rtlCol="0" anchor="t"/>
          <a:lstStyle/>
          <a:p>
            <a:pPr indent="0" marL="0">
              <a:buNone/>
            </a:pPr>
            <a:r>
              <a:rPr lang="en-US" sz="1600" dirty="0">
                <a:solidFill>
                  <a:schemeClr val="tx1"/>
                </a:solidFill>
                <a:latin typeface="Segoe UI Semibold" pitchFamily="34" charset="0"/>
                <a:ea typeface="Segoe UI Semibold" pitchFamily="34" charset="-122"/>
                <a:cs typeface="Segoe UI Semibold" pitchFamily="34" charset="-120"/>
              </a:rPr>
              <a:t>Pitch</a:t>
            </a:r>
            <a:endParaRPr lang="en-US" sz="1600" dirty="0"/>
          </a:p>
        </p:txBody>
      </p:sp>
      <p:sp>
        <p:nvSpPr>
          <p:cNvPr id="56" name="Text 53"/>
          <p:cNvSpPr txBox="1"/>
          <p:nvPr/>
        </p:nvSpPr>
        <p:spPr>
          <a:xfrm>
            <a:off x="8549640" y="5074920"/>
            <a:ext cx="1417320" cy="822960"/>
          </a:xfrm>
          <a:prstGeom prst="rect">
            <a:avLst/>
          </a:prstGeom>
          <a:noFill/>
          <a:ln/>
        </p:spPr>
        <p:txBody>
          <a:bodyPr wrap="square" lIns="0" tIns="0" rIns="0" bIns="0" rtlCol="0" anchor="t"/>
          <a:lstStyle/>
          <a:p>
            <a:pPr indent="0" marL="0">
              <a:buNone/>
            </a:pPr>
            <a:r>
              <a:rPr lang="en-US" sz="1200" dirty="0">
                <a:solidFill>
                  <a:schemeClr val="accent4"/>
                </a:solidFill>
              </a:rPr>
              <a:t>Capstone</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The plan</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Day 1 builds and tests. Day 2 connects and secures.</a:t>
            </a:r>
            <a:endParaRPr lang="en-US" sz="3200" dirty="0"/>
          </a:p>
        </p:txBody>
      </p:sp>
      <p:sp>
        <p:nvSpPr>
          <p:cNvPr id="5" name="Text 2"/>
          <p:cNvSpPr txBox="1"/>
          <p:nvPr/>
        </p:nvSpPr>
        <p:spPr>
          <a:xfrm>
            <a:off x="548640" y="1737360"/>
            <a:ext cx="53949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Day 1</a:t>
            </a:r>
            <a:endParaRPr lang="en-US" sz="2000" dirty="0"/>
          </a:p>
        </p:txBody>
      </p:sp>
      <p:sp>
        <p:nvSpPr>
          <p:cNvPr id="6" name="Divider line"/>
          <p:cNvSpPr/>
          <p:nvPr/>
        </p:nvSpPr>
        <p:spPr>
          <a:xfrm>
            <a:off x="548640" y="2286000"/>
            <a:ext cx="5376672" cy="0"/>
          </a:xfrm>
          <a:prstGeom prst="line">
            <a:avLst/>
          </a:prstGeom>
          <a:noFill/>
          <a:ln w="12700">
            <a:solidFill>
              <a:srgbClr val="E0E0E0"/>
            </a:solidFill>
            <a:prstDash val="solid"/>
          </a:ln>
        </p:spPr>
      </p:sp>
      <p:sp>
        <p:nvSpPr>
          <p:cNvPr id="7" name="Text 4"/>
          <p:cNvSpPr txBox="1"/>
          <p:nvPr/>
        </p:nvSpPr>
        <p:spPr>
          <a:xfrm>
            <a:off x="548640" y="237744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01</a:t>
            </a:r>
            <a:endParaRPr lang="en-US" sz="1500" dirty="0"/>
          </a:p>
        </p:txBody>
      </p:sp>
      <p:sp>
        <p:nvSpPr>
          <p:cNvPr id="8" name="Text 5"/>
          <p:cNvSpPr txBox="1"/>
          <p:nvPr/>
        </p:nvSpPr>
        <p:spPr>
          <a:xfrm>
            <a:off x="1143000" y="2377440"/>
            <a:ext cx="3657600" cy="411480"/>
          </a:xfrm>
          <a:prstGeom prst="rect">
            <a:avLst/>
          </a:prstGeom>
          <a:noFill/>
          <a:ln/>
        </p:spPr>
        <p:txBody>
          <a:bodyPr wrap="square" lIns="0" tIns="0" rIns="0" bIns="0" rtlCol="0" anchor="t"/>
          <a:lstStyle/>
          <a:p>
            <a:pPr indent="0" marL="0">
              <a:buNone/>
            </a:pPr>
            <a:r>
              <a:rPr lang="en-US" sz="1500" dirty="0">
                <a:solidFill>
                  <a:schemeClr val="tx1"/>
                </a:solidFill>
              </a:rPr>
              <a:t>How LLMs behave</a:t>
            </a:r>
            <a:endParaRPr lang="en-US" sz="1500" dirty="0"/>
          </a:p>
        </p:txBody>
      </p:sp>
      <p:sp>
        <p:nvSpPr>
          <p:cNvPr id="9" name="Text 6"/>
          <p:cNvSpPr txBox="1"/>
          <p:nvPr/>
        </p:nvSpPr>
        <p:spPr>
          <a:xfrm>
            <a:off x="4754880" y="237744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40 min</a:t>
            </a:r>
            <a:endParaRPr lang="en-US" sz="1400" dirty="0"/>
          </a:p>
        </p:txBody>
      </p:sp>
      <p:sp>
        <p:nvSpPr>
          <p:cNvPr id="10" name="Divider line"/>
          <p:cNvSpPr/>
          <p:nvPr/>
        </p:nvSpPr>
        <p:spPr>
          <a:xfrm>
            <a:off x="548640" y="2834640"/>
            <a:ext cx="5376672" cy="0"/>
          </a:xfrm>
          <a:prstGeom prst="line">
            <a:avLst/>
          </a:prstGeom>
          <a:noFill/>
          <a:ln w="12700">
            <a:solidFill>
              <a:srgbClr val="E0E0E0"/>
            </a:solidFill>
            <a:prstDash val="solid"/>
          </a:ln>
        </p:spPr>
      </p:sp>
      <p:sp>
        <p:nvSpPr>
          <p:cNvPr id="11" name="Text 8"/>
          <p:cNvSpPr txBox="1"/>
          <p:nvPr/>
        </p:nvSpPr>
        <p:spPr>
          <a:xfrm>
            <a:off x="548640" y="292608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02</a:t>
            </a:r>
            <a:endParaRPr lang="en-US" sz="1500" dirty="0"/>
          </a:p>
        </p:txBody>
      </p:sp>
      <p:sp>
        <p:nvSpPr>
          <p:cNvPr id="12" name="Text 9"/>
          <p:cNvSpPr txBox="1"/>
          <p:nvPr/>
        </p:nvSpPr>
        <p:spPr>
          <a:xfrm>
            <a:off x="1143000" y="2926080"/>
            <a:ext cx="3657600" cy="411480"/>
          </a:xfrm>
          <a:prstGeom prst="rect">
            <a:avLst/>
          </a:prstGeom>
          <a:noFill/>
          <a:ln/>
        </p:spPr>
        <p:txBody>
          <a:bodyPr wrap="square" lIns="0" tIns="0" rIns="0" bIns="0" rtlCol="0" anchor="t"/>
          <a:lstStyle/>
          <a:p>
            <a:pPr indent="0" marL="0">
              <a:buNone/>
            </a:pPr>
            <a:r>
              <a:rPr lang="en-US" sz="1500" dirty="0">
                <a:solidFill>
                  <a:schemeClr val="tx1"/>
                </a:solidFill>
              </a:rPr>
              <a:t>Context and structured output</a:t>
            </a:r>
            <a:endParaRPr lang="en-US" sz="1500" dirty="0"/>
          </a:p>
        </p:txBody>
      </p:sp>
      <p:sp>
        <p:nvSpPr>
          <p:cNvPr id="13" name="Text 10"/>
          <p:cNvSpPr txBox="1"/>
          <p:nvPr/>
        </p:nvSpPr>
        <p:spPr>
          <a:xfrm>
            <a:off x="4754880" y="292608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50 min</a:t>
            </a:r>
            <a:endParaRPr lang="en-US" sz="1400" dirty="0"/>
          </a:p>
        </p:txBody>
      </p:sp>
      <p:sp>
        <p:nvSpPr>
          <p:cNvPr id="14" name="Divider line"/>
          <p:cNvSpPr/>
          <p:nvPr/>
        </p:nvSpPr>
        <p:spPr>
          <a:xfrm>
            <a:off x="548640" y="3383280"/>
            <a:ext cx="5376672" cy="0"/>
          </a:xfrm>
          <a:prstGeom prst="line">
            <a:avLst/>
          </a:prstGeom>
          <a:noFill/>
          <a:ln w="12700">
            <a:solidFill>
              <a:srgbClr val="E0E0E0"/>
            </a:solidFill>
            <a:prstDash val="solid"/>
          </a:ln>
        </p:spPr>
      </p:sp>
      <p:sp>
        <p:nvSpPr>
          <p:cNvPr id="15" name="Text 12"/>
          <p:cNvSpPr txBox="1"/>
          <p:nvPr/>
        </p:nvSpPr>
        <p:spPr>
          <a:xfrm>
            <a:off x="548640" y="347472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03</a:t>
            </a:r>
            <a:endParaRPr lang="en-US" sz="1500" dirty="0"/>
          </a:p>
        </p:txBody>
      </p:sp>
      <p:sp>
        <p:nvSpPr>
          <p:cNvPr id="16" name="Text 13"/>
          <p:cNvSpPr txBox="1"/>
          <p:nvPr/>
        </p:nvSpPr>
        <p:spPr>
          <a:xfrm>
            <a:off x="1143000" y="3474720"/>
            <a:ext cx="3657600" cy="411480"/>
          </a:xfrm>
          <a:prstGeom prst="rect">
            <a:avLst/>
          </a:prstGeom>
          <a:noFill/>
          <a:ln/>
        </p:spPr>
        <p:txBody>
          <a:bodyPr wrap="square" lIns="0" tIns="0" rIns="0" bIns="0" rtlCol="0" anchor="t"/>
          <a:lstStyle/>
          <a:p>
            <a:pPr indent="0" marL="0">
              <a:buNone/>
            </a:pPr>
            <a:r>
              <a:rPr lang="en-US" sz="1500" dirty="0">
                <a:solidFill>
                  <a:schemeClr val="tx1"/>
                </a:solidFill>
              </a:rPr>
              <a:t>Custom assistants</a:t>
            </a:r>
            <a:endParaRPr lang="en-US" sz="1500" dirty="0"/>
          </a:p>
        </p:txBody>
      </p:sp>
      <p:sp>
        <p:nvSpPr>
          <p:cNvPr id="17" name="Text 14"/>
          <p:cNvSpPr txBox="1"/>
          <p:nvPr/>
        </p:nvSpPr>
        <p:spPr>
          <a:xfrm>
            <a:off x="4754880" y="347472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70 min</a:t>
            </a:r>
            <a:endParaRPr lang="en-US" sz="1400" dirty="0"/>
          </a:p>
        </p:txBody>
      </p:sp>
      <p:sp>
        <p:nvSpPr>
          <p:cNvPr id="18" name="Divider line"/>
          <p:cNvSpPr/>
          <p:nvPr/>
        </p:nvSpPr>
        <p:spPr>
          <a:xfrm>
            <a:off x="548640" y="3931920"/>
            <a:ext cx="5376672" cy="0"/>
          </a:xfrm>
          <a:prstGeom prst="line">
            <a:avLst/>
          </a:prstGeom>
          <a:noFill/>
          <a:ln w="12700">
            <a:solidFill>
              <a:srgbClr val="E0E0E0"/>
            </a:solidFill>
            <a:prstDash val="solid"/>
          </a:ln>
        </p:spPr>
      </p:sp>
      <p:sp>
        <p:nvSpPr>
          <p:cNvPr id="19" name="Text 16"/>
          <p:cNvSpPr txBox="1"/>
          <p:nvPr/>
        </p:nvSpPr>
        <p:spPr>
          <a:xfrm>
            <a:off x="548640" y="402336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04</a:t>
            </a:r>
            <a:endParaRPr lang="en-US" sz="1500" dirty="0"/>
          </a:p>
        </p:txBody>
      </p:sp>
      <p:sp>
        <p:nvSpPr>
          <p:cNvPr id="20" name="Text 17"/>
          <p:cNvSpPr txBox="1"/>
          <p:nvPr/>
        </p:nvSpPr>
        <p:spPr>
          <a:xfrm>
            <a:off x="1143000" y="4023360"/>
            <a:ext cx="3657600" cy="411480"/>
          </a:xfrm>
          <a:prstGeom prst="rect">
            <a:avLst/>
          </a:prstGeom>
          <a:noFill/>
          <a:ln/>
        </p:spPr>
        <p:txBody>
          <a:bodyPr wrap="square" lIns="0" tIns="0" rIns="0" bIns="0" rtlCol="0" anchor="t"/>
          <a:lstStyle/>
          <a:p>
            <a:pPr indent="0" marL="0">
              <a:buNone/>
            </a:pPr>
            <a:r>
              <a:rPr lang="en-US" sz="1500" dirty="0">
                <a:solidFill>
                  <a:schemeClr val="tx1"/>
                </a:solidFill>
              </a:rPr>
              <a:t>Grounded research</a:t>
            </a:r>
            <a:endParaRPr lang="en-US" sz="1500" dirty="0"/>
          </a:p>
        </p:txBody>
      </p:sp>
      <p:sp>
        <p:nvSpPr>
          <p:cNvPr id="21" name="Text 18"/>
          <p:cNvSpPr txBox="1"/>
          <p:nvPr/>
        </p:nvSpPr>
        <p:spPr>
          <a:xfrm>
            <a:off x="4754880" y="402336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55 min</a:t>
            </a:r>
            <a:endParaRPr lang="en-US" sz="1400" dirty="0"/>
          </a:p>
        </p:txBody>
      </p:sp>
      <p:sp>
        <p:nvSpPr>
          <p:cNvPr id="22" name="Divider line"/>
          <p:cNvSpPr/>
          <p:nvPr/>
        </p:nvSpPr>
        <p:spPr>
          <a:xfrm>
            <a:off x="548640" y="4480560"/>
            <a:ext cx="5376672" cy="0"/>
          </a:xfrm>
          <a:prstGeom prst="line">
            <a:avLst/>
          </a:prstGeom>
          <a:noFill/>
          <a:ln w="12700">
            <a:solidFill>
              <a:srgbClr val="E0E0E0"/>
            </a:solidFill>
            <a:prstDash val="solid"/>
          </a:ln>
        </p:spPr>
      </p:sp>
      <p:sp>
        <p:nvSpPr>
          <p:cNvPr id="23" name="Text 20"/>
          <p:cNvSpPr txBox="1"/>
          <p:nvPr/>
        </p:nvSpPr>
        <p:spPr>
          <a:xfrm>
            <a:off x="548640" y="457200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05</a:t>
            </a:r>
            <a:endParaRPr lang="en-US" sz="1500" dirty="0"/>
          </a:p>
        </p:txBody>
      </p:sp>
      <p:sp>
        <p:nvSpPr>
          <p:cNvPr id="24" name="Text 21"/>
          <p:cNvSpPr txBox="1"/>
          <p:nvPr/>
        </p:nvSpPr>
        <p:spPr>
          <a:xfrm>
            <a:off x="1143000" y="4572000"/>
            <a:ext cx="3657600" cy="411480"/>
          </a:xfrm>
          <a:prstGeom prst="rect">
            <a:avLst/>
          </a:prstGeom>
          <a:noFill/>
          <a:ln/>
        </p:spPr>
        <p:txBody>
          <a:bodyPr wrap="square" lIns="0" tIns="0" rIns="0" bIns="0" rtlCol="0" anchor="t"/>
          <a:lstStyle/>
          <a:p>
            <a:pPr indent="0" marL="0">
              <a:buNone/>
            </a:pPr>
            <a:r>
              <a:rPr lang="en-US" sz="1500" dirty="0">
                <a:solidFill>
                  <a:schemeClr val="tx1"/>
                </a:solidFill>
              </a:rPr>
              <a:t>Data analysis</a:t>
            </a:r>
            <a:endParaRPr lang="en-US" sz="1500" dirty="0"/>
          </a:p>
        </p:txBody>
      </p:sp>
      <p:sp>
        <p:nvSpPr>
          <p:cNvPr id="25" name="Text 22"/>
          <p:cNvSpPr txBox="1"/>
          <p:nvPr/>
        </p:nvSpPr>
        <p:spPr>
          <a:xfrm>
            <a:off x="4754880" y="457200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55 min</a:t>
            </a:r>
            <a:endParaRPr lang="en-US" sz="1400" dirty="0"/>
          </a:p>
        </p:txBody>
      </p:sp>
      <p:sp>
        <p:nvSpPr>
          <p:cNvPr id="26" name="Divider line"/>
          <p:cNvSpPr/>
          <p:nvPr/>
        </p:nvSpPr>
        <p:spPr>
          <a:xfrm>
            <a:off x="548640" y="5029200"/>
            <a:ext cx="5376672" cy="0"/>
          </a:xfrm>
          <a:prstGeom prst="line">
            <a:avLst/>
          </a:prstGeom>
          <a:noFill/>
          <a:ln w="12700">
            <a:solidFill>
              <a:srgbClr val="E0E0E0"/>
            </a:solidFill>
            <a:prstDash val="solid"/>
          </a:ln>
        </p:spPr>
      </p:sp>
      <p:sp>
        <p:nvSpPr>
          <p:cNvPr id="27" name="Text 24"/>
          <p:cNvSpPr txBox="1"/>
          <p:nvPr/>
        </p:nvSpPr>
        <p:spPr>
          <a:xfrm>
            <a:off x="548640" y="512064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06</a:t>
            </a:r>
            <a:endParaRPr lang="en-US" sz="1500" dirty="0"/>
          </a:p>
        </p:txBody>
      </p:sp>
      <p:sp>
        <p:nvSpPr>
          <p:cNvPr id="28" name="Text 25"/>
          <p:cNvSpPr txBox="1"/>
          <p:nvPr/>
        </p:nvSpPr>
        <p:spPr>
          <a:xfrm>
            <a:off x="1143000" y="5120640"/>
            <a:ext cx="3657600" cy="411480"/>
          </a:xfrm>
          <a:prstGeom prst="rect">
            <a:avLst/>
          </a:prstGeom>
          <a:noFill/>
          <a:ln/>
        </p:spPr>
        <p:txBody>
          <a:bodyPr wrap="square" lIns="0" tIns="0" rIns="0" bIns="0" rtlCol="0" anchor="t"/>
          <a:lstStyle/>
          <a:p>
            <a:pPr indent="0" marL="0">
              <a:buNone/>
            </a:pPr>
            <a:r>
              <a:rPr lang="en-US" sz="1500" dirty="0">
                <a:solidFill>
                  <a:schemeClr val="tx1"/>
                </a:solidFill>
              </a:rPr>
              <a:t>Templates</a:t>
            </a:r>
            <a:endParaRPr lang="en-US" sz="1500" dirty="0"/>
          </a:p>
        </p:txBody>
      </p:sp>
      <p:sp>
        <p:nvSpPr>
          <p:cNvPr id="29" name="Text 26"/>
          <p:cNvSpPr txBox="1"/>
          <p:nvPr/>
        </p:nvSpPr>
        <p:spPr>
          <a:xfrm>
            <a:off x="4754880" y="512064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60 min</a:t>
            </a:r>
            <a:endParaRPr lang="en-US" sz="1400" dirty="0"/>
          </a:p>
        </p:txBody>
      </p:sp>
      <p:sp>
        <p:nvSpPr>
          <p:cNvPr id="30" name="Divider line"/>
          <p:cNvSpPr/>
          <p:nvPr/>
        </p:nvSpPr>
        <p:spPr>
          <a:xfrm>
            <a:off x="548640" y="5577840"/>
            <a:ext cx="5376672" cy="0"/>
          </a:xfrm>
          <a:prstGeom prst="line">
            <a:avLst/>
          </a:prstGeom>
          <a:noFill/>
          <a:ln w="12700">
            <a:solidFill>
              <a:srgbClr val="E0E0E0"/>
            </a:solidFill>
            <a:prstDash val="solid"/>
          </a:ln>
        </p:spPr>
      </p:sp>
      <p:sp>
        <p:nvSpPr>
          <p:cNvPr id="31" name="Text 28"/>
          <p:cNvSpPr txBox="1"/>
          <p:nvPr/>
        </p:nvSpPr>
        <p:spPr>
          <a:xfrm>
            <a:off x="548640" y="566928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07</a:t>
            </a:r>
            <a:endParaRPr lang="en-US" sz="1500" dirty="0"/>
          </a:p>
        </p:txBody>
      </p:sp>
      <p:sp>
        <p:nvSpPr>
          <p:cNvPr id="32" name="Text 29"/>
          <p:cNvSpPr txBox="1"/>
          <p:nvPr/>
        </p:nvSpPr>
        <p:spPr>
          <a:xfrm>
            <a:off x="1143000" y="5669280"/>
            <a:ext cx="3657600" cy="411480"/>
          </a:xfrm>
          <a:prstGeom prst="rect">
            <a:avLst/>
          </a:prstGeom>
          <a:noFill/>
          <a:ln/>
        </p:spPr>
        <p:txBody>
          <a:bodyPr wrap="square" lIns="0" tIns="0" rIns="0" bIns="0" rtlCol="0" anchor="t"/>
          <a:lstStyle/>
          <a:p>
            <a:pPr indent="0" marL="0">
              <a:buNone/>
            </a:pPr>
            <a:r>
              <a:rPr lang="en-US" sz="1500" dirty="0">
                <a:solidFill>
                  <a:schemeClr val="tx1"/>
                </a:solidFill>
              </a:rPr>
              <a:t>Evaluating output</a:t>
            </a:r>
            <a:endParaRPr lang="en-US" sz="1500" dirty="0"/>
          </a:p>
        </p:txBody>
      </p:sp>
      <p:sp>
        <p:nvSpPr>
          <p:cNvPr id="33" name="Text 30"/>
          <p:cNvSpPr txBox="1"/>
          <p:nvPr/>
        </p:nvSpPr>
        <p:spPr>
          <a:xfrm>
            <a:off x="4754880" y="566928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45 min</a:t>
            </a:r>
            <a:endParaRPr lang="en-US" sz="1400" dirty="0"/>
          </a:p>
        </p:txBody>
      </p:sp>
      <p:sp>
        <p:nvSpPr>
          <p:cNvPr id="34" name="Divider line"/>
          <p:cNvSpPr/>
          <p:nvPr/>
        </p:nvSpPr>
        <p:spPr>
          <a:xfrm>
            <a:off x="548640" y="6126480"/>
            <a:ext cx="5376672" cy="0"/>
          </a:xfrm>
          <a:prstGeom prst="line">
            <a:avLst/>
          </a:prstGeom>
          <a:noFill/>
          <a:ln w="12700">
            <a:solidFill>
              <a:srgbClr val="E0E0E0"/>
            </a:solidFill>
            <a:prstDash val="solid"/>
          </a:ln>
        </p:spPr>
      </p:sp>
      <p:sp>
        <p:nvSpPr>
          <p:cNvPr id="35" name="Text 32"/>
          <p:cNvSpPr txBox="1"/>
          <p:nvPr/>
        </p:nvSpPr>
        <p:spPr>
          <a:xfrm>
            <a:off x="6263640" y="1737360"/>
            <a:ext cx="539496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Day 2</a:t>
            </a:r>
            <a:endParaRPr lang="en-US" sz="2000" dirty="0"/>
          </a:p>
        </p:txBody>
      </p:sp>
      <p:sp>
        <p:nvSpPr>
          <p:cNvPr id="36" name="Divider line"/>
          <p:cNvSpPr/>
          <p:nvPr/>
        </p:nvSpPr>
        <p:spPr>
          <a:xfrm>
            <a:off x="6263640" y="2286000"/>
            <a:ext cx="5376672" cy="0"/>
          </a:xfrm>
          <a:prstGeom prst="line">
            <a:avLst/>
          </a:prstGeom>
          <a:noFill/>
          <a:ln w="12700">
            <a:solidFill>
              <a:srgbClr val="E0E0E0"/>
            </a:solidFill>
            <a:prstDash val="solid"/>
          </a:ln>
        </p:spPr>
      </p:sp>
      <p:sp>
        <p:nvSpPr>
          <p:cNvPr id="37" name="Text 34"/>
          <p:cNvSpPr txBox="1"/>
          <p:nvPr/>
        </p:nvSpPr>
        <p:spPr>
          <a:xfrm>
            <a:off x="6263640" y="237744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08</a:t>
            </a:r>
            <a:endParaRPr lang="en-US" sz="1500" dirty="0"/>
          </a:p>
        </p:txBody>
      </p:sp>
      <p:sp>
        <p:nvSpPr>
          <p:cNvPr id="38" name="Text 35"/>
          <p:cNvSpPr txBox="1"/>
          <p:nvPr/>
        </p:nvSpPr>
        <p:spPr>
          <a:xfrm>
            <a:off x="6858000" y="2377440"/>
            <a:ext cx="3657600" cy="411480"/>
          </a:xfrm>
          <a:prstGeom prst="rect">
            <a:avLst/>
          </a:prstGeom>
          <a:noFill/>
          <a:ln/>
        </p:spPr>
        <p:txBody>
          <a:bodyPr wrap="square" lIns="0" tIns="0" rIns="0" bIns="0" rtlCol="0" anchor="t"/>
          <a:lstStyle/>
          <a:p>
            <a:pPr indent="0" marL="0">
              <a:buNone/>
            </a:pPr>
            <a:r>
              <a:rPr lang="en-US" sz="1500" dirty="0">
                <a:solidFill>
                  <a:schemeClr val="tx1"/>
                </a:solidFill>
              </a:rPr>
              <a:t>Agents, connectors, MCP</a:t>
            </a:r>
            <a:endParaRPr lang="en-US" sz="1500" dirty="0"/>
          </a:p>
        </p:txBody>
      </p:sp>
      <p:sp>
        <p:nvSpPr>
          <p:cNvPr id="39" name="Text 36"/>
          <p:cNvSpPr txBox="1"/>
          <p:nvPr/>
        </p:nvSpPr>
        <p:spPr>
          <a:xfrm>
            <a:off x="10469880" y="237744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45 min</a:t>
            </a:r>
            <a:endParaRPr lang="en-US" sz="1400" dirty="0"/>
          </a:p>
        </p:txBody>
      </p:sp>
      <p:sp>
        <p:nvSpPr>
          <p:cNvPr id="40" name="Divider line"/>
          <p:cNvSpPr/>
          <p:nvPr/>
        </p:nvSpPr>
        <p:spPr>
          <a:xfrm>
            <a:off x="6263640" y="2834640"/>
            <a:ext cx="5376672" cy="0"/>
          </a:xfrm>
          <a:prstGeom prst="line">
            <a:avLst/>
          </a:prstGeom>
          <a:noFill/>
          <a:ln w="12700">
            <a:solidFill>
              <a:srgbClr val="E0E0E0"/>
            </a:solidFill>
            <a:prstDash val="solid"/>
          </a:ln>
        </p:spPr>
      </p:sp>
      <p:sp>
        <p:nvSpPr>
          <p:cNvPr id="41" name="Text 38"/>
          <p:cNvSpPr txBox="1"/>
          <p:nvPr/>
        </p:nvSpPr>
        <p:spPr>
          <a:xfrm>
            <a:off x="6263640" y="292608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09</a:t>
            </a:r>
            <a:endParaRPr lang="en-US" sz="1500" dirty="0"/>
          </a:p>
        </p:txBody>
      </p:sp>
      <p:sp>
        <p:nvSpPr>
          <p:cNvPr id="42" name="Text 39"/>
          <p:cNvSpPr txBox="1"/>
          <p:nvPr/>
        </p:nvSpPr>
        <p:spPr>
          <a:xfrm>
            <a:off x="6858000" y="2926080"/>
            <a:ext cx="3657600" cy="411480"/>
          </a:xfrm>
          <a:prstGeom prst="rect">
            <a:avLst/>
          </a:prstGeom>
          <a:noFill/>
          <a:ln/>
        </p:spPr>
        <p:txBody>
          <a:bodyPr wrap="square" lIns="0" tIns="0" rIns="0" bIns="0" rtlCol="0" anchor="t"/>
          <a:lstStyle/>
          <a:p>
            <a:pPr indent="0" marL="0">
              <a:buNone/>
            </a:pPr>
            <a:r>
              <a:rPr lang="en-US" sz="1500" dirty="0">
                <a:solidFill>
                  <a:schemeClr val="tx1"/>
                </a:solidFill>
              </a:rPr>
              <a:t>RAG fundamentals</a:t>
            </a:r>
            <a:endParaRPr lang="en-US" sz="1500" dirty="0"/>
          </a:p>
        </p:txBody>
      </p:sp>
      <p:sp>
        <p:nvSpPr>
          <p:cNvPr id="43" name="Text 40"/>
          <p:cNvSpPr txBox="1"/>
          <p:nvPr/>
        </p:nvSpPr>
        <p:spPr>
          <a:xfrm>
            <a:off x="10469880" y="292608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50 min</a:t>
            </a:r>
            <a:endParaRPr lang="en-US" sz="1400" dirty="0"/>
          </a:p>
        </p:txBody>
      </p:sp>
      <p:sp>
        <p:nvSpPr>
          <p:cNvPr id="44" name="Divider line"/>
          <p:cNvSpPr/>
          <p:nvPr/>
        </p:nvSpPr>
        <p:spPr>
          <a:xfrm>
            <a:off x="6263640" y="3383280"/>
            <a:ext cx="5376672" cy="0"/>
          </a:xfrm>
          <a:prstGeom prst="line">
            <a:avLst/>
          </a:prstGeom>
          <a:noFill/>
          <a:ln w="12700">
            <a:solidFill>
              <a:srgbClr val="E0E0E0"/>
            </a:solidFill>
            <a:prstDash val="solid"/>
          </a:ln>
        </p:spPr>
      </p:sp>
      <p:sp>
        <p:nvSpPr>
          <p:cNvPr id="45" name="Text 42"/>
          <p:cNvSpPr txBox="1"/>
          <p:nvPr/>
        </p:nvSpPr>
        <p:spPr>
          <a:xfrm>
            <a:off x="6263640" y="347472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10</a:t>
            </a:r>
            <a:endParaRPr lang="en-US" sz="1500" dirty="0"/>
          </a:p>
        </p:txBody>
      </p:sp>
      <p:sp>
        <p:nvSpPr>
          <p:cNvPr id="46" name="Text 43"/>
          <p:cNvSpPr txBox="1"/>
          <p:nvPr/>
        </p:nvSpPr>
        <p:spPr>
          <a:xfrm>
            <a:off x="6858000" y="3474720"/>
            <a:ext cx="3657600" cy="411480"/>
          </a:xfrm>
          <a:prstGeom prst="rect">
            <a:avLst/>
          </a:prstGeom>
          <a:noFill/>
          <a:ln/>
        </p:spPr>
        <p:txBody>
          <a:bodyPr wrap="square" lIns="0" tIns="0" rIns="0" bIns="0" rtlCol="0" anchor="t"/>
          <a:lstStyle/>
          <a:p>
            <a:pPr indent="0" marL="0">
              <a:buNone/>
            </a:pPr>
            <a:r>
              <a:rPr lang="en-US" sz="1500" dirty="0">
                <a:solidFill>
                  <a:schemeClr val="tx1"/>
                </a:solidFill>
              </a:rPr>
              <a:t>n8n workflow</a:t>
            </a:r>
            <a:endParaRPr lang="en-US" sz="1500" dirty="0"/>
          </a:p>
        </p:txBody>
      </p:sp>
      <p:sp>
        <p:nvSpPr>
          <p:cNvPr id="47" name="Text 44"/>
          <p:cNvSpPr txBox="1"/>
          <p:nvPr/>
        </p:nvSpPr>
        <p:spPr>
          <a:xfrm>
            <a:off x="10469880" y="347472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90 min</a:t>
            </a:r>
            <a:endParaRPr lang="en-US" sz="1400" dirty="0"/>
          </a:p>
        </p:txBody>
      </p:sp>
      <p:sp>
        <p:nvSpPr>
          <p:cNvPr id="48" name="Divider line"/>
          <p:cNvSpPr/>
          <p:nvPr/>
        </p:nvSpPr>
        <p:spPr>
          <a:xfrm>
            <a:off x="6263640" y="3931920"/>
            <a:ext cx="5376672" cy="0"/>
          </a:xfrm>
          <a:prstGeom prst="line">
            <a:avLst/>
          </a:prstGeom>
          <a:noFill/>
          <a:ln w="12700">
            <a:solidFill>
              <a:srgbClr val="E0E0E0"/>
            </a:solidFill>
            <a:prstDash val="solid"/>
          </a:ln>
        </p:spPr>
      </p:sp>
      <p:sp>
        <p:nvSpPr>
          <p:cNvPr id="49" name="Text 46"/>
          <p:cNvSpPr txBox="1"/>
          <p:nvPr/>
        </p:nvSpPr>
        <p:spPr>
          <a:xfrm>
            <a:off x="6263640" y="402336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11</a:t>
            </a:r>
            <a:endParaRPr lang="en-US" sz="1500" dirty="0"/>
          </a:p>
        </p:txBody>
      </p:sp>
      <p:sp>
        <p:nvSpPr>
          <p:cNvPr id="50" name="Text 47"/>
          <p:cNvSpPr txBox="1"/>
          <p:nvPr/>
        </p:nvSpPr>
        <p:spPr>
          <a:xfrm>
            <a:off x="6858000" y="4023360"/>
            <a:ext cx="3657600" cy="411480"/>
          </a:xfrm>
          <a:prstGeom prst="rect">
            <a:avLst/>
          </a:prstGeom>
          <a:noFill/>
          <a:ln/>
        </p:spPr>
        <p:txBody>
          <a:bodyPr wrap="square" lIns="0" tIns="0" rIns="0" bIns="0" rtlCol="0" anchor="t"/>
          <a:lstStyle/>
          <a:p>
            <a:pPr indent="0" marL="0">
              <a:buNone/>
            </a:pPr>
            <a:r>
              <a:rPr lang="en-US" sz="1500" dirty="0">
                <a:solidFill>
                  <a:schemeClr val="tx1"/>
                </a:solidFill>
              </a:rPr>
              <a:t>AI security</a:t>
            </a:r>
            <a:endParaRPr lang="en-US" sz="1500" dirty="0"/>
          </a:p>
        </p:txBody>
      </p:sp>
      <p:sp>
        <p:nvSpPr>
          <p:cNvPr id="51" name="Text 48"/>
          <p:cNvSpPr txBox="1"/>
          <p:nvPr/>
        </p:nvSpPr>
        <p:spPr>
          <a:xfrm>
            <a:off x="10469880" y="402336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45 min</a:t>
            </a:r>
            <a:endParaRPr lang="en-US" sz="1400" dirty="0"/>
          </a:p>
        </p:txBody>
      </p:sp>
      <p:sp>
        <p:nvSpPr>
          <p:cNvPr id="52" name="Divider line"/>
          <p:cNvSpPr/>
          <p:nvPr/>
        </p:nvSpPr>
        <p:spPr>
          <a:xfrm>
            <a:off x="6263640" y="4480560"/>
            <a:ext cx="5376672" cy="0"/>
          </a:xfrm>
          <a:prstGeom prst="line">
            <a:avLst/>
          </a:prstGeom>
          <a:noFill/>
          <a:ln w="12700">
            <a:solidFill>
              <a:srgbClr val="E0E0E0"/>
            </a:solidFill>
            <a:prstDash val="solid"/>
          </a:ln>
        </p:spPr>
      </p:sp>
      <p:sp>
        <p:nvSpPr>
          <p:cNvPr id="53" name="Text 50"/>
          <p:cNvSpPr txBox="1"/>
          <p:nvPr/>
        </p:nvSpPr>
        <p:spPr>
          <a:xfrm>
            <a:off x="6263640" y="457200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12</a:t>
            </a:r>
            <a:endParaRPr lang="en-US" sz="1500" dirty="0"/>
          </a:p>
        </p:txBody>
      </p:sp>
      <p:sp>
        <p:nvSpPr>
          <p:cNvPr id="54" name="Text 51"/>
          <p:cNvSpPr txBox="1"/>
          <p:nvPr/>
        </p:nvSpPr>
        <p:spPr>
          <a:xfrm>
            <a:off x="6858000" y="4572000"/>
            <a:ext cx="3657600" cy="411480"/>
          </a:xfrm>
          <a:prstGeom prst="rect">
            <a:avLst/>
          </a:prstGeom>
          <a:noFill/>
          <a:ln/>
        </p:spPr>
        <p:txBody>
          <a:bodyPr wrap="square" lIns="0" tIns="0" rIns="0" bIns="0" rtlCol="0" anchor="t"/>
          <a:lstStyle/>
          <a:p>
            <a:pPr indent="0" marL="0">
              <a:buNone/>
            </a:pPr>
            <a:r>
              <a:rPr lang="en-US" sz="1500" dirty="0">
                <a:solidFill>
                  <a:schemeClr val="tx1"/>
                </a:solidFill>
              </a:rPr>
              <a:t>AI governance</a:t>
            </a:r>
            <a:endParaRPr lang="en-US" sz="1500" dirty="0"/>
          </a:p>
        </p:txBody>
      </p:sp>
      <p:sp>
        <p:nvSpPr>
          <p:cNvPr id="55" name="Text 52"/>
          <p:cNvSpPr txBox="1"/>
          <p:nvPr/>
        </p:nvSpPr>
        <p:spPr>
          <a:xfrm>
            <a:off x="10469880" y="457200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45 min</a:t>
            </a:r>
            <a:endParaRPr lang="en-US" sz="1400" dirty="0"/>
          </a:p>
        </p:txBody>
      </p:sp>
      <p:sp>
        <p:nvSpPr>
          <p:cNvPr id="56" name="Divider line"/>
          <p:cNvSpPr/>
          <p:nvPr/>
        </p:nvSpPr>
        <p:spPr>
          <a:xfrm>
            <a:off x="6263640" y="5029200"/>
            <a:ext cx="5376672" cy="0"/>
          </a:xfrm>
          <a:prstGeom prst="line">
            <a:avLst/>
          </a:prstGeom>
          <a:noFill/>
          <a:ln w="12700">
            <a:solidFill>
              <a:srgbClr val="E0E0E0"/>
            </a:solidFill>
            <a:prstDash val="solid"/>
          </a:ln>
        </p:spPr>
      </p:sp>
      <p:sp>
        <p:nvSpPr>
          <p:cNvPr id="57" name="Text 54"/>
          <p:cNvSpPr txBox="1"/>
          <p:nvPr/>
        </p:nvSpPr>
        <p:spPr>
          <a:xfrm>
            <a:off x="6263640" y="5120640"/>
            <a:ext cx="548640" cy="411480"/>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13</a:t>
            </a:r>
            <a:endParaRPr lang="en-US" sz="1500" dirty="0"/>
          </a:p>
        </p:txBody>
      </p:sp>
      <p:sp>
        <p:nvSpPr>
          <p:cNvPr id="58" name="Text 55"/>
          <p:cNvSpPr txBox="1"/>
          <p:nvPr/>
        </p:nvSpPr>
        <p:spPr>
          <a:xfrm>
            <a:off x="6858000" y="5120640"/>
            <a:ext cx="3657600" cy="411480"/>
          </a:xfrm>
          <a:prstGeom prst="rect">
            <a:avLst/>
          </a:prstGeom>
          <a:noFill/>
          <a:ln/>
        </p:spPr>
        <p:txBody>
          <a:bodyPr wrap="square" lIns="0" tIns="0" rIns="0" bIns="0" rtlCol="0" anchor="t"/>
          <a:lstStyle/>
          <a:p>
            <a:pPr indent="0" marL="0">
              <a:buNone/>
            </a:pPr>
            <a:r>
              <a:rPr lang="en-US" sz="1500" dirty="0">
                <a:solidFill>
                  <a:schemeClr val="tx1"/>
                </a:solidFill>
              </a:rPr>
              <a:t>Capstone</a:t>
            </a:r>
            <a:endParaRPr lang="en-US" sz="1500" dirty="0"/>
          </a:p>
        </p:txBody>
      </p:sp>
      <p:sp>
        <p:nvSpPr>
          <p:cNvPr id="59" name="Text 56"/>
          <p:cNvSpPr txBox="1"/>
          <p:nvPr/>
        </p:nvSpPr>
        <p:spPr>
          <a:xfrm>
            <a:off x="10469880" y="5120640"/>
            <a:ext cx="1170432" cy="411480"/>
          </a:xfrm>
          <a:prstGeom prst="rect">
            <a:avLst/>
          </a:prstGeom>
          <a:noFill/>
          <a:ln/>
        </p:spPr>
        <p:txBody>
          <a:bodyPr wrap="square" lIns="0" tIns="0" rIns="0" bIns="0" rtlCol="0" anchor="t"/>
          <a:lstStyle/>
          <a:p>
            <a:pPr algn="r" indent="0" marL="0">
              <a:buNone/>
            </a:pPr>
            <a:r>
              <a:rPr lang="en-US" sz="1400" dirty="0">
                <a:solidFill>
                  <a:schemeClr val="accent4"/>
                </a:solidFill>
              </a:rPr>
              <a:t>90 min</a:t>
            </a:r>
            <a:endParaRPr lang="en-US" sz="1400" dirty="0"/>
          </a:p>
        </p:txBody>
      </p:sp>
      <p:sp>
        <p:nvSpPr>
          <p:cNvPr id="60" name="Divider line"/>
          <p:cNvSpPr/>
          <p:nvPr/>
        </p:nvSpPr>
        <p:spPr>
          <a:xfrm>
            <a:off x="6263640" y="5577840"/>
            <a:ext cx="5376672" cy="0"/>
          </a:xfrm>
          <a:prstGeom prst="line">
            <a:avLst/>
          </a:prstGeom>
          <a:noFill/>
          <a:ln w="12700">
            <a:solidFill>
              <a:srgbClr val="E0E0E0"/>
            </a:solidFill>
            <a:prstDash val="solid"/>
          </a:ln>
        </p:spPr>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AI tool</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Use the tool your company gives you</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Copilot</a:t>
            </a:r>
            <a:endParaRPr lang="en-US" sz="2000" dirty="0"/>
          </a:p>
        </p:txBody>
      </p:sp>
      <p:sp>
        <p:nvSpPr>
          <p:cNvPr id="7" name="Text 3"/>
          <p:cNvSpPr txBox="1"/>
          <p:nvPr/>
        </p:nvSpPr>
        <p:spPr>
          <a:xfrm>
            <a:off x="548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Copilot Chat (Basic) or M365 Copilot (Premium). Check the green shield</a:t>
            </a:r>
            <a:endParaRPr lang="en-US" sz="1600" dirty="0"/>
          </a:p>
        </p:txBody>
      </p:sp>
      <p:pic>
        <p:nvPicPr>
          <p:cNvPr id="8" name="Image 1" descr="preencoded.png">    </p:cNvPr>
          <p:cNvPicPr>
            <a:picLocks noChangeAspect="1"/>
          </p:cNvPicPr>
          <p:nvPr/>
        </p:nvPicPr>
        <p:blipFill>
          <a:blip r:embed="rId2"/>
          <a:stretch>
            <a:fillRect/>
          </a:stretch>
        </p:blipFill>
        <p:spPr>
          <a:xfrm>
            <a:off x="3406140" y="2011680"/>
            <a:ext cx="502920" cy="502920"/>
          </a:xfrm>
          <a:prstGeom prst="rect">
            <a:avLst/>
          </a:prstGeom>
        </p:spPr>
      </p:pic>
      <p:sp>
        <p:nvSpPr>
          <p:cNvPr id="9" name="Text 4"/>
          <p:cNvSpPr txBox="1"/>
          <p:nvPr/>
        </p:nvSpPr>
        <p:spPr>
          <a:xfrm>
            <a:off x="3406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ChatGPT</a:t>
            </a:r>
            <a:endParaRPr lang="en-US" sz="2000" dirty="0"/>
          </a:p>
        </p:txBody>
      </p:sp>
      <p:sp>
        <p:nvSpPr>
          <p:cNvPr id="10" name="Text 5"/>
          <p:cNvSpPr txBox="1"/>
          <p:nvPr/>
        </p:nvSpPr>
        <p:spPr>
          <a:xfrm>
            <a:off x="3406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Free, Plus or Business. The Checker lives in a Project</a:t>
            </a:r>
            <a:endParaRPr lang="en-US" sz="1600" dirty="0"/>
          </a:p>
        </p:txBody>
      </p:sp>
      <p:pic>
        <p:nvPicPr>
          <p:cNvPr id="11" name="Image 2" descr="preencoded.png">    </p:cNvPr>
          <p:cNvPicPr>
            <a:picLocks noChangeAspect="1"/>
          </p:cNvPicPr>
          <p:nvPr/>
        </p:nvPicPr>
        <p:blipFill>
          <a:blip r:embed="rId3"/>
          <a:stretch>
            <a:fillRect/>
          </a:stretch>
        </p:blipFill>
        <p:spPr>
          <a:xfrm>
            <a:off x="6263640" y="2011680"/>
            <a:ext cx="502920" cy="502920"/>
          </a:xfrm>
          <a:prstGeom prst="rect">
            <a:avLst/>
          </a:prstGeom>
        </p:spPr>
      </p:pic>
      <p:sp>
        <p:nvSpPr>
          <p:cNvPr id="12" name="Text 6"/>
          <p:cNvSpPr txBox="1"/>
          <p:nvPr/>
        </p:nvSpPr>
        <p:spPr>
          <a:xfrm>
            <a:off x="6263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Claude</a:t>
            </a:r>
            <a:endParaRPr lang="en-US" sz="2000" dirty="0"/>
          </a:p>
        </p:txBody>
      </p:sp>
      <p:sp>
        <p:nvSpPr>
          <p:cNvPr id="13" name="Text 7"/>
          <p:cNvSpPr txBox="1"/>
          <p:nvPr/>
        </p:nvSpPr>
        <p:spPr>
          <a:xfrm>
            <a:off x="6263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Free, Pro or Team. The Checker lives in a Project</a:t>
            </a:r>
            <a:endParaRPr lang="en-US" sz="1600" dirty="0"/>
          </a:p>
        </p:txBody>
      </p:sp>
      <p:pic>
        <p:nvPicPr>
          <p:cNvPr id="14" name="Image 3" descr="preencoded.png">    </p:cNvPr>
          <p:cNvPicPr>
            <a:picLocks noChangeAspect="1"/>
          </p:cNvPicPr>
          <p:nvPr/>
        </p:nvPicPr>
        <p:blipFill>
          <a:blip r:embed="rId4"/>
          <a:stretch>
            <a:fillRect/>
          </a:stretch>
        </p:blipFill>
        <p:spPr>
          <a:xfrm>
            <a:off x="9121140" y="2011680"/>
            <a:ext cx="502920" cy="502920"/>
          </a:xfrm>
          <a:prstGeom prst="rect">
            <a:avLst/>
          </a:prstGeom>
        </p:spPr>
      </p:pic>
      <p:sp>
        <p:nvSpPr>
          <p:cNvPr id="15" name="Text 8"/>
          <p:cNvSpPr txBox="1"/>
          <p:nvPr/>
        </p:nvSpPr>
        <p:spPr>
          <a:xfrm>
            <a:off x="9121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Gemini</a:t>
            </a:r>
            <a:endParaRPr lang="en-US" sz="2000" dirty="0"/>
          </a:p>
        </p:txBody>
      </p:sp>
      <p:sp>
        <p:nvSpPr>
          <p:cNvPr id="16" name="Text 9"/>
          <p:cNvSpPr txBox="1"/>
          <p:nvPr/>
        </p:nvSpPr>
        <p:spPr>
          <a:xfrm>
            <a:off x="9121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Personal or Workspace. A skill or a Gem, plus Gemini Notebook</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Course site</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Everything is on one site</a:t>
            </a:r>
            <a:endParaRPr lang="en-US" sz="3200" dirty="0"/>
          </a:p>
        </p:txBody>
      </p:sp>
      <p:sp>
        <p:nvSpPr>
          <p:cNvPr id="5" name="Text 2"/>
          <p:cNvSpPr txBox="1"/>
          <p:nvPr/>
        </p:nvSpPr>
        <p:spPr>
          <a:xfrm>
            <a:off x="548640" y="1737360"/>
            <a:ext cx="11064240" cy="640080"/>
          </a:xfrm>
          <a:prstGeom prst="rect">
            <a:avLst/>
          </a:prstGeom>
          <a:noFill/>
          <a:ln/>
        </p:spPr>
        <p:txBody>
          <a:bodyPr wrap="square" lIns="0" tIns="0" rIns="0" bIns="0" rtlCol="0" anchor="t"/>
          <a:lstStyle/>
          <a:p>
            <a:pPr indent="0" marL="0">
              <a:buNone/>
            </a:pPr>
            <a:r>
              <a:rPr lang="en-US" sz="2600" dirty="0">
                <a:solidFill>
                  <a:schemeClr val="accent1"/>
                </a:solidFill>
                <a:latin typeface="Segoe UI Semibold" pitchFamily="34" charset="0"/>
                <a:ea typeface="Segoe UI Semibold" pitchFamily="34" charset="-122"/>
                <a:cs typeface="Segoe UI Semibold" pitchFamily="34" charset="-120"/>
              </a:rPr>
              <a:t>asraf-js.github.io/AI-for-Workplace-Advanced</a:t>
            </a:r>
            <a:endParaRPr lang="en-US" sz="2600" dirty="0"/>
          </a:p>
        </p:txBody>
      </p:sp>
      <p:pic>
        <p:nvPicPr>
          <p:cNvPr id="6" name="Image 0" descr="preencoded.png">    </p:cNvPr>
          <p:cNvPicPr>
            <a:picLocks noChangeAspect="1"/>
          </p:cNvPicPr>
          <p:nvPr/>
        </p:nvPicPr>
        <p:blipFill>
          <a:blip r:embed="rId1"/>
          <a:stretch>
            <a:fillRect/>
          </a:stretch>
        </p:blipFill>
        <p:spPr>
          <a:xfrm>
            <a:off x="548640" y="2834640"/>
            <a:ext cx="502920" cy="502920"/>
          </a:xfrm>
          <a:prstGeom prst="rect">
            <a:avLst/>
          </a:prstGeom>
        </p:spPr>
      </p:pic>
      <p:sp>
        <p:nvSpPr>
          <p:cNvPr id="7" name="Text 3"/>
          <p:cNvSpPr txBox="1"/>
          <p:nvPr/>
        </p:nvSpPr>
        <p:spPr>
          <a:xfrm>
            <a:off x="548640" y="356616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Notes</a:t>
            </a:r>
            <a:endParaRPr lang="en-US" sz="2000" dirty="0"/>
          </a:p>
        </p:txBody>
      </p:sp>
      <p:sp>
        <p:nvSpPr>
          <p:cNvPr id="8" name="Text 4"/>
          <p:cNvSpPr txBox="1"/>
          <p:nvPr/>
        </p:nvSpPr>
        <p:spPr>
          <a:xfrm>
            <a:off x="548640" y="4389120"/>
            <a:ext cx="2400300" cy="1463040"/>
          </a:xfrm>
          <a:prstGeom prst="rect">
            <a:avLst/>
          </a:prstGeom>
          <a:noFill/>
          <a:ln/>
        </p:spPr>
        <p:txBody>
          <a:bodyPr wrap="square" lIns="0" tIns="0" rIns="0" bIns="0" rtlCol="0" anchor="t"/>
          <a:lstStyle/>
          <a:p>
            <a:pPr indent="0" marL="0">
              <a:buNone/>
            </a:pPr>
            <a:r>
              <a:rPr lang="en-US" sz="1600" dirty="0">
                <a:solidFill>
                  <a:schemeClr val="tx1"/>
                </a:solidFill>
              </a:rPr>
              <a:t>Steps for every module, with a What should you see? box to check your work</a:t>
            </a:r>
            <a:endParaRPr lang="en-US" sz="1600" dirty="0"/>
          </a:p>
        </p:txBody>
      </p:sp>
      <p:pic>
        <p:nvPicPr>
          <p:cNvPr id="9" name="Image 1" descr="preencoded.png">    </p:cNvPr>
          <p:cNvPicPr>
            <a:picLocks noChangeAspect="1"/>
          </p:cNvPicPr>
          <p:nvPr/>
        </p:nvPicPr>
        <p:blipFill>
          <a:blip r:embed="rId2"/>
          <a:stretch>
            <a:fillRect/>
          </a:stretch>
        </p:blipFill>
        <p:spPr>
          <a:xfrm>
            <a:off x="3406140" y="2834640"/>
            <a:ext cx="502920" cy="502920"/>
          </a:xfrm>
          <a:prstGeom prst="rect">
            <a:avLst/>
          </a:prstGeom>
        </p:spPr>
      </p:pic>
      <p:sp>
        <p:nvSpPr>
          <p:cNvPr id="10" name="Text 5"/>
          <p:cNvSpPr txBox="1"/>
          <p:nvPr/>
        </p:nvSpPr>
        <p:spPr>
          <a:xfrm>
            <a:off x="3406140" y="356616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Prompts</a:t>
            </a:r>
            <a:endParaRPr lang="en-US" sz="2000" dirty="0"/>
          </a:p>
        </p:txBody>
      </p:sp>
      <p:sp>
        <p:nvSpPr>
          <p:cNvPr id="11" name="Text 6"/>
          <p:cNvSpPr txBox="1"/>
          <p:nvPr/>
        </p:nvSpPr>
        <p:spPr>
          <a:xfrm>
            <a:off x="3406140" y="4389120"/>
            <a:ext cx="2400300" cy="1463040"/>
          </a:xfrm>
          <a:prstGeom prst="rect">
            <a:avLst/>
          </a:prstGeom>
          <a:noFill/>
          <a:ln/>
        </p:spPr>
        <p:txBody>
          <a:bodyPr wrap="square" lIns="0" tIns="0" rIns="0" bIns="0" rtlCol="0" anchor="t"/>
          <a:lstStyle/>
          <a:p>
            <a:pPr indent="0" marL="0">
              <a:buNone/>
            </a:pPr>
            <a:r>
              <a:rPr lang="en-US" sz="1600" dirty="0">
                <a:solidFill>
                  <a:schemeClr val="tx1"/>
                </a:solidFill>
              </a:rPr>
              <a:t>Every prompt you type, with a copy button on each box</a:t>
            </a:r>
            <a:endParaRPr lang="en-US" sz="1600" dirty="0"/>
          </a:p>
        </p:txBody>
      </p:sp>
      <p:pic>
        <p:nvPicPr>
          <p:cNvPr id="12" name="Image 2" descr="preencoded.png">    </p:cNvPr>
          <p:cNvPicPr>
            <a:picLocks noChangeAspect="1"/>
          </p:cNvPicPr>
          <p:nvPr/>
        </p:nvPicPr>
        <p:blipFill>
          <a:blip r:embed="rId3"/>
          <a:stretch>
            <a:fillRect/>
          </a:stretch>
        </p:blipFill>
        <p:spPr>
          <a:xfrm>
            <a:off x="6263640" y="2834640"/>
            <a:ext cx="502920" cy="502920"/>
          </a:xfrm>
          <a:prstGeom prst="rect">
            <a:avLst/>
          </a:prstGeom>
        </p:spPr>
      </p:pic>
      <p:sp>
        <p:nvSpPr>
          <p:cNvPr id="13" name="Text 7"/>
          <p:cNvSpPr txBox="1"/>
          <p:nvPr/>
        </p:nvSpPr>
        <p:spPr>
          <a:xfrm>
            <a:off x="6263640" y="356616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Product cards</a:t>
            </a:r>
            <a:endParaRPr lang="en-US" sz="2000" dirty="0"/>
          </a:p>
        </p:txBody>
      </p:sp>
      <p:sp>
        <p:nvSpPr>
          <p:cNvPr id="14" name="Text 8"/>
          <p:cNvSpPr txBox="1"/>
          <p:nvPr/>
        </p:nvSpPr>
        <p:spPr>
          <a:xfrm>
            <a:off x="6263640" y="4389120"/>
            <a:ext cx="2400300" cy="1463040"/>
          </a:xfrm>
          <a:prstGeom prst="rect">
            <a:avLst/>
          </a:prstGeom>
          <a:noFill/>
          <a:ln/>
        </p:spPr>
        <p:txBody>
          <a:bodyPr wrap="square" lIns="0" tIns="0" rIns="0" bIns="0" rtlCol="0" anchor="t"/>
          <a:lstStyle/>
          <a:p>
            <a:pPr indent="0" marL="0">
              <a:buNone/>
            </a:pPr>
            <a:r>
              <a:rPr lang="en-US" sz="1600" dirty="0">
                <a:solidFill>
                  <a:schemeClr val="tx1"/>
                </a:solidFill>
              </a:rPr>
              <a:t>How to do each lab in Copilot, ChatGPT, Claude or Gemini</a:t>
            </a:r>
            <a:endParaRPr lang="en-US" sz="1600" dirty="0"/>
          </a:p>
        </p:txBody>
      </p:sp>
      <p:pic>
        <p:nvPicPr>
          <p:cNvPr id="15" name="Image 3" descr="preencoded.png">    </p:cNvPr>
          <p:cNvPicPr>
            <a:picLocks noChangeAspect="1"/>
          </p:cNvPicPr>
          <p:nvPr/>
        </p:nvPicPr>
        <p:blipFill>
          <a:blip r:embed="rId4"/>
          <a:stretch>
            <a:fillRect/>
          </a:stretch>
        </p:blipFill>
        <p:spPr>
          <a:xfrm>
            <a:off x="9121140" y="2834640"/>
            <a:ext cx="502920" cy="502920"/>
          </a:xfrm>
          <a:prstGeom prst="rect">
            <a:avLst/>
          </a:prstGeom>
        </p:spPr>
      </p:pic>
      <p:sp>
        <p:nvSpPr>
          <p:cNvPr id="16" name="Text 9"/>
          <p:cNvSpPr txBox="1"/>
          <p:nvPr/>
        </p:nvSpPr>
        <p:spPr>
          <a:xfrm>
            <a:off x="9121140" y="356616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Sample files</a:t>
            </a:r>
            <a:endParaRPr lang="en-US" sz="2000" dirty="0"/>
          </a:p>
        </p:txBody>
      </p:sp>
      <p:sp>
        <p:nvSpPr>
          <p:cNvPr id="17" name="Text 10"/>
          <p:cNvSpPr txBox="1"/>
          <p:nvPr/>
        </p:nvSpPr>
        <p:spPr>
          <a:xfrm>
            <a:off x="9121140" y="4389120"/>
            <a:ext cx="2400300" cy="1463040"/>
          </a:xfrm>
          <a:prstGeom prst="rect">
            <a:avLst/>
          </a:prstGeom>
          <a:noFill/>
          <a:ln/>
        </p:spPr>
        <p:txBody>
          <a:bodyPr wrap="square" lIns="0" tIns="0" rIns="0" bIns="0" rtlCol="0" anchor="t"/>
          <a:lstStyle/>
          <a:p>
            <a:pPr indent="0" marL="0">
              <a:buNone/>
            </a:pPr>
            <a:r>
              <a:rPr lang="en-US" sz="1600" dirty="0">
                <a:solidFill>
                  <a:schemeClr val="tx1"/>
                </a:solidFill>
              </a:rPr>
              <a:t>Fictional quotations, policy, data and templates, one ZIP per module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Ground rules</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Four rules for both days</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Fictional files only</a:t>
            </a:r>
            <a:endParaRPr lang="en-US" sz="2000" dirty="0"/>
          </a:p>
        </p:txBody>
      </p:sp>
      <p:sp>
        <p:nvSpPr>
          <p:cNvPr id="7" name="Text 3"/>
          <p:cNvSpPr txBox="1"/>
          <p:nvPr/>
        </p:nvSpPr>
        <p:spPr>
          <a:xfrm>
            <a:off x="548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Use the sample files. Never upload real company or personal data to practise.</a:t>
            </a:r>
            <a:endParaRPr lang="en-US" sz="1600" dirty="0"/>
          </a:p>
        </p:txBody>
      </p:sp>
      <p:pic>
        <p:nvPicPr>
          <p:cNvPr id="8" name="Image 1" descr="preencoded.png">    </p:cNvPr>
          <p:cNvPicPr>
            <a:picLocks noChangeAspect="1"/>
          </p:cNvPicPr>
          <p:nvPr/>
        </p:nvPicPr>
        <p:blipFill>
          <a:blip r:embed="rId2"/>
          <a:stretch>
            <a:fillRect/>
          </a:stretch>
        </p:blipFill>
        <p:spPr>
          <a:xfrm>
            <a:off x="3406140" y="2011680"/>
            <a:ext cx="502920" cy="502920"/>
          </a:xfrm>
          <a:prstGeom prst="rect">
            <a:avLst/>
          </a:prstGeom>
        </p:spPr>
      </p:pic>
      <p:sp>
        <p:nvSpPr>
          <p:cNvPr id="9" name="Text 4"/>
          <p:cNvSpPr txBox="1"/>
          <p:nvPr/>
        </p:nvSpPr>
        <p:spPr>
          <a:xfrm>
            <a:off x="3406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 your data setting</a:t>
            </a:r>
            <a:endParaRPr lang="en-US" sz="2000" dirty="0"/>
          </a:p>
        </p:txBody>
      </p:sp>
      <p:sp>
        <p:nvSpPr>
          <p:cNvPr id="10" name="Text 5"/>
          <p:cNvSpPr txBox="1"/>
          <p:nvPr/>
        </p:nvSpPr>
        <p:spPr>
          <a:xfrm>
            <a:off x="3406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Personal plans can train on your chats. The product cards show how to turn it off.</a:t>
            </a:r>
            <a:endParaRPr lang="en-US" sz="1600" dirty="0"/>
          </a:p>
        </p:txBody>
      </p:sp>
      <p:pic>
        <p:nvPicPr>
          <p:cNvPr id="11" name="Image 2" descr="preencoded.png">    </p:cNvPr>
          <p:cNvPicPr>
            <a:picLocks noChangeAspect="1"/>
          </p:cNvPicPr>
          <p:nvPr/>
        </p:nvPicPr>
        <p:blipFill>
          <a:blip r:embed="rId3"/>
          <a:stretch>
            <a:fillRect/>
          </a:stretch>
        </p:blipFill>
        <p:spPr>
          <a:xfrm>
            <a:off x="6263640" y="2011680"/>
            <a:ext cx="502920" cy="502920"/>
          </a:xfrm>
          <a:prstGeom prst="rect">
            <a:avLst/>
          </a:prstGeom>
        </p:spPr>
      </p:pic>
      <p:sp>
        <p:nvSpPr>
          <p:cNvPr id="12" name="Text 6"/>
          <p:cNvSpPr txBox="1"/>
          <p:nvPr/>
        </p:nvSpPr>
        <p:spPr>
          <a:xfrm>
            <a:off x="6263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Email only yourself</a:t>
            </a:r>
            <a:endParaRPr lang="en-US" sz="2000" dirty="0"/>
          </a:p>
        </p:txBody>
      </p:sp>
      <p:sp>
        <p:nvSpPr>
          <p:cNvPr id="13" name="Text 7"/>
          <p:cNvSpPr txBox="1"/>
          <p:nvPr/>
        </p:nvSpPr>
        <p:spPr>
          <a:xfrm>
            <a:off x="6263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Every training subject starts with [AIW TRAINING].</a:t>
            </a:r>
            <a:endParaRPr lang="en-US" sz="1600" dirty="0"/>
          </a:p>
        </p:txBody>
      </p:sp>
      <p:pic>
        <p:nvPicPr>
          <p:cNvPr id="14" name="Image 3" descr="preencoded.png">    </p:cNvPr>
          <p:cNvPicPr>
            <a:picLocks noChangeAspect="1"/>
          </p:cNvPicPr>
          <p:nvPr/>
        </p:nvPicPr>
        <p:blipFill>
          <a:blip r:embed="rId4"/>
          <a:stretch>
            <a:fillRect/>
          </a:stretch>
        </p:blipFill>
        <p:spPr>
          <a:xfrm>
            <a:off x="9121140" y="2011680"/>
            <a:ext cx="502920" cy="502920"/>
          </a:xfrm>
          <a:prstGeom prst="rect">
            <a:avLst/>
          </a:prstGeom>
        </p:spPr>
      </p:pic>
      <p:sp>
        <p:nvSpPr>
          <p:cNvPr id="15" name="Text 8"/>
          <p:cNvSpPr txBox="1"/>
          <p:nvPr/>
        </p:nvSpPr>
        <p:spPr>
          <a:xfrm>
            <a:off x="9121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 don't trust</a:t>
            </a:r>
            <a:endParaRPr lang="en-US" sz="2000" dirty="0"/>
          </a:p>
        </p:txBody>
      </p:sp>
      <p:sp>
        <p:nvSpPr>
          <p:cNvPr id="16" name="Text 9"/>
          <p:cNvSpPr txBox="1"/>
          <p:nvPr/>
        </p:nvSpPr>
        <p:spPr>
          <a:xfrm>
            <a:off x="9121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Every lab has a check you do yourself. That's the point.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01</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How Large Language Models Really Behave</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Understand  |  40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two analyses of the same quotation, from a fast model and a reasoning model, and a note on how they differ.</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01</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It predicts text. It doesn't look things up.</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Prediction</a:t>
            </a:r>
            <a:endParaRPr lang="en-US" sz="2000" dirty="0"/>
          </a:p>
        </p:txBody>
      </p:sp>
      <p:sp>
        <p:nvSpPr>
          <p:cNvPr id="7" name="Text 3"/>
          <p:cNvSpPr txBox="1"/>
          <p:nvPr/>
        </p:nvSpPr>
        <p:spPr>
          <a:xfrm>
            <a:off x="548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It writes one small piece of text at a time, picking a likely next piece</a:t>
            </a:r>
            <a:endParaRPr lang="en-US" sz="1600" dirty="0"/>
          </a:p>
        </p:txBody>
      </p:sp>
      <p:pic>
        <p:nvPicPr>
          <p:cNvPr id="8" name="Image 1" descr="preencoded.png">    </p:cNvPr>
          <p:cNvPicPr>
            <a:picLocks noChangeAspect="1"/>
          </p:cNvPicPr>
          <p:nvPr/>
        </p:nvPicPr>
        <p:blipFill>
          <a:blip r:embed="rId2"/>
          <a:stretch>
            <a:fillRect/>
          </a:stretch>
        </p:blipFill>
        <p:spPr>
          <a:xfrm>
            <a:off x="3406140" y="2011680"/>
            <a:ext cx="502920" cy="502920"/>
          </a:xfrm>
          <a:prstGeom prst="rect">
            <a:avLst/>
          </a:prstGeom>
        </p:spPr>
      </p:pic>
      <p:sp>
        <p:nvSpPr>
          <p:cNvPr id="9" name="Text 4"/>
          <p:cNvSpPr txBox="1"/>
          <p:nvPr/>
        </p:nvSpPr>
        <p:spPr>
          <a:xfrm>
            <a:off x="3406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Answers vary</a:t>
            </a:r>
            <a:endParaRPr lang="en-US" sz="2000" dirty="0"/>
          </a:p>
        </p:txBody>
      </p:sp>
      <p:sp>
        <p:nvSpPr>
          <p:cNvPr id="10" name="Text 5"/>
          <p:cNvSpPr txBox="1"/>
          <p:nvPr/>
        </p:nvSpPr>
        <p:spPr>
          <a:xfrm>
            <a:off x="3406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The same prompt can give a different answer each time</a:t>
            </a:r>
            <a:endParaRPr lang="en-US" sz="1600" dirty="0"/>
          </a:p>
        </p:txBody>
      </p:sp>
      <p:pic>
        <p:nvPicPr>
          <p:cNvPr id="11" name="Image 2" descr="preencoded.png">    </p:cNvPr>
          <p:cNvPicPr>
            <a:picLocks noChangeAspect="1"/>
          </p:cNvPicPr>
          <p:nvPr/>
        </p:nvPicPr>
        <p:blipFill>
          <a:blip r:embed="rId3"/>
          <a:stretch>
            <a:fillRect/>
          </a:stretch>
        </p:blipFill>
        <p:spPr>
          <a:xfrm>
            <a:off x="6263640" y="2011680"/>
            <a:ext cx="502920" cy="502920"/>
          </a:xfrm>
          <a:prstGeom prst="rect">
            <a:avLst/>
          </a:prstGeom>
        </p:spPr>
      </p:pic>
      <p:sp>
        <p:nvSpPr>
          <p:cNvPr id="12" name="Text 6"/>
          <p:cNvSpPr txBox="1"/>
          <p:nvPr/>
        </p:nvSpPr>
        <p:spPr>
          <a:xfrm>
            <a:off x="6263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Fast or reasoning</a:t>
            </a:r>
            <a:endParaRPr lang="en-US" sz="2000" dirty="0"/>
          </a:p>
        </p:txBody>
      </p:sp>
      <p:sp>
        <p:nvSpPr>
          <p:cNvPr id="13" name="Text 7"/>
          <p:cNvSpPr txBox="1"/>
          <p:nvPr/>
        </p:nvSpPr>
        <p:spPr>
          <a:xfrm>
            <a:off x="6263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Reasoning models work in steps first: slower, but they catch more</a:t>
            </a:r>
            <a:endParaRPr lang="en-US" sz="1600" dirty="0"/>
          </a:p>
        </p:txBody>
      </p:sp>
      <p:pic>
        <p:nvPicPr>
          <p:cNvPr id="14" name="Image 3" descr="preencoded.png">    </p:cNvPr>
          <p:cNvPicPr>
            <a:picLocks noChangeAspect="1"/>
          </p:cNvPicPr>
          <p:nvPr/>
        </p:nvPicPr>
        <p:blipFill>
          <a:blip r:embed="rId4"/>
          <a:stretch>
            <a:fillRect/>
          </a:stretch>
        </p:blipFill>
        <p:spPr>
          <a:xfrm>
            <a:off x="9121140" y="2011680"/>
            <a:ext cx="502920" cy="502920"/>
          </a:xfrm>
          <a:prstGeom prst="rect">
            <a:avLst/>
          </a:prstGeom>
        </p:spPr>
      </p:pic>
      <p:sp>
        <p:nvSpPr>
          <p:cNvPr id="15" name="Text 8"/>
          <p:cNvSpPr txBox="1"/>
          <p:nvPr/>
        </p:nvSpPr>
        <p:spPr>
          <a:xfrm>
            <a:off x="9121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What to check</a:t>
            </a:r>
            <a:endParaRPr lang="en-US" sz="2000" dirty="0"/>
          </a:p>
        </p:txBody>
      </p:sp>
      <p:sp>
        <p:nvSpPr>
          <p:cNvPr id="16" name="Text 9"/>
          <p:cNvSpPr txBox="1"/>
          <p:nvPr/>
        </p:nvSpPr>
        <p:spPr>
          <a:xfrm>
            <a:off x="9121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Arithmetic, dates, and details that aren't in the source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01</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One quotation, two kinds of model</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Ask the same question twice</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Check the quotation with a fast model</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Check it again with a reasoning model</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Discuss what each one noticed</a:t>
            </a:r>
            <a:endParaRPr lang="en-US" sz="1600" dirty="0"/>
          </a:p>
        </p:txBody>
      </p:sp>
      <p:sp>
        <p:nvSpPr>
          <p:cNvPr id="13"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4"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5" name="Text 11"/>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6" name="Text 12"/>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You've written down the grand total each model gave, and checked one line yourself with a calculator.</a:t>
            </a:r>
            <a:endParaRPr lang="en-US" sz="1600" dirty="0"/>
          </a:p>
        </p:txBody>
      </p:sp>
      <p:sp>
        <p:nvSpPr>
          <p:cNvPr id="17" name="Divider line"/>
          <p:cNvSpPr/>
          <p:nvPr/>
        </p:nvSpPr>
        <p:spPr>
          <a:xfrm>
            <a:off x="7909560" y="4983480"/>
            <a:ext cx="3429000" cy="0"/>
          </a:xfrm>
          <a:prstGeom prst="line">
            <a:avLst/>
          </a:prstGeom>
          <a:noFill/>
          <a:ln w="12700">
            <a:solidFill>
              <a:srgbClr val="E0E0E0"/>
            </a:solidFill>
            <a:prstDash val="solid"/>
          </a:ln>
        </p:spPr>
      </p:sp>
      <p:sp>
        <p:nvSpPr>
          <p:cNvPr id="18" name="Text 14"/>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01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02</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3000" dirty="0">
                <a:solidFill>
                  <a:schemeClr val="bg1"/>
                </a:solidFill>
              </a:rPr>
              <a:t>Context Engineering and Structured Output</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Instruct  |  50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requirements checklist, a blank comparison table and a JSON version, all from the chair RFQ.</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02</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GCSE, one level up</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011680"/>
                <a:gridCol w="4206240"/>
                <a:gridCol w="4846320"/>
              </a:tblGrid>
              <a:tr h="530352">
                <a:tc>
                  <a:txBody>
                    <a:bodyPr/>
                    <a:lstStyle/>
                    <a:p>
                      <a:pPr indent="0" marL="0">
                        <a:buNone/>
                      </a:pP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What it means</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At this level, add</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r>
              <a:tr h="530352">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Goal</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What you want done</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One job per prompt</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Context</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Who it's for and why</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Your role and the audience</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Source</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What to use</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"Use only the attached RFQ"</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Expectations</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Format, length, tone</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The exact columns or JSON fields</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02</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Chain short prompts. Ask for the format you need.</a:t>
            </a:r>
            <a:endParaRPr lang="en-US" sz="3200" dirty="0"/>
          </a:p>
        </p:txBody>
      </p:sp>
      <p:sp>
        <p:nvSpPr>
          <p:cNvPr id="5" name="A prompt chain"/>
          <p:cNvSpPr/>
          <p:nvPr/>
        </p:nvSpPr>
        <p:spPr>
          <a:xfrm>
            <a:off x="548640" y="1783080"/>
            <a:ext cx="5440680" cy="4160520"/>
          </a:xfrm>
          <a:prstGeom prst="roundRect">
            <a:avLst>
              <a:gd name="adj" fmla="val 2198"/>
            </a:avLst>
          </a:prstGeom>
          <a:solidFill>
            <a:schemeClr val="bg1"/>
          </a:solidFill>
          <a:ln/>
          <a:effectLst>
            <a:outerShdw sx="100000" sy="100000" kx="0" ky="0" algn="bl" rotWithShape="0" blurRad="177800" dist="38100" dir="5400000">
              <a:srgbClr val="1B2A4A">
                <a:alpha val="12000"/>
              </a:srgbClr>
            </a:outerShdw>
          </a:effectLst>
        </p:spPr>
      </p:sp>
      <p:pic>
        <p:nvPicPr>
          <p:cNvPr id="6" name="Image 0" descr="preencoded.png">    </p:cNvPr>
          <p:cNvPicPr>
            <a:picLocks noChangeAspect="1"/>
          </p:cNvPicPr>
          <p:nvPr/>
        </p:nvPicPr>
        <p:blipFill>
          <a:blip r:embed="rId1"/>
          <a:stretch>
            <a:fillRect/>
          </a:stretch>
        </p:blipFill>
        <p:spPr>
          <a:xfrm>
            <a:off x="914400" y="2103120"/>
            <a:ext cx="502920" cy="502920"/>
          </a:xfrm>
          <a:prstGeom prst="rect">
            <a:avLst/>
          </a:prstGeom>
        </p:spPr>
      </p:pic>
      <p:sp>
        <p:nvSpPr>
          <p:cNvPr id="7" name="Text 3"/>
          <p:cNvSpPr txBox="1"/>
          <p:nvPr/>
        </p:nvSpPr>
        <p:spPr>
          <a:xfrm>
            <a:off x="914400" y="2743200"/>
            <a:ext cx="475488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A prompt chain</a:t>
            </a:r>
            <a:endParaRPr lang="en-US" sz="2200" dirty="0"/>
          </a:p>
        </p:txBody>
      </p:sp>
      <p:sp>
        <p:nvSpPr>
          <p:cNvPr id="8" name="Text 4"/>
          <p:cNvSpPr txBox="1"/>
          <p:nvPr/>
        </p:nvSpPr>
        <p:spPr>
          <a:xfrm>
            <a:off x="914400" y="3337560"/>
            <a:ext cx="4754880" cy="24688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Step 1: extract the requirements</a:t>
            </a:r>
            <a:endParaRPr lang="en-US" sz="1600" dirty="0"/>
          </a:p>
          <a:p>
            <a:pPr marL="342900" indent="-342900">
              <a:spcAft>
                <a:spcPts val="600"/>
              </a:spcAft>
              <a:buSzPct val="100000"/>
              <a:buChar char="•"/>
            </a:pPr>
            <a:r>
              <a:rPr lang="en-US" sz="1600" dirty="0">
                <a:solidFill>
                  <a:schemeClr val="tx1"/>
                </a:solidFill>
              </a:rPr>
              <a:t>Step 2: turn them into a comparison table</a:t>
            </a:r>
            <a:endParaRPr lang="en-US" sz="1600" dirty="0"/>
          </a:p>
          <a:p>
            <a:pPr marL="342900" indent="-342900">
              <a:spcAft>
                <a:spcPts val="600"/>
              </a:spcAft>
              <a:buSzPct val="100000"/>
              <a:buChar char="•"/>
            </a:pPr>
            <a:r>
              <a:rPr lang="en-US" sz="1600" dirty="0">
                <a:solidFill>
                  <a:schemeClr val="tx1"/>
                </a:solidFill>
              </a:rPr>
              <a:t>Step 3: give them as JSON</a:t>
            </a:r>
            <a:endParaRPr lang="en-US" sz="1600" dirty="0"/>
          </a:p>
          <a:p>
            <a:pPr marL="342900" indent="-342900">
              <a:spcAft>
                <a:spcPts val="600"/>
              </a:spcAft>
              <a:buSzPct val="100000"/>
              <a:buChar char="•"/>
            </a:pPr>
            <a:r>
              <a:rPr lang="en-US" sz="1600" dirty="0">
                <a:solidFill>
                  <a:schemeClr val="tx1"/>
                </a:solidFill>
              </a:rPr>
              <a:t>Check each result before the next step</a:t>
            </a:r>
            <a:endParaRPr lang="en-US" sz="1600" dirty="0"/>
          </a:p>
        </p:txBody>
      </p:sp>
      <p:sp>
        <p:nvSpPr>
          <p:cNvPr id="9" name="Structured output"/>
          <p:cNvSpPr/>
          <p:nvPr/>
        </p:nvSpPr>
        <p:spPr>
          <a:xfrm>
            <a:off x="6172200" y="1783080"/>
            <a:ext cx="5440680" cy="4160520"/>
          </a:xfrm>
          <a:prstGeom prst="roundRect">
            <a:avLst>
              <a:gd name="adj" fmla="val 2198"/>
            </a:avLst>
          </a:prstGeom>
          <a:solidFill>
            <a:schemeClr val="bg1"/>
          </a:solidFill>
          <a:ln/>
          <a:effectLst>
            <a:outerShdw sx="100000" sy="100000" kx="0" ky="0" algn="bl" rotWithShape="0" blurRad="177800" dist="38100" dir="5400000">
              <a:srgbClr val="1B2A4A">
                <a:alpha val="12000"/>
              </a:srgbClr>
            </a:outerShdw>
          </a:effectLst>
        </p:spPr>
      </p:sp>
      <p:pic>
        <p:nvPicPr>
          <p:cNvPr id="10" name="Image 1" descr="preencoded.png">    </p:cNvPr>
          <p:cNvPicPr>
            <a:picLocks noChangeAspect="1"/>
          </p:cNvPicPr>
          <p:nvPr/>
        </p:nvPicPr>
        <p:blipFill>
          <a:blip r:embed="rId2"/>
          <a:stretch>
            <a:fillRect/>
          </a:stretch>
        </p:blipFill>
        <p:spPr>
          <a:xfrm>
            <a:off x="6537960" y="2103120"/>
            <a:ext cx="502920" cy="502920"/>
          </a:xfrm>
          <a:prstGeom prst="rect">
            <a:avLst/>
          </a:prstGeom>
        </p:spPr>
      </p:pic>
      <p:sp>
        <p:nvSpPr>
          <p:cNvPr id="11" name="Text 6"/>
          <p:cNvSpPr txBox="1"/>
          <p:nvPr/>
        </p:nvSpPr>
        <p:spPr>
          <a:xfrm>
            <a:off x="6537960" y="2743200"/>
            <a:ext cx="475488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Structured output</a:t>
            </a:r>
            <a:endParaRPr lang="en-US" sz="2200" dirty="0"/>
          </a:p>
        </p:txBody>
      </p:sp>
      <p:sp>
        <p:nvSpPr>
          <p:cNvPr id="12" name="Text 7"/>
          <p:cNvSpPr txBox="1"/>
          <p:nvPr/>
        </p:nvSpPr>
        <p:spPr>
          <a:xfrm>
            <a:off x="6537960" y="3337560"/>
            <a:ext cx="4754880" cy="24688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Markdown tables for people: they paste cleanly into Word and Excel</a:t>
            </a:r>
            <a:endParaRPr lang="en-US" sz="1600" dirty="0"/>
          </a:p>
          <a:p>
            <a:pPr marL="342900" indent="-342900">
              <a:spcAft>
                <a:spcPts val="600"/>
              </a:spcAft>
              <a:buSzPct val="100000"/>
              <a:buChar char="•"/>
            </a:pPr>
            <a:r>
              <a:rPr lang="en-US" sz="1600" dirty="0">
                <a:solidFill>
                  <a:schemeClr val="tx1"/>
                </a:solidFill>
              </a:rPr>
              <a:t>JSON for software: named fields another system can read</a:t>
            </a:r>
            <a:endParaRPr lang="en-US" sz="1600" dirty="0"/>
          </a:p>
          <a:p>
            <a:pPr marL="342900" indent="-342900">
              <a:spcAft>
                <a:spcPts val="600"/>
              </a:spcAft>
              <a:buSzPct val="100000"/>
              <a:buChar char="•"/>
            </a:pPr>
            <a:r>
              <a:rPr lang="en-US" sz="1600" dirty="0">
                <a:solidFill>
                  <a:schemeClr val="tx1"/>
                </a:solidFill>
              </a:rPr>
              <a:t>Ask for exact field names, and "only the JSON"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02</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A three-step chain on the chair RFQ</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2.1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Extract the requirements</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2.2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Turn them into a comparison table</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2.3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Turn them into JSON</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2.4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Compare with one big prompt</a:t>
            </a:r>
            <a:endParaRPr lang="en-US" sz="1600" dirty="0"/>
          </a:p>
        </p:txBody>
      </p:sp>
      <p:sp>
        <p:nvSpPr>
          <p:cNvPr id="13"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4"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5" name="Text 11"/>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6" name="Text 12"/>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Every row of your checklist quotes the RFQ, and the JSON has the field names you asked for.</a:t>
            </a:r>
            <a:endParaRPr lang="en-US" sz="1600" dirty="0"/>
          </a:p>
        </p:txBody>
      </p:sp>
      <p:sp>
        <p:nvSpPr>
          <p:cNvPr id="17" name="Divider line"/>
          <p:cNvSpPr/>
          <p:nvPr/>
        </p:nvSpPr>
        <p:spPr>
          <a:xfrm>
            <a:off x="7909560" y="4983480"/>
            <a:ext cx="3429000" cy="0"/>
          </a:xfrm>
          <a:prstGeom prst="line">
            <a:avLst/>
          </a:prstGeom>
          <a:noFill/>
          <a:ln w="12700">
            <a:solidFill>
              <a:srgbClr val="E0E0E0"/>
            </a:solidFill>
            <a:prstDash val="solid"/>
          </a:ln>
        </p:spPr>
      </p:sp>
      <p:sp>
        <p:nvSpPr>
          <p:cNvPr id="18" name="Text 14"/>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02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03</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Building Custom AI Assistants</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Build  |  70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working Quotation Checker, its report on each chair quotation, and a recommendation you've checked yourself.</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03</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Same idea, four names</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194560"/>
                <a:gridCol w="4389120"/>
                <a:gridCol w="4480560"/>
              </a:tblGrid>
              <a:tr h="530352">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Tool</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What it's called</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Can it keep files?</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r>
              <a:tr h="530352">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Copilot</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Agent (Agent Builder)</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Premium only. On Basic, upload in each chat</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ChatGPT</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Project (personal) or GPT (Business)</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Yes</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Claude</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Project</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Yes</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Gemini</a:t>
                      </a:r>
                      <a:endParaRPr lang="en-US" sz="15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Skill (personal) or Gem (Workspace)</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500" dirty="0">
                          <a:solidFill>
                            <a:schemeClr val="tx1"/>
                          </a:solidFill>
                        </a:rPr>
                        <a:t>Gems yes. Skills: plain text only</a:t>
                      </a:r>
                      <a:endParaRPr lang="en-US" sz="15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03</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Good instructions have five parts</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19202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Role</a:t>
            </a:r>
            <a:endParaRPr lang="en-US" sz="1900" dirty="0"/>
          </a:p>
        </p:txBody>
      </p:sp>
      <p:sp>
        <p:nvSpPr>
          <p:cNvPr id="7" name="Text 3"/>
          <p:cNvSpPr txBox="1"/>
          <p:nvPr/>
        </p:nvSpPr>
        <p:spPr>
          <a:xfrm>
            <a:off x="548640" y="3566160"/>
            <a:ext cx="1828800" cy="1463040"/>
          </a:xfrm>
          <a:prstGeom prst="rect">
            <a:avLst/>
          </a:prstGeom>
          <a:noFill/>
          <a:ln/>
        </p:spPr>
        <p:txBody>
          <a:bodyPr wrap="square" lIns="0" tIns="0" rIns="0" bIns="0" rtlCol="0" anchor="t"/>
          <a:lstStyle/>
          <a:p>
            <a:pPr indent="0" marL="0">
              <a:buNone/>
            </a:pPr>
            <a:r>
              <a:rPr lang="en-US" sz="1600" dirty="0">
                <a:solidFill>
                  <a:schemeClr val="tx1"/>
                </a:solidFill>
              </a:rPr>
              <a:t>Who it is, and who it works for</a:t>
            </a:r>
            <a:endParaRPr lang="en-US" sz="1600" dirty="0"/>
          </a:p>
        </p:txBody>
      </p:sp>
      <p:pic>
        <p:nvPicPr>
          <p:cNvPr id="8" name="Image 1" descr="preencoded.png">    </p:cNvPr>
          <p:cNvPicPr>
            <a:picLocks noChangeAspect="1"/>
          </p:cNvPicPr>
          <p:nvPr/>
        </p:nvPicPr>
        <p:blipFill>
          <a:blip r:embed="rId2"/>
          <a:stretch>
            <a:fillRect/>
          </a:stretch>
        </p:blipFill>
        <p:spPr>
          <a:xfrm>
            <a:off x="2834640" y="2011680"/>
            <a:ext cx="502920" cy="502920"/>
          </a:xfrm>
          <a:prstGeom prst="rect">
            <a:avLst/>
          </a:prstGeom>
        </p:spPr>
      </p:pic>
      <p:sp>
        <p:nvSpPr>
          <p:cNvPr id="9" name="Text 4"/>
          <p:cNvSpPr txBox="1"/>
          <p:nvPr/>
        </p:nvSpPr>
        <p:spPr>
          <a:xfrm>
            <a:off x="2834640" y="2743200"/>
            <a:ext cx="19202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Task</a:t>
            </a:r>
            <a:endParaRPr lang="en-US" sz="1900" dirty="0"/>
          </a:p>
        </p:txBody>
      </p:sp>
      <p:sp>
        <p:nvSpPr>
          <p:cNvPr id="10" name="Text 5"/>
          <p:cNvSpPr txBox="1"/>
          <p:nvPr/>
        </p:nvSpPr>
        <p:spPr>
          <a:xfrm>
            <a:off x="2834640" y="3566160"/>
            <a:ext cx="1828800" cy="1463040"/>
          </a:xfrm>
          <a:prstGeom prst="rect">
            <a:avLst/>
          </a:prstGeom>
          <a:noFill/>
          <a:ln/>
        </p:spPr>
        <p:txBody>
          <a:bodyPr wrap="square" lIns="0" tIns="0" rIns="0" bIns="0" rtlCol="0" anchor="t"/>
          <a:lstStyle/>
          <a:p>
            <a:pPr indent="0" marL="0">
              <a:buNone/>
            </a:pPr>
            <a:r>
              <a:rPr lang="en-US" sz="1600" dirty="0">
                <a:solidFill>
                  <a:schemeClr val="tx1"/>
                </a:solidFill>
              </a:rPr>
              <a:t>What it does, and what it never does</a:t>
            </a:r>
            <a:endParaRPr lang="en-US" sz="1600" dirty="0"/>
          </a:p>
        </p:txBody>
      </p:sp>
      <p:pic>
        <p:nvPicPr>
          <p:cNvPr id="11" name="Image 2" descr="preencoded.png">    </p:cNvPr>
          <p:cNvPicPr>
            <a:picLocks noChangeAspect="1"/>
          </p:cNvPicPr>
          <p:nvPr/>
        </p:nvPicPr>
        <p:blipFill>
          <a:blip r:embed="rId3"/>
          <a:stretch>
            <a:fillRect/>
          </a:stretch>
        </p:blipFill>
        <p:spPr>
          <a:xfrm>
            <a:off x="5120640" y="2011680"/>
            <a:ext cx="502920" cy="502920"/>
          </a:xfrm>
          <a:prstGeom prst="rect">
            <a:avLst/>
          </a:prstGeom>
        </p:spPr>
      </p:pic>
      <p:sp>
        <p:nvSpPr>
          <p:cNvPr id="12" name="Text 6"/>
          <p:cNvSpPr txBox="1"/>
          <p:nvPr/>
        </p:nvSpPr>
        <p:spPr>
          <a:xfrm>
            <a:off x="5120640" y="2743200"/>
            <a:ext cx="19202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Steps</a:t>
            </a:r>
            <a:endParaRPr lang="en-US" sz="1900" dirty="0"/>
          </a:p>
        </p:txBody>
      </p:sp>
      <p:sp>
        <p:nvSpPr>
          <p:cNvPr id="13" name="Text 7"/>
          <p:cNvSpPr txBox="1"/>
          <p:nvPr/>
        </p:nvSpPr>
        <p:spPr>
          <a:xfrm>
            <a:off x="5120640" y="3566160"/>
            <a:ext cx="1828800" cy="1463040"/>
          </a:xfrm>
          <a:prstGeom prst="rect">
            <a:avLst/>
          </a:prstGeom>
          <a:noFill/>
          <a:ln/>
        </p:spPr>
        <p:txBody>
          <a:bodyPr wrap="square" lIns="0" tIns="0" rIns="0" bIns="0" rtlCol="0" anchor="t"/>
          <a:lstStyle/>
          <a:p>
            <a:pPr indent="0" marL="0">
              <a:buNone/>
            </a:pPr>
            <a:r>
              <a:rPr lang="en-US" sz="1600" dirty="0">
                <a:solidFill>
                  <a:schemeClr val="tx1"/>
                </a:solidFill>
              </a:rPr>
              <a:t>The checks, in order, with the clause for each</a:t>
            </a:r>
            <a:endParaRPr lang="en-US" sz="1600" dirty="0"/>
          </a:p>
        </p:txBody>
      </p:sp>
      <p:pic>
        <p:nvPicPr>
          <p:cNvPr id="14" name="Image 3" descr="preencoded.png">    </p:cNvPr>
          <p:cNvPicPr>
            <a:picLocks noChangeAspect="1"/>
          </p:cNvPicPr>
          <p:nvPr/>
        </p:nvPicPr>
        <p:blipFill>
          <a:blip r:embed="rId4"/>
          <a:stretch>
            <a:fillRect/>
          </a:stretch>
        </p:blipFill>
        <p:spPr>
          <a:xfrm>
            <a:off x="7406640" y="2011680"/>
            <a:ext cx="502920" cy="502920"/>
          </a:xfrm>
          <a:prstGeom prst="rect">
            <a:avLst/>
          </a:prstGeom>
        </p:spPr>
      </p:pic>
      <p:sp>
        <p:nvSpPr>
          <p:cNvPr id="15" name="Text 8"/>
          <p:cNvSpPr txBox="1"/>
          <p:nvPr/>
        </p:nvSpPr>
        <p:spPr>
          <a:xfrm>
            <a:off x="7406640" y="2743200"/>
            <a:ext cx="19202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Format</a:t>
            </a:r>
            <a:endParaRPr lang="en-US" sz="1900" dirty="0"/>
          </a:p>
        </p:txBody>
      </p:sp>
      <p:sp>
        <p:nvSpPr>
          <p:cNvPr id="16" name="Text 9"/>
          <p:cNvSpPr txBox="1"/>
          <p:nvPr/>
        </p:nvSpPr>
        <p:spPr>
          <a:xfrm>
            <a:off x="7406640" y="3566160"/>
            <a:ext cx="1828800" cy="1463040"/>
          </a:xfrm>
          <a:prstGeom prst="rect">
            <a:avLst/>
          </a:prstGeom>
          <a:noFill/>
          <a:ln/>
        </p:spPr>
        <p:txBody>
          <a:bodyPr wrap="square" lIns="0" tIns="0" rIns="0" bIns="0" rtlCol="0" anchor="t"/>
          <a:lstStyle/>
          <a:p>
            <a:pPr indent="0" marL="0">
              <a:buNone/>
            </a:pPr>
            <a:r>
              <a:rPr lang="en-US" sz="1600" dirty="0">
                <a:solidFill>
                  <a:schemeClr val="tx1"/>
                </a:solidFill>
              </a:rPr>
              <a:t>The same layout every time</a:t>
            </a:r>
            <a:endParaRPr lang="en-US" sz="1600" dirty="0"/>
          </a:p>
        </p:txBody>
      </p:sp>
      <p:pic>
        <p:nvPicPr>
          <p:cNvPr id="17" name="Image 4" descr="preencoded.png">    </p:cNvPr>
          <p:cNvPicPr>
            <a:picLocks noChangeAspect="1"/>
          </p:cNvPicPr>
          <p:nvPr/>
        </p:nvPicPr>
        <p:blipFill>
          <a:blip r:embed="rId5"/>
          <a:stretch>
            <a:fillRect/>
          </a:stretch>
        </p:blipFill>
        <p:spPr>
          <a:xfrm>
            <a:off x="9692640" y="2011680"/>
            <a:ext cx="502920" cy="502920"/>
          </a:xfrm>
          <a:prstGeom prst="rect">
            <a:avLst/>
          </a:prstGeom>
        </p:spPr>
      </p:pic>
      <p:sp>
        <p:nvSpPr>
          <p:cNvPr id="18" name="Text 10"/>
          <p:cNvSpPr txBox="1"/>
          <p:nvPr/>
        </p:nvSpPr>
        <p:spPr>
          <a:xfrm>
            <a:off x="9692640" y="2743200"/>
            <a:ext cx="19202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Rules</a:t>
            </a:r>
            <a:endParaRPr lang="en-US" sz="1900" dirty="0"/>
          </a:p>
        </p:txBody>
      </p:sp>
      <p:sp>
        <p:nvSpPr>
          <p:cNvPr id="19" name="Text 11"/>
          <p:cNvSpPr txBox="1"/>
          <p:nvPr/>
        </p:nvSpPr>
        <p:spPr>
          <a:xfrm>
            <a:off x="9692640" y="3566160"/>
            <a:ext cx="1828800" cy="1463040"/>
          </a:xfrm>
          <a:prstGeom prst="rect">
            <a:avLst/>
          </a:prstGeom>
          <a:noFill/>
          <a:ln/>
        </p:spPr>
        <p:txBody>
          <a:bodyPr wrap="square" lIns="0" tIns="0" rIns="0" bIns="0" rtlCol="0" anchor="t"/>
          <a:lstStyle/>
          <a:p>
            <a:pPr indent="0" marL="0">
              <a:buNone/>
            </a:pPr>
            <a:r>
              <a:rPr lang="en-US" sz="1600" dirty="0">
                <a:solidFill>
                  <a:schemeClr val="tx1"/>
                </a:solidFill>
              </a:rPr>
              <a:t>What to do when it isn't sure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03</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Build and test the Quotation Checker</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Create the assistant and paste the instructions</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Give it the policy and the vendor list</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Check one quotation at a time, in new chats</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Compare the three quotations as printed</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3.5</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Recommend a supplier, and check it yourself</a:t>
            </a:r>
            <a:endParaRPr lang="en-US" sz="1600" dirty="0"/>
          </a:p>
        </p:txBody>
      </p:sp>
      <p:sp>
        <p:nvSpPr>
          <p:cNvPr id="15"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6"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7" name="Text 13"/>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8" name="Text 14"/>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Each quotation has a verdict and a clause, and you've checked one line of arithmetic with a calculator.</a:t>
            </a:r>
            <a:endParaRPr lang="en-US" sz="1600" dirty="0"/>
          </a:p>
        </p:txBody>
      </p:sp>
      <p:sp>
        <p:nvSpPr>
          <p:cNvPr id="19" name="Divider line"/>
          <p:cNvSpPr/>
          <p:nvPr/>
        </p:nvSpPr>
        <p:spPr>
          <a:xfrm>
            <a:off x="7909560" y="4983480"/>
            <a:ext cx="3429000" cy="0"/>
          </a:xfrm>
          <a:prstGeom prst="line">
            <a:avLst/>
          </a:prstGeom>
          <a:noFill/>
          <a:ln w="12700">
            <a:solidFill>
              <a:srgbClr val="E0E0E0"/>
            </a:solidFill>
            <a:prstDash val="solid"/>
          </a:ln>
        </p:spPr>
      </p:sp>
      <p:sp>
        <p:nvSpPr>
          <p:cNvPr id="20" name="Text 16"/>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03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04</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3000" dirty="0">
                <a:solidFill>
                  <a:schemeClr val="bg1"/>
                </a:solidFill>
              </a:rPr>
              <a:t>Grounded Research and Source-Based Answers</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Ground  |  55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policy notebook, five answers with checked citations, and one question it rightly can't answer.</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04</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Check a citation in thirty seconds</a:t>
            </a:r>
            <a:endParaRPr lang="en-US" sz="3200" dirty="0"/>
          </a:p>
        </p:txBody>
      </p:sp>
      <p:sp>
        <p:nvSpPr>
          <p:cNvPr id="5" name="Text 2"/>
          <p:cNvSpPr txBox="1"/>
          <p:nvPr/>
        </p:nvSpPr>
        <p:spPr>
          <a:xfrm>
            <a:off x="548640" y="1783080"/>
            <a:ext cx="411480" cy="1005840"/>
          </a:xfrm>
          <a:prstGeom prst="rect">
            <a:avLst/>
          </a:prstGeom>
          <a:noFill/>
          <a:ln/>
        </p:spPr>
        <p:txBody>
          <a:bodyPr wrap="square" lIns="0" tIns="0" rIns="0" bIns="0" rtlCol="0" anchor="t"/>
          <a:lstStyle/>
          <a:p>
            <a:pPr indent="0" marL="0">
              <a:buNone/>
            </a:pPr>
            <a:r>
              <a:rPr lang="en-US" sz="2200" dirty="0">
                <a:solidFill>
                  <a:schemeClr val="accent1"/>
                </a:solidFill>
                <a:latin typeface="Segoe UI Semibold" pitchFamily="34" charset="0"/>
                <a:ea typeface="Segoe UI Semibold" pitchFamily="34" charset="-122"/>
                <a:cs typeface="Segoe UI Semibold" pitchFamily="34" charset="-120"/>
              </a:rPr>
              <a:t>1</a:t>
            </a:r>
            <a:endParaRPr lang="en-US" sz="2200" dirty="0"/>
          </a:p>
        </p:txBody>
      </p:sp>
      <p:sp>
        <p:nvSpPr>
          <p:cNvPr id="6" name="Text 3"/>
          <p:cNvSpPr txBox="1"/>
          <p:nvPr/>
        </p:nvSpPr>
        <p:spPr>
          <a:xfrm>
            <a:off x="1005840" y="1819656"/>
            <a:ext cx="10515600" cy="10058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Ask for the clause and the exact sentence</a:t>
            </a:r>
            <a:endParaRPr lang="en-US" sz="1800" dirty="0"/>
          </a:p>
          <a:p>
            <a:pPr indent="0" marL="0">
              <a:buNone/>
            </a:pPr>
            <a:r>
              <a:rPr lang="en-US" sz="1800" dirty="0">
                <a:solidFill>
                  <a:schemeClr val="accent4"/>
                </a:solidFill>
              </a:rPr>
              <a:t>Start every question with "Answer only from the sources"</a:t>
            </a:r>
            <a:endParaRPr lang="en-US" sz="1800" dirty="0"/>
          </a:p>
        </p:txBody>
      </p:sp>
      <p:sp>
        <p:nvSpPr>
          <p:cNvPr id="7" name="Text 4"/>
          <p:cNvSpPr txBox="1"/>
          <p:nvPr/>
        </p:nvSpPr>
        <p:spPr>
          <a:xfrm>
            <a:off x="548640" y="2788920"/>
            <a:ext cx="411480" cy="1005840"/>
          </a:xfrm>
          <a:prstGeom prst="rect">
            <a:avLst/>
          </a:prstGeom>
          <a:noFill/>
          <a:ln/>
        </p:spPr>
        <p:txBody>
          <a:bodyPr wrap="square" lIns="0" tIns="0" rIns="0" bIns="0" rtlCol="0" anchor="t"/>
          <a:lstStyle/>
          <a:p>
            <a:pPr indent="0" marL="0">
              <a:buNone/>
            </a:pPr>
            <a:r>
              <a:rPr lang="en-US" sz="2200" dirty="0">
                <a:solidFill>
                  <a:schemeClr val="accent1"/>
                </a:solidFill>
                <a:latin typeface="Segoe UI Semibold" pitchFamily="34" charset="0"/>
                <a:ea typeface="Segoe UI Semibold" pitchFamily="34" charset="-122"/>
                <a:cs typeface="Segoe UI Semibold" pitchFamily="34" charset="-120"/>
              </a:rPr>
              <a:t>2</a:t>
            </a:r>
            <a:endParaRPr lang="en-US" sz="2200" dirty="0"/>
          </a:p>
        </p:txBody>
      </p:sp>
      <p:sp>
        <p:nvSpPr>
          <p:cNvPr id="8" name="Text 5"/>
          <p:cNvSpPr txBox="1"/>
          <p:nvPr/>
        </p:nvSpPr>
        <p:spPr>
          <a:xfrm>
            <a:off x="1005840" y="2825496"/>
            <a:ext cx="10515600" cy="10058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Open the source at that clause</a:t>
            </a:r>
            <a:endParaRPr lang="en-US" sz="1800" dirty="0"/>
          </a:p>
          <a:p>
            <a:pPr indent="0" marL="0">
              <a:buNone/>
            </a:pPr>
            <a:r>
              <a:rPr lang="en-US" sz="1800" dirty="0">
                <a:solidFill>
                  <a:schemeClr val="accent4"/>
                </a:solidFill>
              </a:rPr>
              <a:t>Click the citation, or search the PDF</a:t>
            </a:r>
            <a:endParaRPr lang="en-US" sz="1800" dirty="0"/>
          </a:p>
        </p:txBody>
      </p:sp>
      <p:sp>
        <p:nvSpPr>
          <p:cNvPr id="9" name="Text 6"/>
          <p:cNvSpPr txBox="1"/>
          <p:nvPr/>
        </p:nvSpPr>
        <p:spPr>
          <a:xfrm>
            <a:off x="548640" y="3794760"/>
            <a:ext cx="411480" cy="1005840"/>
          </a:xfrm>
          <a:prstGeom prst="rect">
            <a:avLst/>
          </a:prstGeom>
          <a:noFill/>
          <a:ln/>
        </p:spPr>
        <p:txBody>
          <a:bodyPr wrap="square" lIns="0" tIns="0" rIns="0" bIns="0" rtlCol="0" anchor="t"/>
          <a:lstStyle/>
          <a:p>
            <a:pPr indent="0" marL="0">
              <a:buNone/>
            </a:pPr>
            <a:r>
              <a:rPr lang="en-US" sz="2200" dirty="0">
                <a:solidFill>
                  <a:schemeClr val="accent1"/>
                </a:solidFill>
                <a:latin typeface="Segoe UI Semibold" pitchFamily="34" charset="0"/>
                <a:ea typeface="Segoe UI Semibold" pitchFamily="34" charset="-122"/>
                <a:cs typeface="Segoe UI Semibold" pitchFamily="34" charset="-120"/>
              </a:rPr>
              <a:t>3</a:t>
            </a:r>
            <a:endParaRPr lang="en-US" sz="2200" dirty="0"/>
          </a:p>
        </p:txBody>
      </p:sp>
      <p:sp>
        <p:nvSpPr>
          <p:cNvPr id="10" name="Text 7"/>
          <p:cNvSpPr txBox="1"/>
          <p:nvPr/>
        </p:nvSpPr>
        <p:spPr>
          <a:xfrm>
            <a:off x="1005840" y="3831336"/>
            <a:ext cx="10515600" cy="10058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Compare the sentence with the answer</a:t>
            </a:r>
            <a:endParaRPr lang="en-US" sz="1800" dirty="0"/>
          </a:p>
          <a:p>
            <a:pPr indent="0" marL="0">
              <a:buNone/>
            </a:pPr>
            <a:r>
              <a:rPr lang="en-US" sz="1800" dirty="0">
                <a:solidFill>
                  <a:schemeClr val="accent4"/>
                </a:solidFill>
              </a:rPr>
              <a:t>Same meaning? Right clause?</a:t>
            </a:r>
            <a:endParaRPr lang="en-US" sz="1800" dirty="0"/>
          </a:p>
        </p:txBody>
      </p:sp>
      <p:sp>
        <p:nvSpPr>
          <p:cNvPr id="11" name="Text 8"/>
          <p:cNvSpPr txBox="1"/>
          <p:nvPr/>
        </p:nvSpPr>
        <p:spPr>
          <a:xfrm>
            <a:off x="548640" y="4800600"/>
            <a:ext cx="411480" cy="1005840"/>
          </a:xfrm>
          <a:prstGeom prst="rect">
            <a:avLst/>
          </a:prstGeom>
          <a:noFill/>
          <a:ln/>
        </p:spPr>
        <p:txBody>
          <a:bodyPr wrap="square" lIns="0" tIns="0" rIns="0" bIns="0" rtlCol="0" anchor="t"/>
          <a:lstStyle/>
          <a:p>
            <a:pPr indent="0" marL="0">
              <a:buNone/>
            </a:pPr>
            <a:r>
              <a:rPr lang="en-US" sz="2200" dirty="0">
                <a:solidFill>
                  <a:schemeClr val="accent1"/>
                </a:solidFill>
                <a:latin typeface="Segoe UI Semibold" pitchFamily="34" charset="0"/>
                <a:ea typeface="Segoe UI Semibold" pitchFamily="34" charset="-122"/>
                <a:cs typeface="Segoe UI Semibold" pitchFamily="34" charset="-120"/>
              </a:rPr>
              <a:t>4</a:t>
            </a:r>
            <a:endParaRPr lang="en-US" sz="2200" dirty="0"/>
          </a:p>
        </p:txBody>
      </p:sp>
      <p:sp>
        <p:nvSpPr>
          <p:cNvPr id="12" name="Text 9"/>
          <p:cNvSpPr txBox="1"/>
          <p:nvPr/>
        </p:nvSpPr>
        <p:spPr>
          <a:xfrm>
            <a:off x="1005840" y="4837176"/>
            <a:ext cx="10515600" cy="10058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Mark it right or wrong</a:t>
            </a:r>
            <a:endParaRPr lang="en-US" sz="1800" dirty="0"/>
          </a:p>
          <a:p>
            <a:pPr indent="0" marL="0">
              <a:buNone/>
            </a:pPr>
            <a:r>
              <a:rPr lang="en-US" sz="1800" dirty="0">
                <a:solidFill>
                  <a:schemeClr val="accent4"/>
                </a:solidFill>
              </a:rPr>
              <a:t>A quote you can't find in the PDF is wrong</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04</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Build a policy notebook you can check</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Set up the notebook with the policy and vendor list</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Ask the five policy questions</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Check every citation</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4.4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Ask something the policy doesn't cover</a:t>
            </a:r>
            <a:endParaRPr lang="en-US" sz="1600" dirty="0"/>
          </a:p>
        </p:txBody>
      </p:sp>
      <p:sp>
        <p:nvSpPr>
          <p:cNvPr id="13"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4"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5" name="Text 11"/>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6" name="Text 12"/>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Each answer is marked right or wrong after you've read the clause in the PDF.</a:t>
            </a:r>
            <a:endParaRPr lang="en-US" sz="1600" dirty="0"/>
          </a:p>
        </p:txBody>
      </p:sp>
      <p:sp>
        <p:nvSpPr>
          <p:cNvPr id="17" name="Divider line"/>
          <p:cNvSpPr/>
          <p:nvPr/>
        </p:nvSpPr>
        <p:spPr>
          <a:xfrm>
            <a:off x="7909560" y="4983480"/>
            <a:ext cx="3429000" cy="0"/>
          </a:xfrm>
          <a:prstGeom prst="line">
            <a:avLst/>
          </a:prstGeom>
          <a:noFill/>
          <a:ln w="12700">
            <a:solidFill>
              <a:srgbClr val="E0E0E0"/>
            </a:solidFill>
            <a:prstDash val="solid"/>
          </a:ln>
        </p:spPr>
      </p:sp>
      <p:sp>
        <p:nvSpPr>
          <p:cNvPr id="18" name="Text 14"/>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04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05</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Advanced Data Analysis with AI</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Analyse  |  55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cleaned view of the purchase history, a spend summary checked in Excel, and findings for the Finance Director.</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05</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Clean, define, check</a:t>
            </a:r>
            <a:endParaRPr lang="en-US" sz="3200" dirty="0"/>
          </a:p>
        </p:txBody>
      </p:sp>
      <p:sp>
        <p:nvSpPr>
          <p:cNvPr id="5" name="Look first"/>
          <p:cNvSpPr/>
          <p:nvPr/>
        </p:nvSpPr>
        <p:spPr>
          <a:xfrm>
            <a:off x="548640" y="1920240"/>
            <a:ext cx="2081174" cy="2468880"/>
          </a:xfrm>
          <a:prstGeom prst="roundRect">
            <a:avLst>
              <a:gd name="adj" fmla="val 4394"/>
            </a:avLst>
          </a:prstGeom>
          <a:solidFill>
            <a:schemeClr val="bg1"/>
          </a:solidFill>
          <a:ln/>
          <a:effectLst>
            <a:outerShdw sx="100000" sy="100000" kx="0" ky="0" algn="bl" rotWithShape="0" blurRad="177800" dist="38100" dir="5400000">
              <a:srgbClr val="1B2A4A">
                <a:alpha val="12000"/>
              </a:srgbClr>
            </a:outerShdw>
          </a:effectLst>
        </p:spPr>
      </p:sp>
      <p:pic>
        <p:nvPicPr>
          <p:cNvPr id="6" name="Image 0" descr="preencoded.png">    </p:cNvPr>
          <p:cNvPicPr>
            <a:picLocks noChangeAspect="1"/>
          </p:cNvPicPr>
          <p:nvPr/>
        </p:nvPicPr>
        <p:blipFill>
          <a:blip r:embed="rId1"/>
          <a:stretch>
            <a:fillRect/>
          </a:stretch>
        </p:blipFill>
        <p:spPr>
          <a:xfrm>
            <a:off x="749808" y="2148840"/>
            <a:ext cx="411480" cy="411480"/>
          </a:xfrm>
          <a:prstGeom prst="rect">
            <a:avLst/>
          </a:prstGeom>
        </p:spPr>
      </p:pic>
      <p:sp>
        <p:nvSpPr>
          <p:cNvPr id="7" name="Text 3"/>
          <p:cNvSpPr txBox="1"/>
          <p:nvPr/>
        </p:nvSpPr>
        <p:spPr>
          <a:xfrm>
            <a:off x="749808" y="2697480"/>
            <a:ext cx="1715414"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Look first</a:t>
            </a:r>
            <a:endParaRPr lang="en-US" sz="1500" dirty="0"/>
          </a:p>
        </p:txBody>
      </p:sp>
      <p:sp>
        <p:nvSpPr>
          <p:cNvPr id="8" name="Text 4"/>
          <p:cNvSpPr txBox="1"/>
          <p:nvPr/>
        </p:nvSpPr>
        <p:spPr>
          <a:xfrm>
            <a:off x="749808" y="3383280"/>
            <a:ext cx="1715414" cy="914400"/>
          </a:xfrm>
          <a:prstGeom prst="rect">
            <a:avLst/>
          </a:prstGeom>
          <a:noFill/>
          <a:ln/>
        </p:spPr>
        <p:txBody>
          <a:bodyPr wrap="square" lIns="0" tIns="0" rIns="0" bIns="0" rtlCol="0" anchor="t"/>
          <a:lstStyle/>
          <a:p>
            <a:pPr indent="0" marL="0">
              <a:buNone/>
            </a:pPr>
            <a:r>
              <a:rPr lang="en-US" sz="1200" dirty="0">
                <a:solidFill>
                  <a:schemeClr val="accent4"/>
                </a:solidFill>
              </a:rPr>
              <a:t>Rows, columns, dates and what each column means</a:t>
            </a:r>
            <a:endParaRPr lang="en-US" sz="1200" dirty="0"/>
          </a:p>
        </p:txBody>
      </p:sp>
      <p:sp>
        <p:nvSpPr>
          <p:cNvPr id="9" name="Find the problems"/>
          <p:cNvSpPr/>
          <p:nvPr/>
        </p:nvSpPr>
        <p:spPr>
          <a:xfrm>
            <a:off x="2794406" y="1920240"/>
            <a:ext cx="2081174" cy="2468880"/>
          </a:xfrm>
          <a:prstGeom prst="roundRect">
            <a:avLst>
              <a:gd name="adj" fmla="val 4394"/>
            </a:avLst>
          </a:prstGeom>
          <a:solidFill>
            <a:schemeClr val="bg1"/>
          </a:solidFill>
          <a:ln/>
          <a:effectLst>
            <a:outerShdw sx="100000" sy="100000" kx="0" ky="0" algn="bl" rotWithShape="0" blurRad="177800" dist="38100" dir="5400000">
              <a:srgbClr val="1B2A4A">
                <a:alpha val="12000"/>
              </a:srgbClr>
            </a:outerShdw>
          </a:effectLst>
        </p:spPr>
      </p:sp>
      <p:pic>
        <p:nvPicPr>
          <p:cNvPr id="10" name="Image 1" descr="preencoded.png">    </p:cNvPr>
          <p:cNvPicPr>
            <a:picLocks noChangeAspect="1"/>
          </p:cNvPicPr>
          <p:nvPr/>
        </p:nvPicPr>
        <p:blipFill>
          <a:blip r:embed="rId2"/>
          <a:stretch>
            <a:fillRect/>
          </a:stretch>
        </p:blipFill>
        <p:spPr>
          <a:xfrm>
            <a:off x="2995574" y="2148840"/>
            <a:ext cx="411480" cy="411480"/>
          </a:xfrm>
          <a:prstGeom prst="rect">
            <a:avLst/>
          </a:prstGeom>
        </p:spPr>
      </p:pic>
      <p:sp>
        <p:nvSpPr>
          <p:cNvPr id="11" name="Text 6"/>
          <p:cNvSpPr txBox="1"/>
          <p:nvPr/>
        </p:nvSpPr>
        <p:spPr>
          <a:xfrm>
            <a:off x="2995574" y="2697480"/>
            <a:ext cx="1715414"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Find the problems</a:t>
            </a:r>
            <a:endParaRPr lang="en-US" sz="1500" dirty="0"/>
          </a:p>
        </p:txBody>
      </p:sp>
      <p:sp>
        <p:nvSpPr>
          <p:cNvPr id="12" name="Text 7"/>
          <p:cNvSpPr txBox="1"/>
          <p:nvPr/>
        </p:nvSpPr>
        <p:spPr>
          <a:xfrm>
            <a:off x="2995574" y="3383280"/>
            <a:ext cx="1715414" cy="914400"/>
          </a:xfrm>
          <a:prstGeom prst="rect">
            <a:avLst/>
          </a:prstGeom>
          <a:noFill/>
          <a:ln/>
        </p:spPr>
        <p:txBody>
          <a:bodyPr wrap="square" lIns="0" tIns="0" rIns="0" bIns="0" rtlCol="0" anchor="t"/>
          <a:lstStyle/>
          <a:p>
            <a:pPr indent="0" marL="0">
              <a:buNone/>
            </a:pPr>
            <a:r>
              <a:rPr lang="en-US" sz="1200" dirty="0">
                <a:solidFill>
                  <a:schemeClr val="accent4"/>
                </a:solidFill>
              </a:rPr>
              <a:t>Duplicates, blanks, spellings, cancelled orders</a:t>
            </a:r>
            <a:endParaRPr lang="en-US" sz="1200" dirty="0"/>
          </a:p>
        </p:txBody>
      </p:sp>
      <p:sp>
        <p:nvSpPr>
          <p:cNvPr id="13" name="Define the measure"/>
          <p:cNvSpPr/>
          <p:nvPr/>
        </p:nvSpPr>
        <p:spPr>
          <a:xfrm>
            <a:off x="5040173" y="1920240"/>
            <a:ext cx="2081174" cy="2468880"/>
          </a:xfrm>
          <a:prstGeom prst="roundRect">
            <a:avLst>
              <a:gd name="adj" fmla="val 4394"/>
            </a:avLst>
          </a:prstGeom>
          <a:solidFill>
            <a:schemeClr val="bg1"/>
          </a:solidFill>
          <a:ln/>
          <a:effectLst>
            <a:outerShdw sx="100000" sy="100000" kx="0" ky="0" algn="bl" rotWithShape="0" blurRad="177800" dist="38100" dir="5400000">
              <a:srgbClr val="1B2A4A">
                <a:alpha val="12000"/>
              </a:srgbClr>
            </a:outerShdw>
          </a:effectLst>
        </p:spPr>
      </p:sp>
      <p:pic>
        <p:nvPicPr>
          <p:cNvPr id="14" name="Image 2" descr="preencoded.png">    </p:cNvPr>
          <p:cNvPicPr>
            <a:picLocks noChangeAspect="1"/>
          </p:cNvPicPr>
          <p:nvPr/>
        </p:nvPicPr>
        <p:blipFill>
          <a:blip r:embed="rId3"/>
          <a:stretch>
            <a:fillRect/>
          </a:stretch>
        </p:blipFill>
        <p:spPr>
          <a:xfrm>
            <a:off x="5241341" y="2148840"/>
            <a:ext cx="411480" cy="411480"/>
          </a:xfrm>
          <a:prstGeom prst="rect">
            <a:avLst/>
          </a:prstGeom>
        </p:spPr>
      </p:pic>
      <p:sp>
        <p:nvSpPr>
          <p:cNvPr id="15" name="Text 9"/>
          <p:cNvSpPr txBox="1"/>
          <p:nvPr/>
        </p:nvSpPr>
        <p:spPr>
          <a:xfrm>
            <a:off x="5241341" y="2697480"/>
            <a:ext cx="1715414"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Define the measure</a:t>
            </a:r>
            <a:endParaRPr lang="en-US" sz="1500" dirty="0"/>
          </a:p>
        </p:txBody>
      </p:sp>
      <p:sp>
        <p:nvSpPr>
          <p:cNvPr id="16" name="Text 10"/>
          <p:cNvSpPr txBox="1"/>
          <p:nvPr/>
        </p:nvSpPr>
        <p:spPr>
          <a:xfrm>
            <a:off x="5241341" y="3383280"/>
            <a:ext cx="1715414" cy="914400"/>
          </a:xfrm>
          <a:prstGeom prst="rect">
            <a:avLst/>
          </a:prstGeom>
          <a:noFill/>
          <a:ln/>
        </p:spPr>
        <p:txBody>
          <a:bodyPr wrap="square" lIns="0" tIns="0" rIns="0" bIns="0" rtlCol="0" anchor="t"/>
          <a:lstStyle/>
          <a:p>
            <a:pPr indent="0" marL="0">
              <a:buNone/>
            </a:pPr>
            <a:r>
              <a:rPr lang="en-US" sz="1200" dirty="0">
                <a:solidFill>
                  <a:schemeClr val="accent4"/>
                </a:solidFill>
              </a:rPr>
              <a:t>Which column, what to leave out</a:t>
            </a:r>
            <a:endParaRPr lang="en-US" sz="1200" dirty="0"/>
          </a:p>
        </p:txBody>
      </p:sp>
      <p:sp>
        <p:nvSpPr>
          <p:cNvPr id="17" name="Analyse"/>
          <p:cNvSpPr/>
          <p:nvPr/>
        </p:nvSpPr>
        <p:spPr>
          <a:xfrm>
            <a:off x="7285939" y="1920240"/>
            <a:ext cx="2081174" cy="2468880"/>
          </a:xfrm>
          <a:prstGeom prst="roundRect">
            <a:avLst>
              <a:gd name="adj" fmla="val 4394"/>
            </a:avLst>
          </a:prstGeom>
          <a:solidFill>
            <a:schemeClr val="bg1"/>
          </a:solidFill>
          <a:ln/>
          <a:effectLst>
            <a:outerShdw sx="100000" sy="100000" kx="0" ky="0" algn="bl" rotWithShape="0" blurRad="177800" dist="38100" dir="5400000">
              <a:srgbClr val="1B2A4A">
                <a:alpha val="12000"/>
              </a:srgbClr>
            </a:outerShdw>
          </a:effectLst>
        </p:spPr>
      </p:sp>
      <p:pic>
        <p:nvPicPr>
          <p:cNvPr id="18" name="Image 3" descr="preencoded.png">    </p:cNvPr>
          <p:cNvPicPr>
            <a:picLocks noChangeAspect="1"/>
          </p:cNvPicPr>
          <p:nvPr/>
        </p:nvPicPr>
        <p:blipFill>
          <a:blip r:embed="rId4"/>
          <a:stretch>
            <a:fillRect/>
          </a:stretch>
        </p:blipFill>
        <p:spPr>
          <a:xfrm>
            <a:off x="7487107" y="2148840"/>
            <a:ext cx="411480" cy="411480"/>
          </a:xfrm>
          <a:prstGeom prst="rect">
            <a:avLst/>
          </a:prstGeom>
        </p:spPr>
      </p:pic>
      <p:sp>
        <p:nvSpPr>
          <p:cNvPr id="19" name="Text 12"/>
          <p:cNvSpPr txBox="1"/>
          <p:nvPr/>
        </p:nvSpPr>
        <p:spPr>
          <a:xfrm>
            <a:off x="7487107" y="2697480"/>
            <a:ext cx="1715414"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Analyse</a:t>
            </a:r>
            <a:endParaRPr lang="en-US" sz="1500" dirty="0"/>
          </a:p>
        </p:txBody>
      </p:sp>
      <p:sp>
        <p:nvSpPr>
          <p:cNvPr id="20" name="Text 13"/>
          <p:cNvSpPr txBox="1"/>
          <p:nvPr/>
        </p:nvSpPr>
        <p:spPr>
          <a:xfrm>
            <a:off x="7487107" y="3383280"/>
            <a:ext cx="1715414" cy="914400"/>
          </a:xfrm>
          <a:prstGeom prst="rect">
            <a:avLst/>
          </a:prstGeom>
          <a:noFill/>
          <a:ln/>
        </p:spPr>
        <p:txBody>
          <a:bodyPr wrap="square" lIns="0" tIns="0" rIns="0" bIns="0" rtlCol="0" anchor="t"/>
          <a:lstStyle/>
          <a:p>
            <a:pPr indent="0" marL="0">
              <a:buNone/>
            </a:pPr>
            <a:r>
              <a:rPr lang="en-US" sz="1200" dirty="0">
                <a:solidFill>
                  <a:schemeClr val="accent4"/>
                </a:solidFill>
              </a:rPr>
              <a:t>Summaries, patterns, a chart</a:t>
            </a:r>
            <a:endParaRPr lang="en-US" sz="1200" dirty="0"/>
          </a:p>
        </p:txBody>
      </p:sp>
      <p:sp>
        <p:nvSpPr>
          <p:cNvPr id="21" name="Check one figure"/>
          <p:cNvSpPr/>
          <p:nvPr/>
        </p:nvSpPr>
        <p:spPr>
          <a:xfrm>
            <a:off x="9531706" y="1920240"/>
            <a:ext cx="2081174" cy="2468880"/>
          </a:xfrm>
          <a:prstGeom prst="roundRect">
            <a:avLst>
              <a:gd name="adj" fmla="val 4394"/>
            </a:avLst>
          </a:prstGeom>
          <a:solidFill>
            <a:schemeClr val="bg1"/>
          </a:solidFill>
          <a:ln/>
          <a:effectLst>
            <a:outerShdw sx="100000" sy="100000" kx="0" ky="0" algn="bl" rotWithShape="0" blurRad="177800" dist="38100" dir="5400000">
              <a:srgbClr val="1B2A4A">
                <a:alpha val="12000"/>
              </a:srgbClr>
            </a:outerShdw>
          </a:effectLst>
        </p:spPr>
      </p:sp>
      <p:pic>
        <p:nvPicPr>
          <p:cNvPr id="22" name="Image 4" descr="preencoded.png">    </p:cNvPr>
          <p:cNvPicPr>
            <a:picLocks noChangeAspect="1"/>
          </p:cNvPicPr>
          <p:nvPr/>
        </p:nvPicPr>
        <p:blipFill>
          <a:blip r:embed="rId5"/>
          <a:stretch>
            <a:fillRect/>
          </a:stretch>
        </p:blipFill>
        <p:spPr>
          <a:xfrm>
            <a:off x="9732874" y="2148840"/>
            <a:ext cx="411480" cy="411480"/>
          </a:xfrm>
          <a:prstGeom prst="rect">
            <a:avLst/>
          </a:prstGeom>
        </p:spPr>
      </p:pic>
      <p:sp>
        <p:nvSpPr>
          <p:cNvPr id="23" name="Text 15"/>
          <p:cNvSpPr txBox="1"/>
          <p:nvPr/>
        </p:nvSpPr>
        <p:spPr>
          <a:xfrm>
            <a:off x="9732874" y="2697480"/>
            <a:ext cx="1715414"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Check one figure</a:t>
            </a:r>
            <a:endParaRPr lang="en-US" sz="1500" dirty="0"/>
          </a:p>
        </p:txBody>
      </p:sp>
      <p:sp>
        <p:nvSpPr>
          <p:cNvPr id="24" name="Text 16"/>
          <p:cNvSpPr txBox="1"/>
          <p:nvPr/>
        </p:nvSpPr>
        <p:spPr>
          <a:xfrm>
            <a:off x="9732874" y="3383280"/>
            <a:ext cx="1715414" cy="914400"/>
          </a:xfrm>
          <a:prstGeom prst="rect">
            <a:avLst/>
          </a:prstGeom>
          <a:noFill/>
          <a:ln/>
        </p:spPr>
        <p:txBody>
          <a:bodyPr wrap="square" lIns="0" tIns="0" rIns="0" bIns="0" rtlCol="0" anchor="t"/>
          <a:lstStyle/>
          <a:p>
            <a:pPr indent="0" marL="0">
              <a:buNone/>
            </a:pPr>
            <a:r>
              <a:rPr lang="en-US" sz="1200" dirty="0">
                <a:solidFill>
                  <a:schemeClr val="accent4"/>
                </a:solidFill>
              </a:rPr>
              <a:t>A PivotTable in Excel</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05</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Analyse the purchase history</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First look at the data</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Find the data problems</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Summarise the spend, then check it in Excel</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Look for patterns</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5.5</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Make one chart</a:t>
            </a:r>
            <a:endParaRPr lang="en-US" sz="1600" dirty="0"/>
          </a:p>
        </p:txBody>
      </p:sp>
      <p:sp>
        <p:nvSpPr>
          <p:cNvPr id="15"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6"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7" name="Text 13"/>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8" name="Text 14"/>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Your spend total matches the cleaned figure, and every finding has PO numbers you've looked up.</a:t>
            </a:r>
            <a:endParaRPr lang="en-US" sz="1600" dirty="0"/>
          </a:p>
        </p:txBody>
      </p:sp>
      <p:sp>
        <p:nvSpPr>
          <p:cNvPr id="19" name="Divider line"/>
          <p:cNvSpPr/>
          <p:nvPr/>
        </p:nvSpPr>
        <p:spPr>
          <a:xfrm>
            <a:off x="7909560" y="4983480"/>
            <a:ext cx="3429000" cy="0"/>
          </a:xfrm>
          <a:prstGeom prst="line">
            <a:avLst/>
          </a:prstGeom>
          <a:noFill/>
          <a:ln w="12700">
            <a:solidFill>
              <a:srgbClr val="E0E0E0"/>
            </a:solidFill>
            <a:prstDash val="solid"/>
          </a:ln>
        </p:spPr>
      </p:sp>
      <p:sp>
        <p:nvSpPr>
          <p:cNvPr id="20" name="Text 16"/>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05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06</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3000" dirty="0">
                <a:solidFill>
                  <a:schemeClr val="bg1"/>
                </a:solidFill>
              </a:rPr>
              <a:t>Controlling Output with Word and PowerPoint Templates</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Format  |  60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an approval memo on the company template, a four-slide deck, and a comparison of the good and bad templates.</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06</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The template matters as much as the prompt</a:t>
            </a:r>
            <a:endParaRPr lang="en-US" sz="3200" dirty="0"/>
          </a:p>
        </p:txBody>
      </p:sp>
      <p:sp>
        <p:nvSpPr>
          <p:cNvPr id="5" name="A well-built template"/>
          <p:cNvSpPr/>
          <p:nvPr/>
        </p:nvSpPr>
        <p:spPr>
          <a:xfrm>
            <a:off x="548640" y="1783080"/>
            <a:ext cx="5440680" cy="4160520"/>
          </a:xfrm>
          <a:prstGeom prst="roundRect">
            <a:avLst>
              <a:gd name="adj" fmla="val 2198"/>
            </a:avLst>
          </a:prstGeom>
          <a:solidFill>
            <a:schemeClr val="bg1"/>
          </a:solidFill>
          <a:ln/>
          <a:effectLst>
            <a:outerShdw sx="100000" sy="100000" kx="0" ky="0" algn="bl" rotWithShape="0" blurRad="177800" dist="38100" dir="5400000">
              <a:srgbClr val="1B2A4A">
                <a:alpha val="12000"/>
              </a:srgbClr>
            </a:outerShdw>
          </a:effectLst>
        </p:spPr>
      </p:sp>
      <p:pic>
        <p:nvPicPr>
          <p:cNvPr id="6" name="Image 0" descr="preencoded.png">    </p:cNvPr>
          <p:cNvPicPr>
            <a:picLocks noChangeAspect="1"/>
          </p:cNvPicPr>
          <p:nvPr/>
        </p:nvPicPr>
        <p:blipFill>
          <a:blip r:embed="rId1"/>
          <a:stretch>
            <a:fillRect/>
          </a:stretch>
        </p:blipFill>
        <p:spPr>
          <a:xfrm>
            <a:off x="914400" y="2103120"/>
            <a:ext cx="502920" cy="502920"/>
          </a:xfrm>
          <a:prstGeom prst="rect">
            <a:avLst/>
          </a:prstGeom>
        </p:spPr>
      </p:pic>
      <p:sp>
        <p:nvSpPr>
          <p:cNvPr id="7" name="Text 3"/>
          <p:cNvSpPr txBox="1"/>
          <p:nvPr/>
        </p:nvSpPr>
        <p:spPr>
          <a:xfrm>
            <a:off x="914400" y="2743200"/>
            <a:ext cx="475488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A well-built template</a:t>
            </a:r>
            <a:endParaRPr lang="en-US" sz="2200" dirty="0"/>
          </a:p>
        </p:txBody>
      </p:sp>
      <p:sp>
        <p:nvSpPr>
          <p:cNvPr id="8" name="Text 4"/>
          <p:cNvSpPr txBox="1"/>
          <p:nvPr/>
        </p:nvSpPr>
        <p:spPr>
          <a:xfrm>
            <a:off x="914400" y="3337560"/>
            <a:ext cx="4754880" cy="24688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Named layouts in the slide master</a:t>
            </a:r>
            <a:endParaRPr lang="en-US" sz="1600" dirty="0"/>
          </a:p>
          <a:p>
            <a:pPr marL="342900" indent="-342900">
              <a:spcAft>
                <a:spcPts val="600"/>
              </a:spcAft>
              <a:buSzPct val="100000"/>
              <a:buChar char="•"/>
            </a:pPr>
            <a:r>
              <a:rPr lang="en-US" sz="1600" dirty="0">
                <a:solidFill>
                  <a:schemeClr val="tx1"/>
                </a:solidFill>
              </a:rPr>
              <a:t>Placeholders for titles and content</a:t>
            </a:r>
            <a:endParaRPr lang="en-US" sz="1600" dirty="0"/>
          </a:p>
          <a:p>
            <a:pPr marL="342900" indent="-342900">
              <a:spcAft>
                <a:spcPts val="600"/>
              </a:spcAft>
              <a:buSzPct val="100000"/>
              <a:buChar char="•"/>
            </a:pPr>
            <a:r>
              <a:rPr lang="en-US" sz="1600" dirty="0">
                <a:solidFill>
                  <a:schemeClr val="tx1"/>
                </a:solidFill>
              </a:rPr>
              <a:t>Theme fonts and colours</a:t>
            </a:r>
            <a:endParaRPr lang="en-US" sz="1600" dirty="0"/>
          </a:p>
          <a:p>
            <a:pPr marL="342900" indent="-342900">
              <a:spcAft>
                <a:spcPts val="600"/>
              </a:spcAft>
              <a:buSzPct val="100000"/>
              <a:buChar char="•"/>
            </a:pPr>
            <a:r>
              <a:rPr lang="en-US" sz="1600" dirty="0">
                <a:solidFill>
                  <a:schemeClr val="tx1"/>
                </a:solidFill>
              </a:rPr>
              <a:t>Word styles: Title, Heading 1, Normal</a:t>
            </a:r>
            <a:endParaRPr lang="en-US" sz="1600" dirty="0"/>
          </a:p>
        </p:txBody>
      </p:sp>
      <p:sp>
        <p:nvSpPr>
          <p:cNvPr id="9" name="A badly built one"/>
          <p:cNvSpPr/>
          <p:nvPr/>
        </p:nvSpPr>
        <p:spPr>
          <a:xfrm>
            <a:off x="6172200" y="1783080"/>
            <a:ext cx="5440680" cy="4160520"/>
          </a:xfrm>
          <a:prstGeom prst="roundRect">
            <a:avLst>
              <a:gd name="adj" fmla="val 2198"/>
            </a:avLst>
          </a:prstGeom>
          <a:solidFill>
            <a:schemeClr val="bg1"/>
          </a:solidFill>
          <a:ln/>
          <a:effectLst>
            <a:outerShdw sx="100000" sy="100000" kx="0" ky="0" algn="bl" rotWithShape="0" blurRad="177800" dist="38100" dir="5400000">
              <a:srgbClr val="1B2A4A">
                <a:alpha val="12000"/>
              </a:srgbClr>
            </a:outerShdw>
          </a:effectLst>
        </p:spPr>
      </p:sp>
      <p:pic>
        <p:nvPicPr>
          <p:cNvPr id="10" name="Image 1" descr="preencoded.png">    </p:cNvPr>
          <p:cNvPicPr>
            <a:picLocks noChangeAspect="1"/>
          </p:cNvPicPr>
          <p:nvPr/>
        </p:nvPicPr>
        <p:blipFill>
          <a:blip r:embed="rId2"/>
          <a:stretch>
            <a:fillRect/>
          </a:stretch>
        </p:blipFill>
        <p:spPr>
          <a:xfrm>
            <a:off x="6537960" y="2103120"/>
            <a:ext cx="502920" cy="502920"/>
          </a:xfrm>
          <a:prstGeom prst="rect">
            <a:avLst/>
          </a:prstGeom>
        </p:spPr>
      </p:pic>
      <p:sp>
        <p:nvSpPr>
          <p:cNvPr id="11" name="Text 6"/>
          <p:cNvSpPr txBox="1"/>
          <p:nvPr/>
        </p:nvSpPr>
        <p:spPr>
          <a:xfrm>
            <a:off x="6537960" y="2743200"/>
            <a:ext cx="475488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A badly built one</a:t>
            </a:r>
            <a:endParaRPr lang="en-US" sz="2200" dirty="0"/>
          </a:p>
        </p:txBody>
      </p:sp>
      <p:sp>
        <p:nvSpPr>
          <p:cNvPr id="12" name="Text 7"/>
          <p:cNvSpPr txBox="1"/>
          <p:nvPr/>
        </p:nvSpPr>
        <p:spPr>
          <a:xfrm>
            <a:off x="6537960" y="3337560"/>
            <a:ext cx="4754880" cy="24688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Every slide on a blank layout</a:t>
            </a:r>
            <a:endParaRPr lang="en-US" sz="1600" dirty="0"/>
          </a:p>
          <a:p>
            <a:pPr marL="342900" indent="-342900">
              <a:spcAft>
                <a:spcPts val="600"/>
              </a:spcAft>
              <a:buSzPct val="100000"/>
              <a:buChar char="•"/>
            </a:pPr>
            <a:r>
              <a:rPr lang="en-US" sz="1600" dirty="0">
                <a:solidFill>
                  <a:schemeClr val="tx1"/>
                </a:solidFill>
              </a:rPr>
              <a:t>Titles as loose text boxes</a:t>
            </a:r>
            <a:endParaRPr lang="en-US" sz="1600" dirty="0"/>
          </a:p>
          <a:p>
            <a:pPr marL="342900" indent="-342900">
              <a:spcAft>
                <a:spcPts val="600"/>
              </a:spcAft>
              <a:buSzPct val="100000"/>
              <a:buChar char="•"/>
            </a:pPr>
            <a:r>
              <a:rPr lang="en-US" sz="1600" dirty="0">
                <a:solidFill>
                  <a:schemeClr val="tx1"/>
                </a:solidFill>
              </a:rPr>
              <a:t>Fonts and colours typed in by hand</a:t>
            </a:r>
            <a:endParaRPr lang="en-US" sz="1600" dirty="0"/>
          </a:p>
          <a:p>
            <a:pPr marL="342900" indent="-342900">
              <a:spcAft>
                <a:spcPts val="600"/>
              </a:spcAft>
              <a:buSzPct val="100000"/>
              <a:buChar char="•"/>
            </a:pPr>
            <a:r>
              <a:rPr lang="en-US" sz="1600" dirty="0">
                <a:solidFill>
                  <a:schemeClr val="tx1"/>
                </a:solidFill>
              </a:rPr>
              <a:t>AI copies what it sees, and drifts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06</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Fill the templates</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Look under the hood of both decks</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Look at the memo's styles</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Fill the memo</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Make the deck from the good template</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6.5</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Do it again with the bad template</a:t>
            </a:r>
            <a:endParaRPr lang="en-US" sz="1600" dirty="0"/>
          </a:p>
        </p:txBody>
      </p:sp>
      <p:sp>
        <p:nvSpPr>
          <p:cNvPr id="15"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6"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7" name="Text 13"/>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8" name="Text 14"/>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Your memo keeps the template's headings and has no grey placeholders left. You can name one difference between the two decks.</a:t>
            </a:r>
            <a:endParaRPr lang="en-US" sz="1600" dirty="0"/>
          </a:p>
        </p:txBody>
      </p:sp>
      <p:sp>
        <p:nvSpPr>
          <p:cNvPr id="19" name="Divider line"/>
          <p:cNvSpPr/>
          <p:nvPr/>
        </p:nvSpPr>
        <p:spPr>
          <a:xfrm>
            <a:off x="7909560" y="4983480"/>
            <a:ext cx="3429000" cy="0"/>
          </a:xfrm>
          <a:prstGeom prst="line">
            <a:avLst/>
          </a:prstGeom>
          <a:noFill/>
          <a:ln w="12700">
            <a:solidFill>
              <a:srgbClr val="E0E0E0"/>
            </a:solidFill>
            <a:prstDash val="solid"/>
          </a:ln>
        </p:spPr>
      </p:sp>
      <p:sp>
        <p:nvSpPr>
          <p:cNvPr id="20" name="Text 16"/>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06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07</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Evaluating AI Output</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Measure  |  45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scoresheet for your Checker on ten test cases, a score out of 20, and better instructions.</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07</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Two kinds of mistake</a:t>
            </a:r>
            <a:endParaRPr lang="en-US" sz="3200" dirty="0"/>
          </a:p>
        </p:txBody>
      </p:sp>
      <p:sp>
        <p:nvSpPr>
          <p:cNvPr id="5" name="False negative"/>
          <p:cNvSpPr/>
          <p:nvPr/>
        </p:nvSpPr>
        <p:spPr>
          <a:xfrm>
            <a:off x="548640" y="1783080"/>
            <a:ext cx="5440680" cy="4160520"/>
          </a:xfrm>
          <a:prstGeom prst="roundRect">
            <a:avLst>
              <a:gd name="adj" fmla="val 2198"/>
            </a:avLst>
          </a:prstGeom>
          <a:solidFill>
            <a:schemeClr val="bg1"/>
          </a:solidFill>
          <a:ln/>
          <a:effectLst>
            <a:outerShdw sx="100000" sy="100000" kx="0" ky="0" algn="bl" rotWithShape="0" blurRad="177800" dist="38100" dir="5400000">
              <a:srgbClr val="1B2A4A">
                <a:alpha val="12000"/>
              </a:srgbClr>
            </a:outerShdw>
          </a:effectLst>
        </p:spPr>
      </p:sp>
      <p:pic>
        <p:nvPicPr>
          <p:cNvPr id="6" name="Image 0" descr="preencoded.png">    </p:cNvPr>
          <p:cNvPicPr>
            <a:picLocks noChangeAspect="1"/>
          </p:cNvPicPr>
          <p:nvPr/>
        </p:nvPicPr>
        <p:blipFill>
          <a:blip r:embed="rId1"/>
          <a:stretch>
            <a:fillRect/>
          </a:stretch>
        </p:blipFill>
        <p:spPr>
          <a:xfrm>
            <a:off x="914400" y="2103120"/>
            <a:ext cx="502920" cy="502920"/>
          </a:xfrm>
          <a:prstGeom prst="rect">
            <a:avLst/>
          </a:prstGeom>
        </p:spPr>
      </p:pic>
      <p:sp>
        <p:nvSpPr>
          <p:cNvPr id="7" name="Text 3"/>
          <p:cNvSpPr txBox="1"/>
          <p:nvPr/>
        </p:nvSpPr>
        <p:spPr>
          <a:xfrm>
            <a:off x="914400" y="2743200"/>
            <a:ext cx="475488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False negative</a:t>
            </a:r>
            <a:endParaRPr lang="en-US" sz="2200" dirty="0"/>
          </a:p>
        </p:txBody>
      </p:sp>
      <p:sp>
        <p:nvSpPr>
          <p:cNvPr id="8" name="Text 4"/>
          <p:cNvSpPr txBox="1"/>
          <p:nvPr/>
        </p:nvSpPr>
        <p:spPr>
          <a:xfrm>
            <a:off x="914400" y="3337560"/>
            <a:ext cx="4754880" cy="24688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Passes a quotation that should fail</a:t>
            </a:r>
            <a:endParaRPr lang="en-US" sz="1600" dirty="0"/>
          </a:p>
          <a:p>
            <a:pPr marL="342900" indent="-342900">
              <a:spcAft>
                <a:spcPts val="600"/>
              </a:spcAft>
              <a:buSzPct val="100000"/>
              <a:buChar char="•"/>
            </a:pPr>
            <a:r>
              <a:rPr lang="en-US" sz="1600" dirty="0">
                <a:solidFill>
                  <a:schemeClr val="tx1"/>
                </a:solidFill>
              </a:rPr>
              <a:t>A bad quotation gets through</a:t>
            </a:r>
            <a:endParaRPr lang="en-US" sz="1600" dirty="0"/>
          </a:p>
          <a:p>
            <a:pPr marL="342900" indent="-342900">
              <a:spcAft>
                <a:spcPts val="600"/>
              </a:spcAft>
              <a:buSzPct val="100000"/>
              <a:buChar char="•"/>
            </a:pPr>
            <a:r>
              <a:rPr lang="en-US" sz="1600" dirty="0">
                <a:solidFill>
                  <a:schemeClr val="tx1"/>
                </a:solidFill>
              </a:rPr>
              <a:t>Usually the costly one</a:t>
            </a:r>
            <a:endParaRPr lang="en-US" sz="1600" dirty="0"/>
          </a:p>
        </p:txBody>
      </p:sp>
      <p:sp>
        <p:nvSpPr>
          <p:cNvPr id="9" name="False positive"/>
          <p:cNvSpPr/>
          <p:nvPr/>
        </p:nvSpPr>
        <p:spPr>
          <a:xfrm>
            <a:off x="6172200" y="1783080"/>
            <a:ext cx="5440680" cy="4160520"/>
          </a:xfrm>
          <a:prstGeom prst="roundRect">
            <a:avLst>
              <a:gd name="adj" fmla="val 2198"/>
            </a:avLst>
          </a:prstGeom>
          <a:solidFill>
            <a:schemeClr val="bg1"/>
          </a:solidFill>
          <a:ln/>
          <a:effectLst>
            <a:outerShdw sx="100000" sy="100000" kx="0" ky="0" algn="bl" rotWithShape="0" blurRad="177800" dist="38100" dir="5400000">
              <a:srgbClr val="1B2A4A">
                <a:alpha val="12000"/>
              </a:srgbClr>
            </a:outerShdw>
          </a:effectLst>
        </p:spPr>
      </p:sp>
      <p:pic>
        <p:nvPicPr>
          <p:cNvPr id="10" name="Image 1" descr="preencoded.png">    </p:cNvPr>
          <p:cNvPicPr>
            <a:picLocks noChangeAspect="1"/>
          </p:cNvPicPr>
          <p:nvPr/>
        </p:nvPicPr>
        <p:blipFill>
          <a:blip r:embed="rId2"/>
          <a:stretch>
            <a:fillRect/>
          </a:stretch>
        </p:blipFill>
        <p:spPr>
          <a:xfrm>
            <a:off x="6537960" y="2103120"/>
            <a:ext cx="502920" cy="502920"/>
          </a:xfrm>
          <a:prstGeom prst="rect">
            <a:avLst/>
          </a:prstGeom>
        </p:spPr>
      </p:pic>
      <p:sp>
        <p:nvSpPr>
          <p:cNvPr id="11" name="Text 6"/>
          <p:cNvSpPr txBox="1"/>
          <p:nvPr/>
        </p:nvSpPr>
        <p:spPr>
          <a:xfrm>
            <a:off x="6537960" y="2743200"/>
            <a:ext cx="4754880" cy="457200"/>
          </a:xfrm>
          <a:prstGeom prst="rect">
            <a:avLst/>
          </a:prstGeom>
          <a:noFill/>
          <a:ln/>
        </p:spPr>
        <p:txBody>
          <a:bodyPr wrap="square" lIns="0" tIns="0" rIns="0" bIns="0" rtlCol="0" anchor="t"/>
          <a:lstStyle/>
          <a:p>
            <a:pPr indent="0" marL="0">
              <a:buNone/>
            </a:pPr>
            <a:r>
              <a:rPr lang="en-US" sz="2200" dirty="0">
                <a:solidFill>
                  <a:schemeClr val="tx1"/>
                </a:solidFill>
                <a:latin typeface="Segoe UI Semibold" pitchFamily="34" charset="0"/>
                <a:ea typeface="Segoe UI Semibold" pitchFamily="34" charset="-122"/>
                <a:cs typeface="Segoe UI Semibold" pitchFamily="34" charset="-120"/>
              </a:rPr>
              <a:t>False positive</a:t>
            </a:r>
            <a:endParaRPr lang="en-US" sz="2200" dirty="0"/>
          </a:p>
        </p:txBody>
      </p:sp>
      <p:sp>
        <p:nvSpPr>
          <p:cNvPr id="12" name="Text 7"/>
          <p:cNvSpPr txBox="1"/>
          <p:nvPr/>
        </p:nvSpPr>
        <p:spPr>
          <a:xfrm>
            <a:off x="6537960" y="3337560"/>
            <a:ext cx="4754880" cy="24688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Fails a quotation that should pass</a:t>
            </a:r>
            <a:endParaRPr lang="en-US" sz="1600" dirty="0"/>
          </a:p>
          <a:p>
            <a:pPr marL="342900" indent="-342900">
              <a:spcAft>
                <a:spcPts val="600"/>
              </a:spcAft>
              <a:buSzPct val="100000"/>
              <a:buChar char="•"/>
            </a:pPr>
            <a:r>
              <a:rPr lang="en-US" sz="1600" dirty="0">
                <a:solidFill>
                  <a:schemeClr val="tx1"/>
                </a:solidFill>
              </a:rPr>
              <a:t>Wastes time with the supplier</a:t>
            </a:r>
            <a:endParaRPr lang="en-US" sz="1600" dirty="0"/>
          </a:p>
          <a:p>
            <a:pPr marL="342900" indent="-342900">
              <a:spcAft>
                <a:spcPts val="600"/>
              </a:spcAft>
              <a:buSzPct val="100000"/>
              <a:buChar char="•"/>
            </a:pPr>
            <a:r>
              <a:rPr lang="en-US" sz="1600" dirty="0">
                <a:solidFill>
                  <a:schemeClr val="tx1"/>
                </a:solidFill>
              </a:rPr>
              <a:t>Teaches people to ignore the Checker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07</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Test, score, change one thing, test again</a:t>
            </a:r>
            <a:endParaRPr lang="en-US" sz="3200" dirty="0"/>
          </a:p>
        </p:txBody>
      </p:sp>
      <p:sp>
        <p:nvSpPr>
          <p:cNvPr id="5" name="Text 2"/>
          <p:cNvSpPr txBox="1"/>
          <p:nvPr/>
        </p:nvSpPr>
        <p:spPr>
          <a:xfrm>
            <a:off x="548640" y="1783080"/>
            <a:ext cx="411480" cy="1005840"/>
          </a:xfrm>
          <a:prstGeom prst="rect">
            <a:avLst/>
          </a:prstGeom>
          <a:noFill/>
          <a:ln/>
        </p:spPr>
        <p:txBody>
          <a:bodyPr wrap="square" lIns="0" tIns="0" rIns="0" bIns="0" rtlCol="0" anchor="t"/>
          <a:lstStyle/>
          <a:p>
            <a:pPr indent="0" marL="0">
              <a:buNone/>
            </a:pPr>
            <a:r>
              <a:rPr lang="en-US" sz="2200" dirty="0">
                <a:solidFill>
                  <a:schemeClr val="accent1"/>
                </a:solidFill>
                <a:latin typeface="Segoe UI Semibold" pitchFamily="34" charset="0"/>
                <a:ea typeface="Segoe UI Semibold" pitchFamily="34" charset="-122"/>
                <a:cs typeface="Segoe UI Semibold" pitchFamily="34" charset="-120"/>
              </a:rPr>
              <a:t>1</a:t>
            </a:r>
            <a:endParaRPr lang="en-US" sz="2200" dirty="0"/>
          </a:p>
        </p:txBody>
      </p:sp>
      <p:sp>
        <p:nvSpPr>
          <p:cNvPr id="6" name="Text 3"/>
          <p:cNvSpPr txBox="1"/>
          <p:nvPr/>
        </p:nvSpPr>
        <p:spPr>
          <a:xfrm>
            <a:off x="1005840" y="1819656"/>
            <a:ext cx="10515600" cy="10058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Fix the test set first</a:t>
            </a:r>
            <a:endParaRPr lang="en-US" sz="1800" dirty="0"/>
          </a:p>
          <a:p>
            <a:pPr indent="0" marL="0">
              <a:buNone/>
            </a:pPr>
            <a:r>
              <a:rPr lang="en-US" sz="1800" dirty="0">
                <a:solidFill>
                  <a:schemeClr val="accent4"/>
                </a:solidFill>
              </a:rPr>
              <a:t>Cases with known answers, before the AI sees them</a:t>
            </a:r>
            <a:endParaRPr lang="en-US" sz="1800" dirty="0"/>
          </a:p>
        </p:txBody>
      </p:sp>
      <p:sp>
        <p:nvSpPr>
          <p:cNvPr id="7" name="Text 4"/>
          <p:cNvSpPr txBox="1"/>
          <p:nvPr/>
        </p:nvSpPr>
        <p:spPr>
          <a:xfrm>
            <a:off x="548640" y="2788920"/>
            <a:ext cx="411480" cy="1005840"/>
          </a:xfrm>
          <a:prstGeom prst="rect">
            <a:avLst/>
          </a:prstGeom>
          <a:noFill/>
          <a:ln/>
        </p:spPr>
        <p:txBody>
          <a:bodyPr wrap="square" lIns="0" tIns="0" rIns="0" bIns="0" rtlCol="0" anchor="t"/>
          <a:lstStyle/>
          <a:p>
            <a:pPr indent="0" marL="0">
              <a:buNone/>
            </a:pPr>
            <a:r>
              <a:rPr lang="en-US" sz="2200" dirty="0">
                <a:solidFill>
                  <a:schemeClr val="accent1"/>
                </a:solidFill>
                <a:latin typeface="Segoe UI Semibold" pitchFamily="34" charset="0"/>
                <a:ea typeface="Segoe UI Semibold" pitchFamily="34" charset="-122"/>
                <a:cs typeface="Segoe UI Semibold" pitchFamily="34" charset="-120"/>
              </a:rPr>
              <a:t>2</a:t>
            </a:r>
            <a:endParaRPr lang="en-US" sz="2200" dirty="0"/>
          </a:p>
        </p:txBody>
      </p:sp>
      <p:sp>
        <p:nvSpPr>
          <p:cNvPr id="8" name="Text 5"/>
          <p:cNvSpPr txBox="1"/>
          <p:nvPr/>
        </p:nvSpPr>
        <p:spPr>
          <a:xfrm>
            <a:off x="1005840" y="2825496"/>
            <a:ext cx="10515600" cy="10058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Score the verdict and the reason</a:t>
            </a:r>
            <a:endParaRPr lang="en-US" sz="1800" dirty="0"/>
          </a:p>
          <a:p>
            <a:pPr indent="0" marL="0">
              <a:buNone/>
            </a:pPr>
            <a:r>
              <a:rPr lang="en-US" sz="1800" dirty="0">
                <a:solidFill>
                  <a:schemeClr val="accent4"/>
                </a:solidFill>
              </a:rPr>
              <a:t>1 point each, 20 in all</a:t>
            </a:r>
            <a:endParaRPr lang="en-US" sz="1800" dirty="0"/>
          </a:p>
        </p:txBody>
      </p:sp>
      <p:sp>
        <p:nvSpPr>
          <p:cNvPr id="9" name="Text 6"/>
          <p:cNvSpPr txBox="1"/>
          <p:nvPr/>
        </p:nvSpPr>
        <p:spPr>
          <a:xfrm>
            <a:off x="548640" y="3794760"/>
            <a:ext cx="411480" cy="1005840"/>
          </a:xfrm>
          <a:prstGeom prst="rect">
            <a:avLst/>
          </a:prstGeom>
          <a:noFill/>
          <a:ln/>
        </p:spPr>
        <p:txBody>
          <a:bodyPr wrap="square" lIns="0" tIns="0" rIns="0" bIns="0" rtlCol="0" anchor="t"/>
          <a:lstStyle/>
          <a:p>
            <a:pPr indent="0" marL="0">
              <a:buNone/>
            </a:pPr>
            <a:r>
              <a:rPr lang="en-US" sz="2200" dirty="0">
                <a:solidFill>
                  <a:schemeClr val="accent1"/>
                </a:solidFill>
                <a:latin typeface="Segoe UI Semibold" pitchFamily="34" charset="0"/>
                <a:ea typeface="Segoe UI Semibold" pitchFamily="34" charset="-122"/>
                <a:cs typeface="Segoe UI Semibold" pitchFamily="34" charset="-120"/>
              </a:rPr>
              <a:t>3</a:t>
            </a:r>
            <a:endParaRPr lang="en-US" sz="2200" dirty="0"/>
          </a:p>
        </p:txBody>
      </p:sp>
      <p:sp>
        <p:nvSpPr>
          <p:cNvPr id="10" name="Text 7"/>
          <p:cNvSpPr txBox="1"/>
          <p:nvPr/>
        </p:nvSpPr>
        <p:spPr>
          <a:xfrm>
            <a:off x="1005840" y="3831336"/>
            <a:ext cx="10515600" cy="10058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Change one thing</a:t>
            </a:r>
            <a:endParaRPr lang="en-US" sz="1800" dirty="0"/>
          </a:p>
          <a:p>
            <a:pPr indent="0" marL="0">
              <a:buNone/>
            </a:pPr>
            <a:r>
              <a:rPr lang="en-US" sz="1800" dirty="0">
                <a:solidFill>
                  <a:schemeClr val="accent4"/>
                </a:solidFill>
              </a:rPr>
              <a:t>One rule in the instructions</a:t>
            </a:r>
            <a:endParaRPr lang="en-US" sz="1800" dirty="0"/>
          </a:p>
        </p:txBody>
      </p:sp>
      <p:sp>
        <p:nvSpPr>
          <p:cNvPr id="11" name="Text 8"/>
          <p:cNvSpPr txBox="1"/>
          <p:nvPr/>
        </p:nvSpPr>
        <p:spPr>
          <a:xfrm>
            <a:off x="548640" y="4800600"/>
            <a:ext cx="411480" cy="1005840"/>
          </a:xfrm>
          <a:prstGeom prst="rect">
            <a:avLst/>
          </a:prstGeom>
          <a:noFill/>
          <a:ln/>
        </p:spPr>
        <p:txBody>
          <a:bodyPr wrap="square" lIns="0" tIns="0" rIns="0" bIns="0" rtlCol="0" anchor="t"/>
          <a:lstStyle/>
          <a:p>
            <a:pPr indent="0" marL="0">
              <a:buNone/>
            </a:pPr>
            <a:r>
              <a:rPr lang="en-US" sz="2200" dirty="0">
                <a:solidFill>
                  <a:schemeClr val="accent1"/>
                </a:solidFill>
                <a:latin typeface="Segoe UI Semibold" pitchFamily="34" charset="0"/>
                <a:ea typeface="Segoe UI Semibold" pitchFamily="34" charset="-122"/>
                <a:cs typeface="Segoe UI Semibold" pitchFamily="34" charset="-120"/>
              </a:rPr>
              <a:t>4</a:t>
            </a:r>
            <a:endParaRPr lang="en-US" sz="2200" dirty="0"/>
          </a:p>
        </p:txBody>
      </p:sp>
      <p:sp>
        <p:nvSpPr>
          <p:cNvPr id="12" name="Text 9"/>
          <p:cNvSpPr txBox="1"/>
          <p:nvPr/>
        </p:nvSpPr>
        <p:spPr>
          <a:xfrm>
            <a:off x="1005840" y="4837176"/>
            <a:ext cx="10515600" cy="10058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Re-run every case</a:t>
            </a:r>
            <a:endParaRPr lang="en-US" sz="1800" dirty="0"/>
          </a:p>
          <a:p>
            <a:pPr indent="0" marL="0">
              <a:buNone/>
            </a:pPr>
            <a:r>
              <a:rPr lang="en-US" sz="1800" dirty="0">
                <a:solidFill>
                  <a:schemeClr val="accent4"/>
                </a:solidFill>
              </a:rPr>
              <a:t>Did anything that was right go wrong?</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07</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Score your Quotation Checker</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7.1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Set up your scoresheet</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7.2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Run the ten cases, each in a new chat</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7.3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Score the Checker</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7.4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Improve one thing and test again</a:t>
            </a:r>
            <a:endParaRPr lang="en-US" sz="1600" dirty="0"/>
          </a:p>
        </p:txBody>
      </p:sp>
      <p:sp>
        <p:nvSpPr>
          <p:cNvPr id="13"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4"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5" name="Text 11"/>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6" name="Text 12"/>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All ten rows are filled in and scored before anyone opens the answers.</a:t>
            </a:r>
            <a:endParaRPr lang="en-US" sz="1600" dirty="0"/>
          </a:p>
        </p:txBody>
      </p:sp>
      <p:sp>
        <p:nvSpPr>
          <p:cNvPr id="17" name="Divider line"/>
          <p:cNvSpPr/>
          <p:nvPr/>
        </p:nvSpPr>
        <p:spPr>
          <a:xfrm>
            <a:off x="7909560" y="4983480"/>
            <a:ext cx="3429000" cy="0"/>
          </a:xfrm>
          <a:prstGeom prst="line">
            <a:avLst/>
          </a:prstGeom>
          <a:noFill/>
          <a:ln w="12700">
            <a:solidFill>
              <a:srgbClr val="E0E0E0"/>
            </a:solidFill>
            <a:prstDash val="solid"/>
          </a:ln>
        </p:spPr>
      </p:sp>
      <p:sp>
        <p:nvSpPr>
          <p:cNvPr id="18" name="Text 14"/>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07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End of Day 1</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What you built today</a:t>
            </a:r>
            <a:endParaRPr lang="en-US" sz="3200" dirty="0"/>
          </a:p>
        </p:txBody>
      </p:sp>
      <p:pic>
        <p:nvPicPr>
          <p:cNvPr id="5" name="Image 0" descr="preencoded.png">    </p:cNvPr>
          <p:cNvPicPr>
            <a:picLocks noChangeAspect="1"/>
          </p:cNvPicPr>
          <p:nvPr/>
        </p:nvPicPr>
        <p:blipFill>
          <a:blip r:embed="rId1"/>
          <a:stretch>
            <a:fillRect/>
          </a:stretch>
        </p:blipFill>
        <p:spPr>
          <a:xfrm>
            <a:off x="548640" y="1874520"/>
            <a:ext cx="384048" cy="384048"/>
          </a:xfrm>
          <a:prstGeom prst="rect">
            <a:avLst/>
          </a:prstGeom>
        </p:spPr>
      </p:pic>
      <p:sp>
        <p:nvSpPr>
          <p:cNvPr id="6" name="Text 2"/>
          <p:cNvSpPr txBox="1"/>
          <p:nvPr/>
        </p:nvSpPr>
        <p:spPr>
          <a:xfrm>
            <a:off x="1188720" y="1783080"/>
            <a:ext cx="5120640" cy="548640"/>
          </a:xfrm>
          <a:prstGeom prst="rect">
            <a:avLst/>
          </a:prstGeom>
          <a:noFill/>
          <a:ln/>
        </p:spPr>
        <p:txBody>
          <a:bodyPr wrap="square" lIns="0" tIns="0" rIns="0" bIns="0" rtlCol="0" anchor="ctr"/>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How models behave</a:t>
            </a:r>
            <a:endParaRPr lang="en-US" sz="1900" dirty="0"/>
          </a:p>
        </p:txBody>
      </p:sp>
      <p:sp>
        <p:nvSpPr>
          <p:cNvPr id="7" name="Text 3"/>
          <p:cNvSpPr txBox="1"/>
          <p:nvPr/>
        </p:nvSpPr>
        <p:spPr>
          <a:xfrm>
            <a:off x="6400800" y="1783080"/>
            <a:ext cx="5212080" cy="548640"/>
          </a:xfrm>
          <a:prstGeom prst="rect">
            <a:avLst/>
          </a:prstGeom>
          <a:noFill/>
          <a:ln/>
        </p:spPr>
        <p:txBody>
          <a:bodyPr wrap="square" lIns="0" tIns="0" rIns="0" bIns="0" rtlCol="0" anchor="ctr"/>
          <a:lstStyle/>
          <a:p>
            <a:pPr indent="0" marL="0">
              <a:buNone/>
            </a:pPr>
            <a:r>
              <a:rPr lang="en-US" sz="1700" dirty="0">
                <a:solidFill>
                  <a:schemeClr val="accent4"/>
                </a:solidFill>
              </a:rPr>
              <a:t>and what to check</a:t>
            </a:r>
            <a:endParaRPr lang="en-US" sz="1700" dirty="0"/>
          </a:p>
        </p:txBody>
      </p:sp>
      <p:sp>
        <p:nvSpPr>
          <p:cNvPr id="8" name="Divider line"/>
          <p:cNvSpPr/>
          <p:nvPr/>
        </p:nvSpPr>
        <p:spPr>
          <a:xfrm>
            <a:off x="548640" y="2404872"/>
            <a:ext cx="11064240" cy="0"/>
          </a:xfrm>
          <a:prstGeom prst="line">
            <a:avLst/>
          </a:prstGeom>
          <a:noFill/>
          <a:ln w="12700">
            <a:solidFill>
              <a:srgbClr val="E0E0E0"/>
            </a:solidFill>
            <a:prstDash val="solid"/>
          </a:ln>
        </p:spPr>
      </p:sp>
      <p:pic>
        <p:nvPicPr>
          <p:cNvPr id="9" name="Image 1" descr="preencoded.png">    </p:cNvPr>
          <p:cNvPicPr>
            <a:picLocks noChangeAspect="1"/>
          </p:cNvPicPr>
          <p:nvPr/>
        </p:nvPicPr>
        <p:blipFill>
          <a:blip r:embed="rId2"/>
          <a:stretch>
            <a:fillRect/>
          </a:stretch>
        </p:blipFill>
        <p:spPr>
          <a:xfrm>
            <a:off x="548640" y="2560320"/>
            <a:ext cx="384048" cy="384048"/>
          </a:xfrm>
          <a:prstGeom prst="rect">
            <a:avLst/>
          </a:prstGeom>
        </p:spPr>
      </p:pic>
      <p:sp>
        <p:nvSpPr>
          <p:cNvPr id="10" name="Text 5"/>
          <p:cNvSpPr txBox="1"/>
          <p:nvPr/>
        </p:nvSpPr>
        <p:spPr>
          <a:xfrm>
            <a:off x="1188720" y="2468880"/>
            <a:ext cx="5120640" cy="548640"/>
          </a:xfrm>
          <a:prstGeom prst="rect">
            <a:avLst/>
          </a:prstGeom>
          <a:noFill/>
          <a:ln/>
        </p:spPr>
        <p:txBody>
          <a:bodyPr wrap="square" lIns="0" tIns="0" rIns="0" bIns="0" rtlCol="0" anchor="ctr"/>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A Quotation Checker</a:t>
            </a:r>
            <a:endParaRPr lang="en-US" sz="1900" dirty="0"/>
          </a:p>
        </p:txBody>
      </p:sp>
      <p:sp>
        <p:nvSpPr>
          <p:cNvPr id="11" name="Text 6"/>
          <p:cNvSpPr txBox="1"/>
          <p:nvPr/>
        </p:nvSpPr>
        <p:spPr>
          <a:xfrm>
            <a:off x="6400800" y="2468880"/>
            <a:ext cx="5212080" cy="548640"/>
          </a:xfrm>
          <a:prstGeom prst="rect">
            <a:avLst/>
          </a:prstGeom>
          <a:noFill/>
          <a:ln/>
        </p:spPr>
        <p:txBody>
          <a:bodyPr wrap="square" lIns="0" tIns="0" rIns="0" bIns="0" rtlCol="0" anchor="ctr"/>
          <a:lstStyle/>
          <a:p>
            <a:pPr indent="0" marL="0">
              <a:buNone/>
            </a:pPr>
            <a:r>
              <a:rPr lang="en-US" sz="1700" dirty="0">
                <a:solidFill>
                  <a:schemeClr val="accent4"/>
                </a:solidFill>
              </a:rPr>
              <a:t>with instructions you wrote</a:t>
            </a:r>
            <a:endParaRPr lang="en-US" sz="1700" dirty="0"/>
          </a:p>
        </p:txBody>
      </p:sp>
      <p:sp>
        <p:nvSpPr>
          <p:cNvPr id="12" name="Divider line"/>
          <p:cNvSpPr/>
          <p:nvPr/>
        </p:nvSpPr>
        <p:spPr>
          <a:xfrm>
            <a:off x="548640" y="3090672"/>
            <a:ext cx="11064240" cy="0"/>
          </a:xfrm>
          <a:prstGeom prst="line">
            <a:avLst/>
          </a:prstGeom>
          <a:noFill/>
          <a:ln w="12700">
            <a:solidFill>
              <a:srgbClr val="E0E0E0"/>
            </a:solidFill>
            <a:prstDash val="solid"/>
          </a:ln>
        </p:spPr>
      </p:sp>
      <p:pic>
        <p:nvPicPr>
          <p:cNvPr id="13" name="Image 2" descr="preencoded.png">    </p:cNvPr>
          <p:cNvPicPr>
            <a:picLocks noChangeAspect="1"/>
          </p:cNvPicPr>
          <p:nvPr/>
        </p:nvPicPr>
        <p:blipFill>
          <a:blip r:embed="rId3"/>
          <a:stretch>
            <a:fillRect/>
          </a:stretch>
        </p:blipFill>
        <p:spPr>
          <a:xfrm>
            <a:off x="548640" y="3246120"/>
            <a:ext cx="384048" cy="384048"/>
          </a:xfrm>
          <a:prstGeom prst="rect">
            <a:avLst/>
          </a:prstGeom>
        </p:spPr>
      </p:pic>
      <p:sp>
        <p:nvSpPr>
          <p:cNvPr id="14" name="Text 8"/>
          <p:cNvSpPr txBox="1"/>
          <p:nvPr/>
        </p:nvSpPr>
        <p:spPr>
          <a:xfrm>
            <a:off x="1188720" y="3154680"/>
            <a:ext cx="5120640" cy="548640"/>
          </a:xfrm>
          <a:prstGeom prst="rect">
            <a:avLst/>
          </a:prstGeom>
          <a:noFill/>
          <a:ln/>
        </p:spPr>
        <p:txBody>
          <a:bodyPr wrap="square" lIns="0" tIns="0" rIns="0" bIns="0" rtlCol="0" anchor="ctr"/>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A policy notebook</a:t>
            </a:r>
            <a:endParaRPr lang="en-US" sz="1900" dirty="0"/>
          </a:p>
        </p:txBody>
      </p:sp>
      <p:sp>
        <p:nvSpPr>
          <p:cNvPr id="15" name="Text 9"/>
          <p:cNvSpPr txBox="1"/>
          <p:nvPr/>
        </p:nvSpPr>
        <p:spPr>
          <a:xfrm>
            <a:off x="6400800" y="3154680"/>
            <a:ext cx="5212080" cy="548640"/>
          </a:xfrm>
          <a:prstGeom prst="rect">
            <a:avLst/>
          </a:prstGeom>
          <a:noFill/>
          <a:ln/>
        </p:spPr>
        <p:txBody>
          <a:bodyPr wrap="square" lIns="0" tIns="0" rIns="0" bIns="0" rtlCol="0" anchor="ctr"/>
          <a:lstStyle/>
          <a:p>
            <a:pPr indent="0" marL="0">
              <a:buNone/>
            </a:pPr>
            <a:r>
              <a:rPr lang="en-US" sz="1700" dirty="0">
                <a:solidFill>
                  <a:schemeClr val="accent4"/>
                </a:solidFill>
              </a:rPr>
              <a:t>with citations you checked</a:t>
            </a:r>
            <a:endParaRPr lang="en-US" sz="1700" dirty="0"/>
          </a:p>
        </p:txBody>
      </p:sp>
      <p:sp>
        <p:nvSpPr>
          <p:cNvPr id="16" name="Divider line"/>
          <p:cNvSpPr/>
          <p:nvPr/>
        </p:nvSpPr>
        <p:spPr>
          <a:xfrm>
            <a:off x="548640" y="3776472"/>
            <a:ext cx="11064240" cy="0"/>
          </a:xfrm>
          <a:prstGeom prst="line">
            <a:avLst/>
          </a:prstGeom>
          <a:noFill/>
          <a:ln w="12700">
            <a:solidFill>
              <a:srgbClr val="E0E0E0"/>
            </a:solidFill>
            <a:prstDash val="solid"/>
          </a:ln>
        </p:spPr>
      </p:sp>
      <p:pic>
        <p:nvPicPr>
          <p:cNvPr id="17" name="Image 3" descr="preencoded.png">    </p:cNvPr>
          <p:cNvPicPr>
            <a:picLocks noChangeAspect="1"/>
          </p:cNvPicPr>
          <p:nvPr/>
        </p:nvPicPr>
        <p:blipFill>
          <a:blip r:embed="rId4"/>
          <a:stretch>
            <a:fillRect/>
          </a:stretch>
        </p:blipFill>
        <p:spPr>
          <a:xfrm>
            <a:off x="548640" y="3931920"/>
            <a:ext cx="384048" cy="384048"/>
          </a:xfrm>
          <a:prstGeom prst="rect">
            <a:avLst/>
          </a:prstGeom>
        </p:spPr>
      </p:pic>
      <p:sp>
        <p:nvSpPr>
          <p:cNvPr id="18" name="Text 11"/>
          <p:cNvSpPr txBox="1"/>
          <p:nvPr/>
        </p:nvSpPr>
        <p:spPr>
          <a:xfrm>
            <a:off x="1188720" y="3840480"/>
            <a:ext cx="5120640" cy="548640"/>
          </a:xfrm>
          <a:prstGeom prst="rect">
            <a:avLst/>
          </a:prstGeom>
          <a:noFill/>
          <a:ln/>
        </p:spPr>
        <p:txBody>
          <a:bodyPr wrap="square" lIns="0" tIns="0" rIns="0" bIns="0" rtlCol="0" anchor="ctr"/>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A spend analysis</a:t>
            </a:r>
            <a:endParaRPr lang="en-US" sz="1900" dirty="0"/>
          </a:p>
        </p:txBody>
      </p:sp>
      <p:sp>
        <p:nvSpPr>
          <p:cNvPr id="19" name="Text 12"/>
          <p:cNvSpPr txBox="1"/>
          <p:nvPr/>
        </p:nvSpPr>
        <p:spPr>
          <a:xfrm>
            <a:off x="6400800" y="3840480"/>
            <a:ext cx="5212080" cy="548640"/>
          </a:xfrm>
          <a:prstGeom prst="rect">
            <a:avLst/>
          </a:prstGeom>
          <a:noFill/>
          <a:ln/>
        </p:spPr>
        <p:txBody>
          <a:bodyPr wrap="square" lIns="0" tIns="0" rIns="0" bIns="0" rtlCol="0" anchor="ctr"/>
          <a:lstStyle/>
          <a:p>
            <a:pPr indent="0" marL="0">
              <a:buNone/>
            </a:pPr>
            <a:r>
              <a:rPr lang="en-US" sz="1700" dirty="0">
                <a:solidFill>
                  <a:schemeClr val="accent4"/>
                </a:solidFill>
              </a:rPr>
              <a:t>checked in Excel</a:t>
            </a:r>
            <a:endParaRPr lang="en-US" sz="1700" dirty="0"/>
          </a:p>
        </p:txBody>
      </p:sp>
      <p:sp>
        <p:nvSpPr>
          <p:cNvPr id="20" name="Divider line"/>
          <p:cNvSpPr/>
          <p:nvPr/>
        </p:nvSpPr>
        <p:spPr>
          <a:xfrm>
            <a:off x="548640" y="4462272"/>
            <a:ext cx="11064240" cy="0"/>
          </a:xfrm>
          <a:prstGeom prst="line">
            <a:avLst/>
          </a:prstGeom>
          <a:noFill/>
          <a:ln w="12700">
            <a:solidFill>
              <a:srgbClr val="E0E0E0"/>
            </a:solidFill>
            <a:prstDash val="solid"/>
          </a:ln>
        </p:spPr>
      </p:sp>
      <p:pic>
        <p:nvPicPr>
          <p:cNvPr id="21" name="Image 4" descr="preencoded.png">    </p:cNvPr>
          <p:cNvPicPr>
            <a:picLocks noChangeAspect="1"/>
          </p:cNvPicPr>
          <p:nvPr/>
        </p:nvPicPr>
        <p:blipFill>
          <a:blip r:embed="rId5"/>
          <a:stretch>
            <a:fillRect/>
          </a:stretch>
        </p:blipFill>
        <p:spPr>
          <a:xfrm>
            <a:off x="548640" y="4617720"/>
            <a:ext cx="384048" cy="384048"/>
          </a:xfrm>
          <a:prstGeom prst="rect">
            <a:avLst/>
          </a:prstGeom>
        </p:spPr>
      </p:pic>
      <p:sp>
        <p:nvSpPr>
          <p:cNvPr id="22" name="Text 14"/>
          <p:cNvSpPr txBox="1"/>
          <p:nvPr/>
        </p:nvSpPr>
        <p:spPr>
          <a:xfrm>
            <a:off x="1188720" y="4526280"/>
            <a:ext cx="5120640" cy="548640"/>
          </a:xfrm>
          <a:prstGeom prst="rect">
            <a:avLst/>
          </a:prstGeom>
          <a:noFill/>
          <a:ln/>
        </p:spPr>
        <p:txBody>
          <a:bodyPr wrap="square" lIns="0" tIns="0" rIns="0" bIns="0" rtlCol="0" anchor="ctr"/>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A memo and a deck</a:t>
            </a:r>
            <a:endParaRPr lang="en-US" sz="1900" dirty="0"/>
          </a:p>
        </p:txBody>
      </p:sp>
      <p:sp>
        <p:nvSpPr>
          <p:cNvPr id="23" name="Text 15"/>
          <p:cNvSpPr txBox="1"/>
          <p:nvPr/>
        </p:nvSpPr>
        <p:spPr>
          <a:xfrm>
            <a:off x="6400800" y="4526280"/>
            <a:ext cx="5212080" cy="548640"/>
          </a:xfrm>
          <a:prstGeom prst="rect">
            <a:avLst/>
          </a:prstGeom>
          <a:noFill/>
          <a:ln/>
        </p:spPr>
        <p:txBody>
          <a:bodyPr wrap="square" lIns="0" tIns="0" rIns="0" bIns="0" rtlCol="0" anchor="ctr"/>
          <a:lstStyle/>
          <a:p>
            <a:pPr indent="0" marL="0">
              <a:buNone/>
            </a:pPr>
            <a:r>
              <a:rPr lang="en-US" sz="1700" dirty="0">
                <a:solidFill>
                  <a:schemeClr val="accent4"/>
                </a:solidFill>
              </a:rPr>
              <a:t>from company templates</a:t>
            </a:r>
            <a:endParaRPr lang="en-US" sz="1700" dirty="0"/>
          </a:p>
        </p:txBody>
      </p:sp>
      <p:sp>
        <p:nvSpPr>
          <p:cNvPr id="24" name="Divider line"/>
          <p:cNvSpPr/>
          <p:nvPr/>
        </p:nvSpPr>
        <p:spPr>
          <a:xfrm>
            <a:off x="548640" y="5148072"/>
            <a:ext cx="11064240" cy="0"/>
          </a:xfrm>
          <a:prstGeom prst="line">
            <a:avLst/>
          </a:prstGeom>
          <a:noFill/>
          <a:ln w="12700">
            <a:solidFill>
              <a:srgbClr val="E0E0E0"/>
            </a:solidFill>
            <a:prstDash val="solid"/>
          </a:ln>
        </p:spPr>
      </p:sp>
      <p:pic>
        <p:nvPicPr>
          <p:cNvPr id="25" name="Image 5" descr="preencoded.png">    </p:cNvPr>
          <p:cNvPicPr>
            <a:picLocks noChangeAspect="1"/>
          </p:cNvPicPr>
          <p:nvPr/>
        </p:nvPicPr>
        <p:blipFill>
          <a:blip r:embed="rId6"/>
          <a:stretch>
            <a:fillRect/>
          </a:stretch>
        </p:blipFill>
        <p:spPr>
          <a:xfrm>
            <a:off x="548640" y="5303520"/>
            <a:ext cx="384048" cy="384048"/>
          </a:xfrm>
          <a:prstGeom prst="rect">
            <a:avLst/>
          </a:prstGeom>
        </p:spPr>
      </p:pic>
      <p:sp>
        <p:nvSpPr>
          <p:cNvPr id="26" name="Text 17"/>
          <p:cNvSpPr txBox="1"/>
          <p:nvPr/>
        </p:nvSpPr>
        <p:spPr>
          <a:xfrm>
            <a:off x="1188720" y="5212080"/>
            <a:ext cx="5120640" cy="548640"/>
          </a:xfrm>
          <a:prstGeom prst="rect">
            <a:avLst/>
          </a:prstGeom>
          <a:noFill/>
          <a:ln/>
        </p:spPr>
        <p:txBody>
          <a:bodyPr wrap="square" lIns="0" tIns="0" rIns="0" bIns="0" rtlCol="0" anchor="ctr"/>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A score out of 20</a:t>
            </a:r>
            <a:endParaRPr lang="en-US" sz="1900" dirty="0"/>
          </a:p>
        </p:txBody>
      </p:sp>
      <p:sp>
        <p:nvSpPr>
          <p:cNvPr id="27" name="Text 18"/>
          <p:cNvSpPr txBox="1"/>
          <p:nvPr/>
        </p:nvSpPr>
        <p:spPr>
          <a:xfrm>
            <a:off x="6400800" y="5212080"/>
            <a:ext cx="5212080" cy="548640"/>
          </a:xfrm>
          <a:prstGeom prst="rect">
            <a:avLst/>
          </a:prstGeom>
          <a:noFill/>
          <a:ln/>
        </p:spPr>
        <p:txBody>
          <a:bodyPr wrap="square" lIns="0" tIns="0" rIns="0" bIns="0" rtlCol="0" anchor="ctr"/>
          <a:lstStyle/>
          <a:p>
            <a:pPr indent="0" marL="0">
              <a:buNone/>
            </a:pPr>
            <a:r>
              <a:rPr lang="en-US" sz="1700" dirty="0">
                <a:solidFill>
                  <a:schemeClr val="accent4"/>
                </a:solidFill>
              </a:rPr>
              <a:t>and one improvement you proved</a:t>
            </a:r>
            <a:endParaRPr lang="en-US" sz="1700" dirty="0"/>
          </a:p>
        </p:txBody>
      </p:sp>
      <p:sp>
        <p:nvSpPr>
          <p:cNvPr id="28" name="Divider line"/>
          <p:cNvSpPr/>
          <p:nvPr/>
        </p:nvSpPr>
        <p:spPr>
          <a:xfrm>
            <a:off x="548640" y="5833872"/>
            <a:ext cx="11064240" cy="0"/>
          </a:xfrm>
          <a:prstGeom prst="line">
            <a:avLst/>
          </a:prstGeom>
          <a:noFill/>
          <a:ln w="12700">
            <a:solidFill>
              <a:srgbClr val="E0E0E0"/>
            </a:solidFill>
            <a:prstDash val="solid"/>
          </a:ln>
        </p:spPr>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type="title" hasCustomPrompt="1"/>
          </p:nvPr>
        </p:nvSpPr>
        <p:spPr>
          <a:xfrm>
            <a:off x="731520" y="2011680"/>
            <a:ext cx="10241280" cy="1828800"/>
          </a:xfrm>
          <a:prstGeom prst="rect">
            <a:avLst/>
          </a:prstGeom>
          <a:noFill/>
          <a:ln/>
        </p:spPr>
        <p:txBody>
          <a:bodyPr wrap="square" lIns="0" tIns="0" rIns="0" bIns="0" rtlCol="0" anchor="b"/>
          <a:lstStyle/>
          <a:p>
            <a:pPr algn="l" indent="0" marL="0">
              <a:buNone/>
            </a:pPr>
            <a:r>
              <a:rPr lang="en-US" sz="4000" dirty="0">
                <a:solidFill>
                  <a:schemeClr val="accent1"/>
                </a:solidFill>
              </a:rPr>
              <a:t>Day 2: from assistant to workflow</a:t>
            </a:r>
            <a:endParaRPr lang="en-US" sz="4000" dirty="0"/>
          </a:p>
        </p:txBody>
      </p:sp>
      <p:sp>
        <p:nvSpPr>
          <p:cNvPr id="3" name="Text 0"/>
          <p:cNvSpPr/>
          <p:nvPr>
            <p:ph idx="102" type="body" hasCustomPrompt="1"/>
          </p:nvPr>
        </p:nvSpPr>
        <p:spPr>
          <a:xfrm>
            <a:off x="731520" y="4069080"/>
            <a:ext cx="9601200" cy="914400"/>
          </a:xfrm>
          <a:prstGeom prst="rect">
            <a:avLst/>
          </a:prstGeom>
          <a:noFill/>
          <a:ln/>
        </p:spPr>
        <p:txBody>
          <a:bodyPr wrap="square" lIns="0" tIns="0" rIns="0" bIns="0" rtlCol="0" anchor="t"/>
          <a:lstStyle/>
          <a:p>
            <a:pPr indent="0" marL="0">
              <a:buNone/>
            </a:pPr>
            <a:r>
              <a:rPr lang="en-US" sz="2000" dirty="0">
                <a:solidFill>
                  <a:schemeClr val="accent4"/>
                </a:solidFill>
              </a:rPr>
              <a:t>Connect it, automate it with a person's approval, attack it, govern it, then do it all again in the capstone.</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08</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AI Agents, Connectors and MCP</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Connect  |  45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systems map of the quotation process: each step, its system, read or write, and where a person approves.</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08</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An agent is an assistant that acts</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Assistant</a:t>
            </a:r>
            <a:endParaRPr lang="en-US" sz="2000" dirty="0"/>
          </a:p>
        </p:txBody>
      </p:sp>
      <p:sp>
        <p:nvSpPr>
          <p:cNvPr id="7" name="Text 3"/>
          <p:cNvSpPr txBox="1"/>
          <p:nvPr/>
        </p:nvSpPr>
        <p:spPr>
          <a:xfrm>
            <a:off x="548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Answers and drafts from what you give it</a:t>
            </a:r>
            <a:endParaRPr lang="en-US" sz="1600" dirty="0"/>
          </a:p>
        </p:txBody>
      </p:sp>
      <p:pic>
        <p:nvPicPr>
          <p:cNvPr id="8" name="Image 1" descr="preencoded.png">    </p:cNvPr>
          <p:cNvPicPr>
            <a:picLocks noChangeAspect="1"/>
          </p:cNvPicPr>
          <p:nvPr/>
        </p:nvPicPr>
        <p:blipFill>
          <a:blip r:embed="rId2"/>
          <a:stretch>
            <a:fillRect/>
          </a:stretch>
        </p:blipFill>
        <p:spPr>
          <a:xfrm>
            <a:off x="3406140" y="2011680"/>
            <a:ext cx="502920" cy="502920"/>
          </a:xfrm>
          <a:prstGeom prst="rect">
            <a:avLst/>
          </a:prstGeom>
        </p:spPr>
      </p:pic>
      <p:sp>
        <p:nvSpPr>
          <p:cNvPr id="9" name="Text 4"/>
          <p:cNvSpPr txBox="1"/>
          <p:nvPr/>
        </p:nvSpPr>
        <p:spPr>
          <a:xfrm>
            <a:off x="3406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Agent</a:t>
            </a:r>
            <a:endParaRPr lang="en-US" sz="2000" dirty="0"/>
          </a:p>
        </p:txBody>
      </p:sp>
      <p:sp>
        <p:nvSpPr>
          <p:cNvPr id="10" name="Text 5"/>
          <p:cNvSpPr txBox="1"/>
          <p:nvPr/>
        </p:nvSpPr>
        <p:spPr>
          <a:xfrm>
            <a:off x="3406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Also acts: searches, updates, sends, using tools</a:t>
            </a:r>
            <a:endParaRPr lang="en-US" sz="1600" dirty="0"/>
          </a:p>
        </p:txBody>
      </p:sp>
      <p:pic>
        <p:nvPicPr>
          <p:cNvPr id="11" name="Image 2" descr="preencoded.png">    </p:cNvPr>
          <p:cNvPicPr>
            <a:picLocks noChangeAspect="1"/>
          </p:cNvPicPr>
          <p:nvPr/>
        </p:nvPicPr>
        <p:blipFill>
          <a:blip r:embed="rId3"/>
          <a:stretch>
            <a:fillRect/>
          </a:stretch>
        </p:blipFill>
        <p:spPr>
          <a:xfrm>
            <a:off x="6263640" y="2011680"/>
            <a:ext cx="502920" cy="502920"/>
          </a:xfrm>
          <a:prstGeom prst="rect">
            <a:avLst/>
          </a:prstGeom>
        </p:spPr>
      </p:pic>
      <p:sp>
        <p:nvSpPr>
          <p:cNvPr id="12" name="Text 6"/>
          <p:cNvSpPr txBox="1"/>
          <p:nvPr/>
        </p:nvSpPr>
        <p:spPr>
          <a:xfrm>
            <a:off x="6263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Connector</a:t>
            </a:r>
            <a:endParaRPr lang="en-US" sz="2000" dirty="0"/>
          </a:p>
        </p:txBody>
      </p:sp>
      <p:sp>
        <p:nvSpPr>
          <p:cNvPr id="13" name="Text 7"/>
          <p:cNvSpPr txBox="1"/>
          <p:nvPr/>
        </p:nvSpPr>
        <p:spPr>
          <a:xfrm>
            <a:off x="6263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Links the AI to Outlook, Drive, SharePoint and more</a:t>
            </a:r>
            <a:endParaRPr lang="en-US" sz="1600" dirty="0"/>
          </a:p>
        </p:txBody>
      </p:sp>
      <p:pic>
        <p:nvPicPr>
          <p:cNvPr id="14" name="Image 3" descr="preencoded.png">    </p:cNvPr>
          <p:cNvPicPr>
            <a:picLocks noChangeAspect="1"/>
          </p:cNvPicPr>
          <p:nvPr/>
        </p:nvPicPr>
        <p:blipFill>
          <a:blip r:embed="rId4"/>
          <a:stretch>
            <a:fillRect/>
          </a:stretch>
        </p:blipFill>
        <p:spPr>
          <a:xfrm>
            <a:off x="9121140" y="2011680"/>
            <a:ext cx="502920" cy="502920"/>
          </a:xfrm>
          <a:prstGeom prst="rect">
            <a:avLst/>
          </a:prstGeom>
        </p:spPr>
      </p:pic>
      <p:sp>
        <p:nvSpPr>
          <p:cNvPr id="15" name="Text 8"/>
          <p:cNvSpPr txBox="1"/>
          <p:nvPr/>
        </p:nvSpPr>
        <p:spPr>
          <a:xfrm>
            <a:off x="9121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MCP</a:t>
            </a:r>
            <a:endParaRPr lang="en-US" sz="2000" dirty="0"/>
          </a:p>
        </p:txBody>
      </p:sp>
      <p:sp>
        <p:nvSpPr>
          <p:cNvPr id="16" name="Text 9"/>
          <p:cNvSpPr txBox="1"/>
          <p:nvPr/>
        </p:nvSpPr>
        <p:spPr>
          <a:xfrm>
            <a:off x="9121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A common standard for connectors, like USB-C for AI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type="title" hasCustomPrompt="1"/>
          </p:nvPr>
        </p:nvSpPr>
        <p:spPr>
          <a:xfrm>
            <a:off x="731520" y="2011680"/>
            <a:ext cx="10241280" cy="1828800"/>
          </a:xfrm>
          <a:prstGeom prst="rect">
            <a:avLst/>
          </a:prstGeom>
          <a:noFill/>
          <a:ln/>
        </p:spPr>
        <p:txBody>
          <a:bodyPr wrap="square" lIns="0" tIns="0" rIns="0" bIns="0" rtlCol="0" anchor="b"/>
          <a:lstStyle/>
          <a:p>
            <a:pPr algn="l" indent="0" marL="0">
              <a:buNone/>
            </a:pPr>
            <a:r>
              <a:rPr lang="en-US" sz="4000" dirty="0">
                <a:solidFill>
                  <a:schemeClr val="accent1"/>
                </a:solidFill>
              </a:rPr>
              <a:t>Agents read and draft. People approve.</a:t>
            </a:r>
            <a:endParaRPr lang="en-US" sz="4000" dirty="0"/>
          </a:p>
        </p:txBody>
      </p:sp>
      <p:sp>
        <p:nvSpPr>
          <p:cNvPr id="3" name="Text 0"/>
          <p:cNvSpPr/>
          <p:nvPr>
            <p:ph idx="102" type="body" hasCustomPrompt="1"/>
          </p:nvPr>
        </p:nvSpPr>
        <p:spPr>
          <a:xfrm>
            <a:off x="731520" y="4069080"/>
            <a:ext cx="9601200" cy="914400"/>
          </a:xfrm>
          <a:prstGeom prst="rect">
            <a:avLst/>
          </a:prstGeom>
          <a:noFill/>
          <a:ln/>
        </p:spPr>
        <p:txBody>
          <a:bodyPr wrap="square" lIns="0" tIns="0" rIns="0" bIns="0" rtlCol="0" anchor="t"/>
          <a:lstStyle/>
          <a:p>
            <a:pPr indent="0" marL="0">
              <a:buNone/>
            </a:pPr>
            <a:r>
              <a:rPr lang="en-US" sz="2000" dirty="0">
                <a:solidFill>
                  <a:schemeClr val="accent4"/>
                </a:solidFill>
              </a:rPr>
              <a:t>Anything that leaves the company or commits money waits for a person.</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08</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Map the quotation process</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Describe the process today</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Mark read, write and approval</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Name the connectors</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8.4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Spot the riskiest connector</a:t>
            </a:r>
            <a:endParaRPr lang="en-US" sz="1600" dirty="0"/>
          </a:p>
        </p:txBody>
      </p:sp>
      <p:sp>
        <p:nvSpPr>
          <p:cNvPr id="13"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4"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5" name="Text 11"/>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6" name="Text 12"/>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Every step that sends something outside the company, or commits money, has a person's approval in front of it.</a:t>
            </a:r>
            <a:endParaRPr lang="en-US" sz="1600" dirty="0"/>
          </a:p>
        </p:txBody>
      </p:sp>
      <p:sp>
        <p:nvSpPr>
          <p:cNvPr id="17" name="Divider line"/>
          <p:cNvSpPr/>
          <p:nvPr/>
        </p:nvSpPr>
        <p:spPr>
          <a:xfrm>
            <a:off x="7909560" y="4983480"/>
            <a:ext cx="3429000" cy="0"/>
          </a:xfrm>
          <a:prstGeom prst="line">
            <a:avLst/>
          </a:prstGeom>
          <a:noFill/>
          <a:ln w="12700">
            <a:solidFill>
              <a:srgbClr val="E0E0E0"/>
            </a:solidFill>
            <a:prstDash val="solid"/>
          </a:ln>
        </p:spPr>
      </p:sp>
      <p:sp>
        <p:nvSpPr>
          <p:cNvPr id="18" name="Text 14"/>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08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09</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3000" dirty="0">
                <a:solidFill>
                  <a:schemeClr val="bg1"/>
                </a:solidFill>
              </a:rPr>
              <a:t>Retrieval-Augmented Generation (RAG) Fundamentals</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Diagnose  |  50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plain-words diagnosis of a wrong citation, and a notebook fixed to answer from the current policy only.</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09</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RAG in four steps</a:t>
            </a:r>
            <a:endParaRPr lang="en-US" sz="3200" dirty="0"/>
          </a:p>
        </p:txBody>
      </p:sp>
      <p:sp>
        <p:nvSpPr>
          <p:cNvPr id="5" name="1. Split"/>
          <p:cNvSpPr/>
          <p:nvPr/>
        </p:nvSpPr>
        <p:spPr>
          <a:xfrm>
            <a:off x="548640" y="1920240"/>
            <a:ext cx="2642616" cy="2468880"/>
          </a:xfrm>
          <a:prstGeom prst="roundRect">
            <a:avLst>
              <a:gd name="adj" fmla="val 3704"/>
            </a:avLst>
          </a:prstGeom>
          <a:solidFill>
            <a:schemeClr val="bg1"/>
          </a:solidFill>
          <a:ln/>
          <a:effectLst>
            <a:outerShdw sx="100000" sy="100000" kx="0" ky="0" algn="bl" rotWithShape="0" blurRad="177800" dist="38100" dir="5400000">
              <a:srgbClr val="1B2A4A">
                <a:alpha val="12000"/>
              </a:srgbClr>
            </a:outerShdw>
          </a:effectLst>
        </p:spPr>
      </p:sp>
      <p:pic>
        <p:nvPicPr>
          <p:cNvPr id="6" name="Image 0" descr="preencoded.png">    </p:cNvPr>
          <p:cNvPicPr>
            <a:picLocks noChangeAspect="1"/>
          </p:cNvPicPr>
          <p:nvPr/>
        </p:nvPicPr>
        <p:blipFill>
          <a:blip r:embed="rId1"/>
          <a:stretch>
            <a:fillRect/>
          </a:stretch>
        </p:blipFill>
        <p:spPr>
          <a:xfrm>
            <a:off x="749808" y="2148840"/>
            <a:ext cx="411480" cy="411480"/>
          </a:xfrm>
          <a:prstGeom prst="rect">
            <a:avLst/>
          </a:prstGeom>
        </p:spPr>
      </p:pic>
      <p:sp>
        <p:nvSpPr>
          <p:cNvPr id="7" name="Text 3"/>
          <p:cNvSpPr txBox="1"/>
          <p:nvPr/>
        </p:nvSpPr>
        <p:spPr>
          <a:xfrm>
            <a:off x="749808" y="2697480"/>
            <a:ext cx="2276856"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1. Split</a:t>
            </a:r>
            <a:endParaRPr lang="en-US" sz="1500" dirty="0"/>
          </a:p>
        </p:txBody>
      </p:sp>
      <p:sp>
        <p:nvSpPr>
          <p:cNvPr id="8" name="Text 4"/>
          <p:cNvSpPr txBox="1"/>
          <p:nvPr/>
        </p:nvSpPr>
        <p:spPr>
          <a:xfrm>
            <a:off x="749808" y="3383280"/>
            <a:ext cx="2276856" cy="914400"/>
          </a:xfrm>
          <a:prstGeom prst="rect">
            <a:avLst/>
          </a:prstGeom>
          <a:noFill/>
          <a:ln/>
        </p:spPr>
        <p:txBody>
          <a:bodyPr wrap="square" lIns="0" tIns="0" rIns="0" bIns="0" rtlCol="0" anchor="t"/>
          <a:lstStyle/>
          <a:p>
            <a:pPr indent="0" marL="0">
              <a:buNone/>
            </a:pPr>
            <a:r>
              <a:rPr lang="en-US" sz="1200" dirty="0">
                <a:solidFill>
                  <a:schemeClr val="accent4"/>
                </a:solidFill>
              </a:rPr>
              <a:t>Each document is cut into small chunks</a:t>
            </a:r>
            <a:endParaRPr lang="en-US" sz="1200" dirty="0"/>
          </a:p>
        </p:txBody>
      </p:sp>
      <p:sp>
        <p:nvSpPr>
          <p:cNvPr id="9" name="2. Index"/>
          <p:cNvSpPr/>
          <p:nvPr/>
        </p:nvSpPr>
        <p:spPr>
          <a:xfrm>
            <a:off x="3355848" y="1920240"/>
            <a:ext cx="2642616" cy="2468880"/>
          </a:xfrm>
          <a:prstGeom prst="roundRect">
            <a:avLst>
              <a:gd name="adj" fmla="val 3704"/>
            </a:avLst>
          </a:prstGeom>
          <a:solidFill>
            <a:schemeClr val="bg1"/>
          </a:solidFill>
          <a:ln/>
          <a:effectLst>
            <a:outerShdw sx="100000" sy="100000" kx="0" ky="0" algn="bl" rotWithShape="0" blurRad="177800" dist="38100" dir="5400000">
              <a:srgbClr val="1B2A4A">
                <a:alpha val="12000"/>
              </a:srgbClr>
            </a:outerShdw>
          </a:effectLst>
        </p:spPr>
      </p:sp>
      <p:pic>
        <p:nvPicPr>
          <p:cNvPr id="10" name="Image 1" descr="preencoded.png">    </p:cNvPr>
          <p:cNvPicPr>
            <a:picLocks noChangeAspect="1"/>
          </p:cNvPicPr>
          <p:nvPr/>
        </p:nvPicPr>
        <p:blipFill>
          <a:blip r:embed="rId2"/>
          <a:stretch>
            <a:fillRect/>
          </a:stretch>
        </p:blipFill>
        <p:spPr>
          <a:xfrm>
            <a:off x="3557016" y="2148840"/>
            <a:ext cx="411480" cy="411480"/>
          </a:xfrm>
          <a:prstGeom prst="rect">
            <a:avLst/>
          </a:prstGeom>
        </p:spPr>
      </p:pic>
      <p:sp>
        <p:nvSpPr>
          <p:cNvPr id="11" name="Text 6"/>
          <p:cNvSpPr txBox="1"/>
          <p:nvPr/>
        </p:nvSpPr>
        <p:spPr>
          <a:xfrm>
            <a:off x="3557016" y="2697480"/>
            <a:ext cx="2276856"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2. Index</a:t>
            </a:r>
            <a:endParaRPr lang="en-US" sz="1500" dirty="0"/>
          </a:p>
        </p:txBody>
      </p:sp>
      <p:sp>
        <p:nvSpPr>
          <p:cNvPr id="12" name="Text 7"/>
          <p:cNvSpPr txBox="1"/>
          <p:nvPr/>
        </p:nvSpPr>
        <p:spPr>
          <a:xfrm>
            <a:off x="3557016" y="3383280"/>
            <a:ext cx="2276856" cy="914400"/>
          </a:xfrm>
          <a:prstGeom prst="rect">
            <a:avLst/>
          </a:prstGeom>
          <a:noFill/>
          <a:ln/>
        </p:spPr>
        <p:txBody>
          <a:bodyPr wrap="square" lIns="0" tIns="0" rIns="0" bIns="0" rtlCol="0" anchor="t"/>
          <a:lstStyle/>
          <a:p>
            <a:pPr indent="0" marL="0">
              <a:buNone/>
            </a:pPr>
            <a:r>
              <a:rPr lang="en-US" sz="1200" dirty="0">
                <a:solidFill>
                  <a:schemeClr val="accent4"/>
                </a:solidFill>
              </a:rPr>
              <a:t>Each chunk is stored by its meaning</a:t>
            </a:r>
            <a:endParaRPr lang="en-US" sz="1200" dirty="0"/>
          </a:p>
        </p:txBody>
      </p:sp>
      <p:sp>
        <p:nvSpPr>
          <p:cNvPr id="13" name="3. Retrieve"/>
          <p:cNvSpPr/>
          <p:nvPr/>
        </p:nvSpPr>
        <p:spPr>
          <a:xfrm>
            <a:off x="6163056" y="1920240"/>
            <a:ext cx="2642616" cy="2468880"/>
          </a:xfrm>
          <a:prstGeom prst="roundRect">
            <a:avLst>
              <a:gd name="adj" fmla="val 3704"/>
            </a:avLst>
          </a:prstGeom>
          <a:solidFill>
            <a:schemeClr val="bg1"/>
          </a:solidFill>
          <a:ln/>
          <a:effectLst>
            <a:outerShdw sx="100000" sy="100000" kx="0" ky="0" algn="bl" rotWithShape="0" blurRad="177800" dist="38100" dir="5400000">
              <a:srgbClr val="1B2A4A">
                <a:alpha val="12000"/>
              </a:srgbClr>
            </a:outerShdw>
          </a:effectLst>
        </p:spPr>
      </p:sp>
      <p:pic>
        <p:nvPicPr>
          <p:cNvPr id="14" name="Image 2" descr="preencoded.png">    </p:cNvPr>
          <p:cNvPicPr>
            <a:picLocks noChangeAspect="1"/>
          </p:cNvPicPr>
          <p:nvPr/>
        </p:nvPicPr>
        <p:blipFill>
          <a:blip r:embed="rId3"/>
          <a:stretch>
            <a:fillRect/>
          </a:stretch>
        </p:blipFill>
        <p:spPr>
          <a:xfrm>
            <a:off x="6364224" y="2148840"/>
            <a:ext cx="411480" cy="411480"/>
          </a:xfrm>
          <a:prstGeom prst="rect">
            <a:avLst/>
          </a:prstGeom>
        </p:spPr>
      </p:pic>
      <p:sp>
        <p:nvSpPr>
          <p:cNvPr id="15" name="Text 9"/>
          <p:cNvSpPr txBox="1"/>
          <p:nvPr/>
        </p:nvSpPr>
        <p:spPr>
          <a:xfrm>
            <a:off x="6364224" y="2697480"/>
            <a:ext cx="2276856"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3. Retrieve</a:t>
            </a:r>
            <a:endParaRPr lang="en-US" sz="1500" dirty="0"/>
          </a:p>
        </p:txBody>
      </p:sp>
      <p:sp>
        <p:nvSpPr>
          <p:cNvPr id="16" name="Text 10"/>
          <p:cNvSpPr txBox="1"/>
          <p:nvPr/>
        </p:nvSpPr>
        <p:spPr>
          <a:xfrm>
            <a:off x="6364224" y="3383280"/>
            <a:ext cx="2276856" cy="914400"/>
          </a:xfrm>
          <a:prstGeom prst="rect">
            <a:avLst/>
          </a:prstGeom>
          <a:noFill/>
          <a:ln/>
        </p:spPr>
        <p:txBody>
          <a:bodyPr wrap="square" lIns="0" tIns="0" rIns="0" bIns="0" rtlCol="0" anchor="t"/>
          <a:lstStyle/>
          <a:p>
            <a:pPr indent="0" marL="0">
              <a:buNone/>
            </a:pPr>
            <a:r>
              <a:rPr lang="en-US" sz="1200" dirty="0">
                <a:solidFill>
                  <a:schemeClr val="accent4"/>
                </a:solidFill>
              </a:rPr>
              <a:t>Your question finds the closest chunks</a:t>
            </a:r>
            <a:endParaRPr lang="en-US" sz="1200" dirty="0"/>
          </a:p>
        </p:txBody>
      </p:sp>
      <p:sp>
        <p:nvSpPr>
          <p:cNvPr id="17" name="4. Answer"/>
          <p:cNvSpPr/>
          <p:nvPr/>
        </p:nvSpPr>
        <p:spPr>
          <a:xfrm>
            <a:off x="8970264" y="1920240"/>
            <a:ext cx="2642616" cy="2468880"/>
          </a:xfrm>
          <a:prstGeom prst="roundRect">
            <a:avLst>
              <a:gd name="adj" fmla="val 3704"/>
            </a:avLst>
          </a:prstGeom>
          <a:solidFill>
            <a:schemeClr val="bg1"/>
          </a:solidFill>
          <a:ln/>
          <a:effectLst>
            <a:outerShdw sx="100000" sy="100000" kx="0" ky="0" algn="bl" rotWithShape="0" blurRad="177800" dist="38100" dir="5400000">
              <a:srgbClr val="1B2A4A">
                <a:alpha val="12000"/>
              </a:srgbClr>
            </a:outerShdw>
          </a:effectLst>
        </p:spPr>
      </p:sp>
      <p:pic>
        <p:nvPicPr>
          <p:cNvPr id="18" name="Image 3" descr="preencoded.png">    </p:cNvPr>
          <p:cNvPicPr>
            <a:picLocks noChangeAspect="1"/>
          </p:cNvPicPr>
          <p:nvPr/>
        </p:nvPicPr>
        <p:blipFill>
          <a:blip r:embed="rId4"/>
          <a:stretch>
            <a:fillRect/>
          </a:stretch>
        </p:blipFill>
        <p:spPr>
          <a:xfrm>
            <a:off x="9171432" y="2148840"/>
            <a:ext cx="411480" cy="411480"/>
          </a:xfrm>
          <a:prstGeom prst="rect">
            <a:avLst/>
          </a:prstGeom>
        </p:spPr>
      </p:pic>
      <p:sp>
        <p:nvSpPr>
          <p:cNvPr id="19" name="Text 12"/>
          <p:cNvSpPr txBox="1"/>
          <p:nvPr/>
        </p:nvSpPr>
        <p:spPr>
          <a:xfrm>
            <a:off x="9171432" y="2697480"/>
            <a:ext cx="2276856"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4. Answer</a:t>
            </a:r>
            <a:endParaRPr lang="en-US" sz="1500" dirty="0"/>
          </a:p>
        </p:txBody>
      </p:sp>
      <p:sp>
        <p:nvSpPr>
          <p:cNvPr id="20" name="Text 13"/>
          <p:cNvSpPr txBox="1"/>
          <p:nvPr/>
        </p:nvSpPr>
        <p:spPr>
          <a:xfrm>
            <a:off x="9171432" y="3383280"/>
            <a:ext cx="2276856" cy="914400"/>
          </a:xfrm>
          <a:prstGeom prst="rect">
            <a:avLst/>
          </a:prstGeom>
          <a:noFill/>
          <a:ln/>
        </p:spPr>
        <p:txBody>
          <a:bodyPr wrap="square" lIns="0" tIns="0" rIns="0" bIns="0" rtlCol="0" anchor="t"/>
          <a:lstStyle/>
          <a:p>
            <a:pPr indent="0" marL="0">
              <a:buNone/>
            </a:pPr>
            <a:r>
              <a:rPr lang="en-US" sz="1200" dirty="0">
                <a:solidFill>
                  <a:schemeClr val="accent4"/>
                </a:solidFill>
              </a:rPr>
              <a:t>The model answers from those chunks, and cites them</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type="title" hasCustomPrompt="1"/>
          </p:nvPr>
        </p:nvSpPr>
        <p:spPr>
          <a:xfrm>
            <a:off x="731520" y="2011680"/>
            <a:ext cx="10241280" cy="1828800"/>
          </a:xfrm>
          <a:prstGeom prst="rect">
            <a:avLst/>
          </a:prstGeom>
          <a:noFill/>
          <a:ln/>
        </p:spPr>
        <p:txBody>
          <a:bodyPr wrap="square" lIns="0" tIns="0" rIns="0" bIns="0" rtlCol="0" anchor="b"/>
          <a:lstStyle/>
          <a:p>
            <a:pPr algn="l" indent="0" marL="0">
              <a:buNone/>
            </a:pPr>
            <a:r>
              <a:rPr lang="en-US" sz="4000" dirty="0">
                <a:solidFill>
                  <a:schemeClr val="accent1"/>
                </a:solidFill>
              </a:rPr>
              <a:t>Wrong citations usually start in the sources</a:t>
            </a:r>
            <a:endParaRPr lang="en-US" sz="4000" dirty="0"/>
          </a:p>
        </p:txBody>
      </p:sp>
      <p:sp>
        <p:nvSpPr>
          <p:cNvPr id="3" name="Text 0"/>
          <p:cNvSpPr/>
          <p:nvPr>
            <p:ph idx="102" type="body" hasCustomPrompt="1"/>
          </p:nvPr>
        </p:nvSpPr>
        <p:spPr>
          <a:xfrm>
            <a:off x="731520" y="4069080"/>
            <a:ext cx="9601200" cy="914400"/>
          </a:xfrm>
          <a:prstGeom prst="rect">
            <a:avLst/>
          </a:prstGeom>
          <a:noFill/>
          <a:ln/>
        </p:spPr>
        <p:txBody>
          <a:bodyPr wrap="square" lIns="0" tIns="0" rIns="0" bIns="0" rtlCol="0" anchor="t"/>
          <a:lstStyle/>
          <a:p>
            <a:pPr indent="0" marL="0">
              <a:buNone/>
            </a:pPr>
            <a:r>
              <a:rPr lang="en-US" sz="2000" dirty="0">
                <a:solidFill>
                  <a:schemeClr val="accent4"/>
                </a:solidFill>
              </a:rPr>
              <a:t>Keep superseded documents out, or label every page with its version.</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09</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Find and fix a wrong citation</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9.1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Add both policy versions to a notebook</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9.2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Ask the four questions</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9.3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Find the wrong citations</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9.4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Diagnose why</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9.5</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Fix it two ways</a:t>
            </a:r>
            <a:endParaRPr lang="en-US" sz="1600" dirty="0"/>
          </a:p>
        </p:txBody>
      </p:sp>
      <p:sp>
        <p:nvSpPr>
          <p:cNvPr id="15"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6"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7" name="Text 13"/>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8" name="Text 14"/>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 can say which RAG step let the old clause in, and why the page didn't warn the AI.</a:t>
            </a:r>
            <a:endParaRPr lang="en-US" sz="1600" dirty="0"/>
          </a:p>
        </p:txBody>
      </p:sp>
      <p:sp>
        <p:nvSpPr>
          <p:cNvPr id="19" name="Divider line"/>
          <p:cNvSpPr/>
          <p:nvPr/>
        </p:nvSpPr>
        <p:spPr>
          <a:xfrm>
            <a:off x="7909560" y="4983480"/>
            <a:ext cx="3429000" cy="0"/>
          </a:xfrm>
          <a:prstGeom prst="line">
            <a:avLst/>
          </a:prstGeom>
          <a:noFill/>
          <a:ln w="12700">
            <a:solidFill>
              <a:srgbClr val="E0E0E0"/>
            </a:solidFill>
            <a:prstDash val="solid"/>
          </a:ln>
        </p:spPr>
      </p:sp>
      <p:sp>
        <p:nvSpPr>
          <p:cNvPr id="20" name="Text 16"/>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09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10</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Building an AI Agent Workflow in n8n</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Automate  |  90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working n8n workflow that checks a quotation, routes it, and waits for your approval by email.</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10</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The workflow you'll build</a:t>
            </a:r>
            <a:endParaRPr lang="en-US" sz="3200" dirty="0"/>
          </a:p>
        </p:txBody>
      </p:sp>
      <p:sp>
        <p:nvSpPr>
          <p:cNvPr id="5" name="Upload"/>
          <p:cNvSpPr/>
          <p:nvPr/>
        </p:nvSpPr>
        <p:spPr>
          <a:xfrm>
            <a:off x="548640" y="1920240"/>
            <a:ext cx="1439527" cy="2468880"/>
          </a:xfrm>
          <a:prstGeom prst="roundRect">
            <a:avLst>
              <a:gd name="adj" fmla="val 6352"/>
            </a:avLst>
          </a:prstGeom>
          <a:solidFill>
            <a:schemeClr val="bg1"/>
          </a:solidFill>
          <a:ln/>
          <a:effectLst>
            <a:outerShdw sx="100000" sy="100000" kx="0" ky="0" algn="bl" rotWithShape="0" blurRad="177800" dist="38100" dir="5400000">
              <a:srgbClr val="1B2A4A">
                <a:alpha val="12000"/>
              </a:srgbClr>
            </a:outerShdw>
          </a:effectLst>
        </p:spPr>
      </p:sp>
      <p:pic>
        <p:nvPicPr>
          <p:cNvPr id="6" name="Image 0" descr="preencoded.png">    </p:cNvPr>
          <p:cNvPicPr>
            <a:picLocks noChangeAspect="1"/>
          </p:cNvPicPr>
          <p:nvPr/>
        </p:nvPicPr>
        <p:blipFill>
          <a:blip r:embed="rId1"/>
          <a:stretch>
            <a:fillRect/>
          </a:stretch>
        </p:blipFill>
        <p:spPr>
          <a:xfrm>
            <a:off x="749808" y="2148840"/>
            <a:ext cx="411480" cy="411480"/>
          </a:xfrm>
          <a:prstGeom prst="rect">
            <a:avLst/>
          </a:prstGeom>
        </p:spPr>
      </p:pic>
      <p:sp>
        <p:nvSpPr>
          <p:cNvPr id="7" name="Text 3"/>
          <p:cNvSpPr txBox="1"/>
          <p:nvPr/>
        </p:nvSpPr>
        <p:spPr>
          <a:xfrm>
            <a:off x="749808" y="2697480"/>
            <a:ext cx="1073767"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Upload</a:t>
            </a:r>
            <a:endParaRPr lang="en-US" sz="1500" dirty="0"/>
          </a:p>
        </p:txBody>
      </p:sp>
      <p:sp>
        <p:nvSpPr>
          <p:cNvPr id="8" name="Text 4"/>
          <p:cNvSpPr txBox="1"/>
          <p:nvPr/>
        </p:nvSpPr>
        <p:spPr>
          <a:xfrm>
            <a:off x="749808" y="3383280"/>
            <a:ext cx="1073767" cy="914400"/>
          </a:xfrm>
          <a:prstGeom prst="rect">
            <a:avLst/>
          </a:prstGeom>
          <a:noFill/>
          <a:ln/>
        </p:spPr>
        <p:txBody>
          <a:bodyPr wrap="square" lIns="0" tIns="0" rIns="0" bIns="0" rtlCol="0" anchor="t"/>
          <a:lstStyle/>
          <a:p>
            <a:pPr indent="0" marL="0">
              <a:buNone/>
            </a:pPr>
            <a:r>
              <a:rPr lang="en-US" sz="1200" dirty="0">
                <a:solidFill>
                  <a:schemeClr val="accent4"/>
                </a:solidFill>
              </a:rPr>
              <a:t>A form takes the quotation PDF</a:t>
            </a:r>
            <a:endParaRPr lang="en-US" sz="1200" dirty="0"/>
          </a:p>
        </p:txBody>
      </p:sp>
      <p:sp>
        <p:nvSpPr>
          <p:cNvPr id="9" name="Read"/>
          <p:cNvSpPr/>
          <p:nvPr/>
        </p:nvSpPr>
        <p:spPr>
          <a:xfrm>
            <a:off x="2152759" y="1920240"/>
            <a:ext cx="1439527" cy="2468880"/>
          </a:xfrm>
          <a:prstGeom prst="roundRect">
            <a:avLst>
              <a:gd name="adj" fmla="val 6352"/>
            </a:avLst>
          </a:prstGeom>
          <a:solidFill>
            <a:schemeClr val="bg1"/>
          </a:solidFill>
          <a:ln/>
          <a:effectLst>
            <a:outerShdw sx="100000" sy="100000" kx="0" ky="0" algn="bl" rotWithShape="0" blurRad="177800" dist="38100" dir="5400000">
              <a:srgbClr val="1B2A4A">
                <a:alpha val="12000"/>
              </a:srgbClr>
            </a:outerShdw>
          </a:effectLst>
        </p:spPr>
      </p:sp>
      <p:pic>
        <p:nvPicPr>
          <p:cNvPr id="10" name="Image 1" descr="preencoded.png">    </p:cNvPr>
          <p:cNvPicPr>
            <a:picLocks noChangeAspect="1"/>
          </p:cNvPicPr>
          <p:nvPr/>
        </p:nvPicPr>
        <p:blipFill>
          <a:blip r:embed="rId2"/>
          <a:stretch>
            <a:fillRect/>
          </a:stretch>
        </p:blipFill>
        <p:spPr>
          <a:xfrm>
            <a:off x="2353927" y="2148840"/>
            <a:ext cx="411480" cy="411480"/>
          </a:xfrm>
          <a:prstGeom prst="rect">
            <a:avLst/>
          </a:prstGeom>
        </p:spPr>
      </p:pic>
      <p:sp>
        <p:nvSpPr>
          <p:cNvPr id="11" name="Text 6"/>
          <p:cNvSpPr txBox="1"/>
          <p:nvPr/>
        </p:nvSpPr>
        <p:spPr>
          <a:xfrm>
            <a:off x="2353927" y="2697480"/>
            <a:ext cx="1073767"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Read</a:t>
            </a:r>
            <a:endParaRPr lang="en-US" sz="1500" dirty="0"/>
          </a:p>
        </p:txBody>
      </p:sp>
      <p:sp>
        <p:nvSpPr>
          <p:cNvPr id="12" name="Text 7"/>
          <p:cNvSpPr txBox="1"/>
          <p:nvPr/>
        </p:nvSpPr>
        <p:spPr>
          <a:xfrm>
            <a:off x="2353927" y="3383280"/>
            <a:ext cx="1073767" cy="914400"/>
          </a:xfrm>
          <a:prstGeom prst="rect">
            <a:avLst/>
          </a:prstGeom>
          <a:noFill/>
          <a:ln/>
        </p:spPr>
        <p:txBody>
          <a:bodyPr wrap="square" lIns="0" tIns="0" rIns="0" bIns="0" rtlCol="0" anchor="t"/>
          <a:lstStyle/>
          <a:p>
            <a:pPr indent="0" marL="0">
              <a:buNone/>
            </a:pPr>
            <a:r>
              <a:rPr lang="en-US" sz="1200" dirty="0">
                <a:solidFill>
                  <a:schemeClr val="accent4"/>
                </a:solidFill>
              </a:rPr>
              <a:t>The PDF becomes text</a:t>
            </a:r>
            <a:endParaRPr lang="en-US" sz="1200" dirty="0"/>
          </a:p>
        </p:txBody>
      </p:sp>
      <p:sp>
        <p:nvSpPr>
          <p:cNvPr id="13" name="Limits"/>
          <p:cNvSpPr/>
          <p:nvPr/>
        </p:nvSpPr>
        <p:spPr>
          <a:xfrm>
            <a:off x="3756878" y="1920240"/>
            <a:ext cx="1439527" cy="2468880"/>
          </a:xfrm>
          <a:prstGeom prst="roundRect">
            <a:avLst>
              <a:gd name="adj" fmla="val 6352"/>
            </a:avLst>
          </a:prstGeom>
          <a:solidFill>
            <a:schemeClr val="bg1"/>
          </a:solidFill>
          <a:ln/>
          <a:effectLst>
            <a:outerShdw sx="100000" sy="100000" kx="0" ky="0" algn="bl" rotWithShape="0" blurRad="177800" dist="38100" dir="5400000">
              <a:srgbClr val="1B2A4A">
                <a:alpha val="12000"/>
              </a:srgbClr>
            </a:outerShdw>
          </a:effectLst>
        </p:spPr>
      </p:sp>
      <p:pic>
        <p:nvPicPr>
          <p:cNvPr id="14" name="Image 2" descr="preencoded.png">    </p:cNvPr>
          <p:cNvPicPr>
            <a:picLocks noChangeAspect="1"/>
          </p:cNvPicPr>
          <p:nvPr/>
        </p:nvPicPr>
        <p:blipFill>
          <a:blip r:embed="rId3"/>
          <a:stretch>
            <a:fillRect/>
          </a:stretch>
        </p:blipFill>
        <p:spPr>
          <a:xfrm>
            <a:off x="3958046" y="2148840"/>
            <a:ext cx="411480" cy="411480"/>
          </a:xfrm>
          <a:prstGeom prst="rect">
            <a:avLst/>
          </a:prstGeom>
        </p:spPr>
      </p:pic>
      <p:sp>
        <p:nvSpPr>
          <p:cNvPr id="15" name="Text 9"/>
          <p:cNvSpPr txBox="1"/>
          <p:nvPr/>
        </p:nvSpPr>
        <p:spPr>
          <a:xfrm>
            <a:off x="3958046" y="2697480"/>
            <a:ext cx="1073767"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Limits</a:t>
            </a:r>
            <a:endParaRPr lang="en-US" sz="1500" dirty="0"/>
          </a:p>
        </p:txBody>
      </p:sp>
      <p:sp>
        <p:nvSpPr>
          <p:cNvPr id="16" name="Text 10"/>
          <p:cNvSpPr txBox="1"/>
          <p:nvPr/>
        </p:nvSpPr>
        <p:spPr>
          <a:xfrm>
            <a:off x="3958046" y="3383280"/>
            <a:ext cx="1073767" cy="914400"/>
          </a:xfrm>
          <a:prstGeom prst="rect">
            <a:avLst/>
          </a:prstGeom>
          <a:noFill/>
          <a:ln/>
        </p:spPr>
        <p:txBody>
          <a:bodyPr wrap="square" lIns="0" tIns="0" rIns="0" bIns="0" rtlCol="0" anchor="t"/>
          <a:lstStyle/>
          <a:p>
            <a:pPr indent="0" marL="0">
              <a:buNone/>
            </a:pPr>
            <a:r>
              <a:rPr lang="en-US" sz="1200" dirty="0">
                <a:solidFill>
                  <a:schemeClr val="accent4"/>
                </a:solidFill>
              </a:rPr>
              <a:t>Policy limits added</a:t>
            </a:r>
            <a:endParaRPr lang="en-US" sz="1200" dirty="0"/>
          </a:p>
        </p:txBody>
      </p:sp>
      <p:sp>
        <p:nvSpPr>
          <p:cNvPr id="17" name="AI check"/>
          <p:cNvSpPr/>
          <p:nvPr/>
        </p:nvSpPr>
        <p:spPr>
          <a:xfrm>
            <a:off x="5360997" y="1920240"/>
            <a:ext cx="1439527" cy="2468880"/>
          </a:xfrm>
          <a:prstGeom prst="roundRect">
            <a:avLst>
              <a:gd name="adj" fmla="val 6352"/>
            </a:avLst>
          </a:prstGeom>
          <a:solidFill>
            <a:schemeClr val="bg1"/>
          </a:solidFill>
          <a:ln/>
          <a:effectLst>
            <a:outerShdw sx="100000" sy="100000" kx="0" ky="0" algn="bl" rotWithShape="0" blurRad="177800" dist="38100" dir="5400000">
              <a:srgbClr val="1B2A4A">
                <a:alpha val="12000"/>
              </a:srgbClr>
            </a:outerShdw>
          </a:effectLst>
        </p:spPr>
      </p:sp>
      <p:pic>
        <p:nvPicPr>
          <p:cNvPr id="18" name="Image 3" descr="preencoded.png">    </p:cNvPr>
          <p:cNvPicPr>
            <a:picLocks noChangeAspect="1"/>
          </p:cNvPicPr>
          <p:nvPr/>
        </p:nvPicPr>
        <p:blipFill>
          <a:blip r:embed="rId4"/>
          <a:stretch>
            <a:fillRect/>
          </a:stretch>
        </p:blipFill>
        <p:spPr>
          <a:xfrm>
            <a:off x="5562165" y="2148840"/>
            <a:ext cx="411480" cy="411480"/>
          </a:xfrm>
          <a:prstGeom prst="rect">
            <a:avLst/>
          </a:prstGeom>
        </p:spPr>
      </p:pic>
      <p:sp>
        <p:nvSpPr>
          <p:cNvPr id="19" name="Text 12"/>
          <p:cNvSpPr txBox="1"/>
          <p:nvPr/>
        </p:nvSpPr>
        <p:spPr>
          <a:xfrm>
            <a:off x="5562165" y="2697480"/>
            <a:ext cx="1073767"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AI check</a:t>
            </a:r>
            <a:endParaRPr lang="en-US" sz="1500" dirty="0"/>
          </a:p>
        </p:txBody>
      </p:sp>
      <p:sp>
        <p:nvSpPr>
          <p:cNvPr id="20" name="Text 13"/>
          <p:cNvSpPr txBox="1"/>
          <p:nvPr/>
        </p:nvSpPr>
        <p:spPr>
          <a:xfrm>
            <a:off x="5562165" y="3383280"/>
            <a:ext cx="1073767" cy="914400"/>
          </a:xfrm>
          <a:prstGeom prst="rect">
            <a:avLst/>
          </a:prstGeom>
          <a:noFill/>
          <a:ln/>
        </p:spPr>
        <p:txBody>
          <a:bodyPr wrap="square" lIns="0" tIns="0" rIns="0" bIns="0" rtlCol="0" anchor="t"/>
          <a:lstStyle/>
          <a:p>
            <a:pPr indent="0" marL="0">
              <a:buNone/>
            </a:pPr>
            <a:r>
              <a:rPr lang="en-US" sz="1200" dirty="0">
                <a:solidFill>
                  <a:schemeClr val="accent4"/>
                </a:solidFill>
              </a:rPr>
              <a:t>Returns JSON with a verdict</a:t>
            </a:r>
            <a:endParaRPr lang="en-US" sz="1200" dirty="0"/>
          </a:p>
        </p:txBody>
      </p:sp>
      <p:sp>
        <p:nvSpPr>
          <p:cNvPr id="21" name="Vendor rule"/>
          <p:cNvSpPr/>
          <p:nvPr/>
        </p:nvSpPr>
        <p:spPr>
          <a:xfrm>
            <a:off x="6965115" y="1920240"/>
            <a:ext cx="1439527" cy="2468880"/>
          </a:xfrm>
          <a:prstGeom prst="roundRect">
            <a:avLst>
              <a:gd name="adj" fmla="val 6352"/>
            </a:avLst>
          </a:prstGeom>
          <a:solidFill>
            <a:schemeClr val="bg1"/>
          </a:solidFill>
          <a:ln/>
          <a:effectLst>
            <a:outerShdw sx="100000" sy="100000" kx="0" ky="0" algn="bl" rotWithShape="0" blurRad="177800" dist="38100" dir="5400000">
              <a:srgbClr val="1B2A4A">
                <a:alpha val="12000"/>
              </a:srgbClr>
            </a:outerShdw>
          </a:effectLst>
        </p:spPr>
      </p:sp>
      <p:pic>
        <p:nvPicPr>
          <p:cNvPr id="22" name="Image 4" descr="preencoded.png">    </p:cNvPr>
          <p:cNvPicPr>
            <a:picLocks noChangeAspect="1"/>
          </p:cNvPicPr>
          <p:nvPr/>
        </p:nvPicPr>
        <p:blipFill>
          <a:blip r:embed="rId5"/>
          <a:stretch>
            <a:fillRect/>
          </a:stretch>
        </p:blipFill>
        <p:spPr>
          <a:xfrm>
            <a:off x="7166283" y="2148840"/>
            <a:ext cx="411480" cy="411480"/>
          </a:xfrm>
          <a:prstGeom prst="rect">
            <a:avLst/>
          </a:prstGeom>
        </p:spPr>
      </p:pic>
      <p:sp>
        <p:nvSpPr>
          <p:cNvPr id="23" name="Text 15"/>
          <p:cNvSpPr txBox="1"/>
          <p:nvPr/>
        </p:nvSpPr>
        <p:spPr>
          <a:xfrm>
            <a:off x="7166283" y="2697480"/>
            <a:ext cx="1073767"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Vendor rule</a:t>
            </a:r>
            <a:endParaRPr lang="en-US" sz="1500" dirty="0"/>
          </a:p>
        </p:txBody>
      </p:sp>
      <p:sp>
        <p:nvSpPr>
          <p:cNvPr id="24" name="Text 16"/>
          <p:cNvSpPr txBox="1"/>
          <p:nvPr/>
        </p:nvSpPr>
        <p:spPr>
          <a:xfrm>
            <a:off x="7166283" y="3383280"/>
            <a:ext cx="1073767" cy="914400"/>
          </a:xfrm>
          <a:prstGeom prst="rect">
            <a:avLst/>
          </a:prstGeom>
          <a:noFill/>
          <a:ln/>
        </p:spPr>
        <p:txBody>
          <a:bodyPr wrap="square" lIns="0" tIns="0" rIns="0" bIns="0" rtlCol="0" anchor="t"/>
          <a:lstStyle/>
          <a:p>
            <a:pPr indent="0" marL="0">
              <a:buNone/>
            </a:pPr>
            <a:r>
              <a:rPr lang="en-US" sz="1200" dirty="0">
                <a:solidFill>
                  <a:schemeClr val="accent4"/>
                </a:solidFill>
              </a:rPr>
              <a:t>Not on the list: reject</a:t>
            </a:r>
            <a:endParaRPr lang="en-US" sz="1200" dirty="0"/>
          </a:p>
        </p:txBody>
      </p:sp>
      <p:sp>
        <p:nvSpPr>
          <p:cNvPr id="25" name="Route"/>
          <p:cNvSpPr/>
          <p:nvPr/>
        </p:nvSpPr>
        <p:spPr>
          <a:xfrm>
            <a:off x="8569234" y="1920240"/>
            <a:ext cx="1439527" cy="2468880"/>
          </a:xfrm>
          <a:prstGeom prst="roundRect">
            <a:avLst>
              <a:gd name="adj" fmla="val 6352"/>
            </a:avLst>
          </a:prstGeom>
          <a:solidFill>
            <a:schemeClr val="bg1"/>
          </a:solidFill>
          <a:ln/>
          <a:effectLst>
            <a:outerShdw sx="100000" sy="100000" kx="0" ky="0" algn="bl" rotWithShape="0" blurRad="177800" dist="38100" dir="5400000">
              <a:srgbClr val="1B2A4A">
                <a:alpha val="12000"/>
              </a:srgbClr>
            </a:outerShdw>
          </a:effectLst>
        </p:spPr>
      </p:sp>
      <p:pic>
        <p:nvPicPr>
          <p:cNvPr id="26" name="Image 5" descr="preencoded.png">    </p:cNvPr>
          <p:cNvPicPr>
            <a:picLocks noChangeAspect="1"/>
          </p:cNvPicPr>
          <p:nvPr/>
        </p:nvPicPr>
        <p:blipFill>
          <a:blip r:embed="rId6"/>
          <a:stretch>
            <a:fillRect/>
          </a:stretch>
        </p:blipFill>
        <p:spPr>
          <a:xfrm>
            <a:off x="8770402" y="2148840"/>
            <a:ext cx="411480" cy="411480"/>
          </a:xfrm>
          <a:prstGeom prst="rect">
            <a:avLst/>
          </a:prstGeom>
        </p:spPr>
      </p:pic>
      <p:sp>
        <p:nvSpPr>
          <p:cNvPr id="27" name="Text 18"/>
          <p:cNvSpPr txBox="1"/>
          <p:nvPr/>
        </p:nvSpPr>
        <p:spPr>
          <a:xfrm>
            <a:off x="8770402" y="2697480"/>
            <a:ext cx="1073767"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Route</a:t>
            </a:r>
            <a:endParaRPr lang="en-US" sz="1500" dirty="0"/>
          </a:p>
        </p:txBody>
      </p:sp>
      <p:sp>
        <p:nvSpPr>
          <p:cNvPr id="28" name="Text 19"/>
          <p:cNvSpPr txBox="1"/>
          <p:nvPr/>
        </p:nvSpPr>
        <p:spPr>
          <a:xfrm>
            <a:off x="8770402" y="3383280"/>
            <a:ext cx="1073767" cy="914400"/>
          </a:xfrm>
          <a:prstGeom prst="rect">
            <a:avLst/>
          </a:prstGeom>
          <a:noFill/>
          <a:ln/>
        </p:spPr>
        <p:txBody>
          <a:bodyPr wrap="square" lIns="0" tIns="0" rIns="0" bIns="0" rtlCol="0" anchor="t"/>
          <a:lstStyle/>
          <a:p>
            <a:pPr indent="0" marL="0">
              <a:buNone/>
            </a:pPr>
            <a:r>
              <a:rPr lang="en-US" sz="1200" dirty="0">
                <a:solidFill>
                  <a:schemeClr val="accent4"/>
                </a:solidFill>
              </a:rPr>
              <a:t>Four routes by verdict</a:t>
            </a:r>
            <a:endParaRPr lang="en-US" sz="1200" dirty="0"/>
          </a:p>
        </p:txBody>
      </p:sp>
      <p:sp>
        <p:nvSpPr>
          <p:cNvPr id="29" name="Approve"/>
          <p:cNvSpPr/>
          <p:nvPr/>
        </p:nvSpPr>
        <p:spPr>
          <a:xfrm>
            <a:off x="10173353" y="1920240"/>
            <a:ext cx="1439527" cy="2468880"/>
          </a:xfrm>
          <a:prstGeom prst="roundRect">
            <a:avLst>
              <a:gd name="adj" fmla="val 6352"/>
            </a:avLst>
          </a:prstGeom>
          <a:solidFill>
            <a:schemeClr val="bg1"/>
          </a:solidFill>
          <a:ln/>
          <a:effectLst>
            <a:outerShdw sx="100000" sy="100000" kx="0" ky="0" algn="bl" rotWithShape="0" blurRad="177800" dist="38100" dir="5400000">
              <a:srgbClr val="1B2A4A">
                <a:alpha val="12000"/>
              </a:srgbClr>
            </a:outerShdw>
          </a:effectLst>
        </p:spPr>
      </p:sp>
      <p:pic>
        <p:nvPicPr>
          <p:cNvPr id="30" name="Image 6" descr="preencoded.png">    </p:cNvPr>
          <p:cNvPicPr>
            <a:picLocks noChangeAspect="1"/>
          </p:cNvPicPr>
          <p:nvPr/>
        </p:nvPicPr>
        <p:blipFill>
          <a:blip r:embed="rId7"/>
          <a:stretch>
            <a:fillRect/>
          </a:stretch>
        </p:blipFill>
        <p:spPr>
          <a:xfrm>
            <a:off x="10374521" y="2148840"/>
            <a:ext cx="411480" cy="411480"/>
          </a:xfrm>
          <a:prstGeom prst="rect">
            <a:avLst/>
          </a:prstGeom>
        </p:spPr>
      </p:pic>
      <p:sp>
        <p:nvSpPr>
          <p:cNvPr id="31" name="Text 21"/>
          <p:cNvSpPr txBox="1"/>
          <p:nvPr/>
        </p:nvSpPr>
        <p:spPr>
          <a:xfrm>
            <a:off x="10374521" y="2697480"/>
            <a:ext cx="1073767" cy="685800"/>
          </a:xfrm>
          <a:prstGeom prst="rect">
            <a:avLst/>
          </a:prstGeom>
          <a:noFill/>
          <a:ln/>
        </p:spPr>
        <p:txBody>
          <a:bodyPr wrap="square" lIns="0" tIns="0" rIns="0" bIns="0" rtlCol="0" anchor="t"/>
          <a:lstStyle/>
          <a:p>
            <a:pPr indent="0" marL="0">
              <a:buNone/>
            </a:pPr>
            <a:r>
              <a:rPr lang="en-US" sz="1500" dirty="0">
                <a:solidFill>
                  <a:schemeClr val="tx1"/>
                </a:solidFill>
                <a:latin typeface="Segoe UI Semibold" pitchFamily="34" charset="0"/>
                <a:ea typeface="Segoe UI Semibold" pitchFamily="34" charset="-122"/>
                <a:cs typeface="Segoe UI Semibold" pitchFamily="34" charset="-120"/>
              </a:rPr>
              <a:t>Approve</a:t>
            </a:r>
            <a:endParaRPr lang="en-US" sz="1500" dirty="0"/>
          </a:p>
        </p:txBody>
      </p:sp>
      <p:sp>
        <p:nvSpPr>
          <p:cNvPr id="32" name="Text 22"/>
          <p:cNvSpPr txBox="1"/>
          <p:nvPr/>
        </p:nvSpPr>
        <p:spPr>
          <a:xfrm>
            <a:off x="10374521" y="3383280"/>
            <a:ext cx="1073767" cy="914400"/>
          </a:xfrm>
          <a:prstGeom prst="rect">
            <a:avLst/>
          </a:prstGeom>
          <a:noFill/>
          <a:ln/>
        </p:spPr>
        <p:txBody>
          <a:bodyPr wrap="square" lIns="0" tIns="0" rIns="0" bIns="0" rtlCol="0" anchor="t"/>
          <a:lstStyle/>
          <a:p>
            <a:pPr indent="0" marL="0">
              <a:buNone/>
            </a:pPr>
            <a:r>
              <a:rPr lang="en-US" sz="1200" dirty="0">
                <a:solidFill>
                  <a:schemeClr val="accent4"/>
                </a:solidFill>
              </a:rPr>
              <a:t>A person clicks Approve</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type="title" hasCustomPrompt="1"/>
          </p:nvPr>
        </p:nvSpPr>
        <p:spPr>
          <a:xfrm>
            <a:off x="731520" y="2011680"/>
            <a:ext cx="10241280" cy="1828800"/>
          </a:xfrm>
          <a:prstGeom prst="rect">
            <a:avLst/>
          </a:prstGeom>
          <a:noFill/>
          <a:ln/>
        </p:spPr>
        <p:txBody>
          <a:bodyPr wrap="square" lIns="0" tIns="0" rIns="0" bIns="0" rtlCol="0" anchor="b"/>
          <a:lstStyle/>
          <a:p>
            <a:pPr algn="l" indent="0" marL="0">
              <a:buNone/>
            </a:pPr>
            <a:r>
              <a:rPr lang="en-US" sz="4000" dirty="0">
                <a:solidFill>
                  <a:schemeClr val="accent1"/>
                </a:solidFill>
              </a:rPr>
              <a:t>AI for judgement. Rules for facts. People for decisions.</a:t>
            </a:r>
            <a:endParaRPr lang="en-US" sz="4000" dirty="0"/>
          </a:p>
        </p:txBody>
      </p:sp>
      <p:sp>
        <p:nvSpPr>
          <p:cNvPr id="3" name="Text 0"/>
          <p:cNvSpPr/>
          <p:nvPr>
            <p:ph idx="102" type="body" hasCustomPrompt="1"/>
          </p:nvPr>
        </p:nvSpPr>
        <p:spPr>
          <a:xfrm>
            <a:off x="731520" y="4069080"/>
            <a:ext cx="9601200" cy="914400"/>
          </a:xfrm>
          <a:prstGeom prst="rect">
            <a:avLst/>
          </a:prstGeom>
          <a:noFill/>
          <a:ln/>
        </p:spPr>
        <p:txBody>
          <a:bodyPr wrap="square" lIns="0" tIns="0" rIns="0" bIns="0" rtlCol="0" anchor="t"/>
          <a:lstStyle/>
          <a:p>
            <a:pPr indent="0" marL="0">
              <a:buNone/>
            </a:pPr>
            <a:r>
              <a:rPr lang="en-US" sz="2000" dirty="0">
                <a:solidFill>
                  <a:schemeClr val="accent4"/>
                </a:solidFill>
              </a:rPr>
              <a:t>The split that makes a workflow safe to use.</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10</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Build the quotation workflow</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Import the starter workflow</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Test the first three nodes</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Add the AI check</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Check the supplier with a rule</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10.5</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Route by verdict</a:t>
            </a:r>
            <a:endParaRPr lang="en-US" sz="1600" dirty="0"/>
          </a:p>
        </p:txBody>
      </p:sp>
      <p:sp>
        <p:nvSpPr>
          <p:cNvPr id="15" name="Text 12"/>
          <p:cNvSpPr txBox="1"/>
          <p:nvPr/>
        </p:nvSpPr>
        <p:spPr>
          <a:xfrm>
            <a:off x="548640" y="461772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10.6</a:t>
            </a:r>
            <a:endParaRPr lang="en-US" sz="1600" dirty="0"/>
          </a:p>
        </p:txBody>
      </p:sp>
      <p:sp>
        <p:nvSpPr>
          <p:cNvPr id="16" name="Text 13"/>
          <p:cNvSpPr txBox="1"/>
          <p:nvPr/>
        </p:nvSpPr>
        <p:spPr>
          <a:xfrm>
            <a:off x="1325880" y="4617720"/>
            <a:ext cx="5852160" cy="566928"/>
          </a:xfrm>
          <a:prstGeom prst="rect">
            <a:avLst/>
          </a:prstGeom>
          <a:noFill/>
          <a:ln/>
        </p:spPr>
        <p:txBody>
          <a:bodyPr wrap="square" lIns="0" tIns="0" rIns="0" bIns="0" rtlCol="0" anchor="t"/>
          <a:lstStyle/>
          <a:p>
            <a:pPr indent="0" marL="0">
              <a:buNone/>
            </a:pPr>
            <a:r>
              <a:rPr lang="en-US" sz="1600" dirty="0">
                <a:solidFill>
                  <a:schemeClr val="tx1"/>
                </a:solidFill>
              </a:rPr>
              <a:t>Ask a person to approve</a:t>
            </a:r>
            <a:endParaRPr lang="en-US" sz="1600" dirty="0"/>
          </a:p>
        </p:txBody>
      </p:sp>
      <p:sp>
        <p:nvSpPr>
          <p:cNvPr id="17" name="Text 14"/>
          <p:cNvSpPr txBox="1"/>
          <p:nvPr/>
        </p:nvSpPr>
        <p:spPr>
          <a:xfrm>
            <a:off x="548640" y="518464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10.7</a:t>
            </a:r>
            <a:endParaRPr lang="en-US" sz="1600" dirty="0"/>
          </a:p>
        </p:txBody>
      </p:sp>
      <p:sp>
        <p:nvSpPr>
          <p:cNvPr id="18" name="Text 15"/>
          <p:cNvSpPr txBox="1"/>
          <p:nvPr/>
        </p:nvSpPr>
        <p:spPr>
          <a:xfrm>
            <a:off x="1325880" y="5184648"/>
            <a:ext cx="5852160" cy="566928"/>
          </a:xfrm>
          <a:prstGeom prst="rect">
            <a:avLst/>
          </a:prstGeom>
          <a:noFill/>
          <a:ln/>
        </p:spPr>
        <p:txBody>
          <a:bodyPr wrap="square" lIns="0" tIns="0" rIns="0" bIns="0" rtlCol="0" anchor="t"/>
          <a:lstStyle/>
          <a:p>
            <a:pPr indent="0" marL="0">
              <a:buNone/>
            </a:pPr>
            <a:r>
              <a:rPr lang="en-US" sz="1600" dirty="0">
                <a:solidFill>
                  <a:schemeClr val="tx1"/>
                </a:solidFill>
              </a:rPr>
              <a:t>Run all four quotations</a:t>
            </a:r>
            <a:endParaRPr lang="en-US" sz="1600" dirty="0"/>
          </a:p>
        </p:txBody>
      </p:sp>
      <p:sp>
        <p:nvSpPr>
          <p:cNvPr id="19"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20"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21" name="Text 17"/>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22" name="Text 18"/>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Each of the four quotations takes a different route, and nothing is approved until you click Approve.</a:t>
            </a:r>
            <a:endParaRPr lang="en-US" sz="1600" dirty="0"/>
          </a:p>
        </p:txBody>
      </p:sp>
      <p:sp>
        <p:nvSpPr>
          <p:cNvPr id="23" name="Divider line"/>
          <p:cNvSpPr/>
          <p:nvPr/>
        </p:nvSpPr>
        <p:spPr>
          <a:xfrm>
            <a:off x="7909560" y="4983480"/>
            <a:ext cx="3429000" cy="0"/>
          </a:xfrm>
          <a:prstGeom prst="line">
            <a:avLst/>
          </a:prstGeom>
          <a:noFill/>
          <a:ln w="12700">
            <a:solidFill>
              <a:srgbClr val="E0E0E0"/>
            </a:solidFill>
            <a:prstDash val="solid"/>
          </a:ln>
        </p:spPr>
      </p:sp>
      <p:sp>
        <p:nvSpPr>
          <p:cNvPr id="24" name="Text 20"/>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10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11</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AI Security for Practitioners</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Attack  |  45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 quotation with a hidden instruction, a record of how your Checker handled it, and better instructions.</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11</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Prompt injection: the document talks to the AI</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Prompt injection</a:t>
            </a:r>
            <a:endParaRPr lang="en-US" sz="2000" dirty="0"/>
          </a:p>
        </p:txBody>
      </p:sp>
      <p:sp>
        <p:nvSpPr>
          <p:cNvPr id="7" name="Text 3"/>
          <p:cNvSpPr txBox="1"/>
          <p:nvPr/>
        </p:nvSpPr>
        <p:spPr>
          <a:xfrm>
            <a:off x="548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Hidden text tells the AI to change what it does</a:t>
            </a:r>
            <a:endParaRPr lang="en-US" sz="1600" dirty="0"/>
          </a:p>
        </p:txBody>
      </p:sp>
      <p:pic>
        <p:nvPicPr>
          <p:cNvPr id="8" name="Image 1" descr="preencoded.png">    </p:cNvPr>
          <p:cNvPicPr>
            <a:picLocks noChangeAspect="1"/>
          </p:cNvPicPr>
          <p:nvPr/>
        </p:nvPicPr>
        <p:blipFill>
          <a:blip r:embed="rId2"/>
          <a:stretch>
            <a:fillRect/>
          </a:stretch>
        </p:blipFill>
        <p:spPr>
          <a:xfrm>
            <a:off x="3406140" y="2011680"/>
            <a:ext cx="502920" cy="502920"/>
          </a:xfrm>
          <a:prstGeom prst="rect">
            <a:avLst/>
          </a:prstGeom>
        </p:spPr>
      </p:pic>
      <p:sp>
        <p:nvSpPr>
          <p:cNvPr id="9" name="Text 4"/>
          <p:cNvSpPr txBox="1"/>
          <p:nvPr/>
        </p:nvSpPr>
        <p:spPr>
          <a:xfrm>
            <a:off x="3406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Data disclosure</a:t>
            </a:r>
            <a:endParaRPr lang="en-US" sz="2000" dirty="0"/>
          </a:p>
        </p:txBody>
      </p:sp>
      <p:sp>
        <p:nvSpPr>
          <p:cNvPr id="10" name="Text 5"/>
          <p:cNvSpPr txBox="1"/>
          <p:nvPr/>
        </p:nvSpPr>
        <p:spPr>
          <a:xfrm>
            <a:off x="3406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Data goes into a tool it shouldn't</a:t>
            </a:r>
            <a:endParaRPr lang="en-US" sz="1600" dirty="0"/>
          </a:p>
        </p:txBody>
      </p:sp>
      <p:pic>
        <p:nvPicPr>
          <p:cNvPr id="11" name="Image 2" descr="preencoded.png">    </p:cNvPr>
          <p:cNvPicPr>
            <a:picLocks noChangeAspect="1"/>
          </p:cNvPicPr>
          <p:nvPr/>
        </p:nvPicPr>
        <p:blipFill>
          <a:blip r:embed="rId3"/>
          <a:stretch>
            <a:fillRect/>
          </a:stretch>
        </p:blipFill>
        <p:spPr>
          <a:xfrm>
            <a:off x="6263640" y="2011680"/>
            <a:ext cx="502920" cy="502920"/>
          </a:xfrm>
          <a:prstGeom prst="rect">
            <a:avLst/>
          </a:prstGeom>
        </p:spPr>
      </p:pic>
      <p:sp>
        <p:nvSpPr>
          <p:cNvPr id="12" name="Text 6"/>
          <p:cNvSpPr txBox="1"/>
          <p:nvPr/>
        </p:nvSpPr>
        <p:spPr>
          <a:xfrm>
            <a:off x="62636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Excessive agency</a:t>
            </a:r>
            <a:endParaRPr lang="en-US" sz="2000" dirty="0"/>
          </a:p>
        </p:txBody>
      </p:sp>
      <p:sp>
        <p:nvSpPr>
          <p:cNvPr id="13" name="Text 7"/>
          <p:cNvSpPr txBox="1"/>
          <p:nvPr/>
        </p:nvSpPr>
        <p:spPr>
          <a:xfrm>
            <a:off x="6263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An agent allowed to do too much on its own</a:t>
            </a:r>
            <a:endParaRPr lang="en-US" sz="1600" dirty="0"/>
          </a:p>
        </p:txBody>
      </p:sp>
      <p:pic>
        <p:nvPicPr>
          <p:cNvPr id="14" name="Image 3" descr="preencoded.png">    </p:cNvPr>
          <p:cNvPicPr>
            <a:picLocks noChangeAspect="1"/>
          </p:cNvPicPr>
          <p:nvPr/>
        </p:nvPicPr>
        <p:blipFill>
          <a:blip r:embed="rId4"/>
          <a:stretch>
            <a:fillRect/>
          </a:stretch>
        </p:blipFill>
        <p:spPr>
          <a:xfrm>
            <a:off x="9121140" y="2011680"/>
            <a:ext cx="502920" cy="502920"/>
          </a:xfrm>
          <a:prstGeom prst="rect">
            <a:avLst/>
          </a:prstGeom>
        </p:spPr>
      </p:pic>
      <p:sp>
        <p:nvSpPr>
          <p:cNvPr id="15" name="Text 8"/>
          <p:cNvSpPr txBox="1"/>
          <p:nvPr/>
        </p:nvSpPr>
        <p:spPr>
          <a:xfrm>
            <a:off x="9121140" y="2743200"/>
            <a:ext cx="2491740" cy="77724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Misinformation</a:t>
            </a:r>
            <a:endParaRPr lang="en-US" sz="2000" dirty="0"/>
          </a:p>
        </p:txBody>
      </p:sp>
      <p:sp>
        <p:nvSpPr>
          <p:cNvPr id="16" name="Text 9"/>
          <p:cNvSpPr txBox="1"/>
          <p:nvPr/>
        </p:nvSpPr>
        <p:spPr>
          <a:xfrm>
            <a:off x="9121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A confident wrong answer that nobody checks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11</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Break your Checker, then defend it</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11.1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Make the poisoned quotation in Word</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11.2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Attack your Checker</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11.3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Add the defence and re-test</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11.4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Swap attacks with a partner</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11.5</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Sort data by which AI tool it may go into</a:t>
            </a:r>
            <a:endParaRPr lang="en-US" sz="1600" dirty="0"/>
          </a:p>
        </p:txBody>
      </p:sp>
      <p:sp>
        <p:nvSpPr>
          <p:cNvPr id="15"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6"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7" name="Text 13"/>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8" name="Text 14"/>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After your fix, the poisoned quotation gets the right verdict and the hidden instruction is reported, and case 09 still gets REVISE for the load alone, with no instruction finding.</a:t>
            </a:r>
            <a:endParaRPr lang="en-US" sz="1600" dirty="0"/>
          </a:p>
        </p:txBody>
      </p:sp>
      <p:sp>
        <p:nvSpPr>
          <p:cNvPr id="19" name="Divider line"/>
          <p:cNvSpPr/>
          <p:nvPr/>
        </p:nvSpPr>
        <p:spPr>
          <a:xfrm>
            <a:off x="7909560" y="4983480"/>
            <a:ext cx="3429000" cy="0"/>
          </a:xfrm>
          <a:prstGeom prst="line">
            <a:avLst/>
          </a:prstGeom>
          <a:noFill/>
          <a:ln w="12700">
            <a:solidFill>
              <a:srgbClr val="E0E0E0"/>
            </a:solidFill>
            <a:prstDash val="solid"/>
          </a:ln>
        </p:spPr>
      </p:sp>
      <p:sp>
        <p:nvSpPr>
          <p:cNvPr id="20" name="Text 16"/>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11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12</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AI Governance in the Malaysian Context</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Govern  |  45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one page of AI rules for the Procurement Department, and a use-case register with risk ratings.</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12</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Malaysia's AI landscape</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3444240" cy="7772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PDPA 2010 and the 2024 amendments</a:t>
            </a:r>
            <a:endParaRPr lang="en-US" sz="1800" dirty="0"/>
          </a:p>
        </p:txBody>
      </p:sp>
      <p:sp>
        <p:nvSpPr>
          <p:cNvPr id="7" name="Text 3"/>
          <p:cNvSpPr txBox="1"/>
          <p:nvPr/>
        </p:nvSpPr>
        <p:spPr>
          <a:xfrm>
            <a:off x="548640" y="3566160"/>
            <a:ext cx="3352800" cy="2011680"/>
          </a:xfrm>
          <a:prstGeom prst="rect">
            <a:avLst/>
          </a:prstGeom>
          <a:noFill/>
          <a:ln/>
        </p:spPr>
        <p:txBody>
          <a:bodyPr wrap="square" lIns="0" tIns="0" rIns="0" bIns="0" rtlCol="0" anchor="t"/>
          <a:lstStyle/>
          <a:p>
            <a:pPr indent="0" marL="0">
              <a:buNone/>
            </a:pPr>
            <a:r>
              <a:rPr lang="en-US" sz="1600" dirty="0">
                <a:solidFill>
                  <a:schemeClr val="tx1"/>
                </a:solidFill>
              </a:rPr>
              <a:t>Personal data in AI tools. A DPO, breach notification and data portability from 1 June 2025</a:t>
            </a:r>
            <a:endParaRPr lang="en-US" sz="1600" dirty="0"/>
          </a:p>
        </p:txBody>
      </p:sp>
      <p:pic>
        <p:nvPicPr>
          <p:cNvPr id="8" name="Image 1" descr="preencoded.png">    </p:cNvPr>
          <p:cNvPicPr>
            <a:picLocks noChangeAspect="1"/>
          </p:cNvPicPr>
          <p:nvPr/>
        </p:nvPicPr>
        <p:blipFill>
          <a:blip r:embed="rId2"/>
          <a:stretch>
            <a:fillRect/>
          </a:stretch>
        </p:blipFill>
        <p:spPr>
          <a:xfrm>
            <a:off x="4358640" y="2011680"/>
            <a:ext cx="502920" cy="502920"/>
          </a:xfrm>
          <a:prstGeom prst="rect">
            <a:avLst/>
          </a:prstGeom>
        </p:spPr>
      </p:pic>
      <p:sp>
        <p:nvSpPr>
          <p:cNvPr id="9" name="Text 4"/>
          <p:cNvSpPr txBox="1"/>
          <p:nvPr/>
        </p:nvSpPr>
        <p:spPr>
          <a:xfrm>
            <a:off x="4358640" y="2743200"/>
            <a:ext cx="3444240" cy="7772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National AI principles (AIGE)</a:t>
            </a:r>
            <a:endParaRPr lang="en-US" sz="1800" dirty="0"/>
          </a:p>
        </p:txBody>
      </p:sp>
      <p:sp>
        <p:nvSpPr>
          <p:cNvPr id="10" name="Text 5"/>
          <p:cNvSpPr txBox="1"/>
          <p:nvPr/>
        </p:nvSpPr>
        <p:spPr>
          <a:xfrm>
            <a:off x="4358640" y="3566160"/>
            <a:ext cx="3352800" cy="2011680"/>
          </a:xfrm>
          <a:prstGeom prst="rect">
            <a:avLst/>
          </a:prstGeom>
          <a:noFill/>
          <a:ln/>
        </p:spPr>
        <p:txBody>
          <a:bodyPr wrap="square" lIns="0" tIns="0" rIns="0" bIns="0" rtlCol="0" anchor="t"/>
          <a:lstStyle/>
          <a:p>
            <a:pPr indent="0" marL="0">
              <a:buNone/>
            </a:pPr>
            <a:r>
              <a:rPr lang="en-US" sz="1600" dirty="0">
                <a:solidFill>
                  <a:schemeClr val="tx1"/>
                </a:solidFill>
              </a:rPr>
              <a:t>Seven voluntary principles from MOSTI, September 2024</a:t>
            </a:r>
            <a:endParaRPr lang="en-US" sz="1600" dirty="0"/>
          </a:p>
        </p:txBody>
      </p:sp>
      <p:pic>
        <p:nvPicPr>
          <p:cNvPr id="11" name="Image 2" descr="preencoded.png">    </p:cNvPr>
          <p:cNvPicPr>
            <a:picLocks noChangeAspect="1"/>
          </p:cNvPicPr>
          <p:nvPr/>
        </p:nvPicPr>
        <p:blipFill>
          <a:blip r:embed="rId3"/>
          <a:stretch>
            <a:fillRect/>
          </a:stretch>
        </p:blipFill>
        <p:spPr>
          <a:xfrm>
            <a:off x="8168640" y="2011680"/>
            <a:ext cx="502920" cy="502920"/>
          </a:xfrm>
          <a:prstGeom prst="rect">
            <a:avLst/>
          </a:prstGeom>
        </p:spPr>
      </p:pic>
      <p:sp>
        <p:nvSpPr>
          <p:cNvPr id="12" name="Text 6"/>
          <p:cNvSpPr txBox="1"/>
          <p:nvPr/>
        </p:nvSpPr>
        <p:spPr>
          <a:xfrm>
            <a:off x="8168640" y="2743200"/>
            <a:ext cx="3444240" cy="777240"/>
          </a:xfrm>
          <a:prstGeom prst="rect">
            <a:avLst/>
          </a:prstGeom>
          <a:noFill/>
          <a:ln/>
        </p:spPr>
        <p:txBody>
          <a:bodyPr wrap="square" lIns="0" tIns="0" rIns="0" bIns="0" rtlCol="0" anchor="t"/>
          <a:lstStyle/>
          <a:p>
            <a:pPr indent="0" marL="0">
              <a:buNone/>
            </a:pPr>
            <a:r>
              <a:rPr lang="en-US" sz="1800" dirty="0">
                <a:solidFill>
                  <a:schemeClr val="tx1"/>
                </a:solidFill>
                <a:latin typeface="Segoe UI Semibold" pitchFamily="34" charset="0"/>
                <a:ea typeface="Segoe UI Semibold" pitchFamily="34" charset="-122"/>
                <a:cs typeface="Segoe UI Semibold" pitchFamily="34" charset="-120"/>
              </a:rPr>
              <a:t>AI Governance Bill</a:t>
            </a:r>
            <a:endParaRPr lang="en-US" sz="1800" dirty="0"/>
          </a:p>
        </p:txBody>
      </p:sp>
      <p:sp>
        <p:nvSpPr>
          <p:cNvPr id="13" name="Text 7"/>
          <p:cNvSpPr txBox="1"/>
          <p:nvPr/>
        </p:nvSpPr>
        <p:spPr>
          <a:xfrm>
            <a:off x="8168640" y="3566160"/>
            <a:ext cx="3352800" cy="2011680"/>
          </a:xfrm>
          <a:prstGeom prst="rect">
            <a:avLst/>
          </a:prstGeom>
          <a:noFill/>
          <a:ln/>
        </p:spPr>
        <p:txBody>
          <a:bodyPr wrap="square" lIns="0" tIns="0" rIns="0" bIns="0" rtlCol="0" anchor="t"/>
          <a:lstStyle/>
          <a:p>
            <a:pPr indent="0" marL="0">
              <a:buNone/>
            </a:pPr>
            <a:r>
              <a:rPr lang="en-US" sz="1600" dirty="0">
                <a:solidFill>
                  <a:schemeClr val="tx1"/>
                </a:solidFill>
              </a:rPr>
              <a:t>A proposed, risk-based law. Consulted on in July 2026. Not law yet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12</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Seven national AI principles</a:t>
            </a:r>
            <a:endParaRPr lang="en-US" sz="3200" dirty="0"/>
          </a:p>
        </p:txBody>
      </p:sp>
      <p:sp>
        <p:nvSpPr>
          <p:cNvPr id="5" name="Divider line"/>
          <p:cNvSpPr/>
          <p:nvPr/>
        </p:nvSpPr>
        <p:spPr>
          <a:xfrm>
            <a:off x="548640" y="1783080"/>
            <a:ext cx="5394960" cy="0"/>
          </a:xfrm>
          <a:prstGeom prst="line">
            <a:avLst/>
          </a:prstGeom>
          <a:noFill/>
          <a:ln w="12700">
            <a:solidFill>
              <a:srgbClr val="E0E0E0"/>
            </a:solidFill>
            <a:prstDash val="solid"/>
          </a:ln>
        </p:spPr>
      </p:sp>
      <p:sp>
        <p:nvSpPr>
          <p:cNvPr id="6" name="Text 3"/>
          <p:cNvSpPr txBox="1"/>
          <p:nvPr/>
        </p:nvSpPr>
        <p:spPr>
          <a:xfrm>
            <a:off x="548640" y="1965960"/>
            <a:ext cx="548640" cy="64008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1</a:t>
            </a:r>
            <a:endParaRPr lang="en-US" sz="2600" dirty="0"/>
          </a:p>
        </p:txBody>
      </p:sp>
      <p:sp>
        <p:nvSpPr>
          <p:cNvPr id="7" name="Text 4"/>
          <p:cNvSpPr txBox="1"/>
          <p:nvPr/>
        </p:nvSpPr>
        <p:spPr>
          <a:xfrm>
            <a:off x="1188720" y="2011680"/>
            <a:ext cx="4663440" cy="64008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Fairness</a:t>
            </a:r>
            <a:endParaRPr lang="en-US" sz="1900" dirty="0"/>
          </a:p>
        </p:txBody>
      </p:sp>
      <p:sp>
        <p:nvSpPr>
          <p:cNvPr id="8" name="Divider line"/>
          <p:cNvSpPr/>
          <p:nvPr/>
        </p:nvSpPr>
        <p:spPr>
          <a:xfrm>
            <a:off x="6172200" y="1783080"/>
            <a:ext cx="5394960" cy="0"/>
          </a:xfrm>
          <a:prstGeom prst="line">
            <a:avLst/>
          </a:prstGeom>
          <a:noFill/>
          <a:ln w="12700">
            <a:solidFill>
              <a:srgbClr val="E0E0E0"/>
            </a:solidFill>
            <a:prstDash val="solid"/>
          </a:ln>
        </p:spPr>
      </p:sp>
      <p:sp>
        <p:nvSpPr>
          <p:cNvPr id="9" name="Text 6"/>
          <p:cNvSpPr txBox="1"/>
          <p:nvPr/>
        </p:nvSpPr>
        <p:spPr>
          <a:xfrm>
            <a:off x="6172200" y="1965960"/>
            <a:ext cx="548640" cy="64008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2</a:t>
            </a:r>
            <a:endParaRPr lang="en-US" sz="2600" dirty="0"/>
          </a:p>
        </p:txBody>
      </p:sp>
      <p:sp>
        <p:nvSpPr>
          <p:cNvPr id="10" name="Text 7"/>
          <p:cNvSpPr txBox="1"/>
          <p:nvPr/>
        </p:nvSpPr>
        <p:spPr>
          <a:xfrm>
            <a:off x="6812280" y="2011680"/>
            <a:ext cx="4663440" cy="64008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Reliability, safety and control</a:t>
            </a:r>
            <a:endParaRPr lang="en-US" sz="1900" dirty="0"/>
          </a:p>
        </p:txBody>
      </p:sp>
      <p:sp>
        <p:nvSpPr>
          <p:cNvPr id="11" name="Divider line"/>
          <p:cNvSpPr/>
          <p:nvPr/>
        </p:nvSpPr>
        <p:spPr>
          <a:xfrm>
            <a:off x="548640" y="2834640"/>
            <a:ext cx="5394960" cy="0"/>
          </a:xfrm>
          <a:prstGeom prst="line">
            <a:avLst/>
          </a:prstGeom>
          <a:noFill/>
          <a:ln w="12700">
            <a:solidFill>
              <a:srgbClr val="E0E0E0"/>
            </a:solidFill>
            <a:prstDash val="solid"/>
          </a:ln>
        </p:spPr>
      </p:sp>
      <p:sp>
        <p:nvSpPr>
          <p:cNvPr id="12" name="Text 9"/>
          <p:cNvSpPr txBox="1"/>
          <p:nvPr/>
        </p:nvSpPr>
        <p:spPr>
          <a:xfrm>
            <a:off x="548640" y="3017520"/>
            <a:ext cx="548640" cy="64008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3</a:t>
            </a:r>
            <a:endParaRPr lang="en-US" sz="2600" dirty="0"/>
          </a:p>
        </p:txBody>
      </p:sp>
      <p:sp>
        <p:nvSpPr>
          <p:cNvPr id="13" name="Text 10"/>
          <p:cNvSpPr txBox="1"/>
          <p:nvPr/>
        </p:nvSpPr>
        <p:spPr>
          <a:xfrm>
            <a:off x="1188720" y="3063240"/>
            <a:ext cx="4663440" cy="64008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Privacy and security</a:t>
            </a:r>
            <a:endParaRPr lang="en-US" sz="1900" dirty="0"/>
          </a:p>
        </p:txBody>
      </p:sp>
      <p:sp>
        <p:nvSpPr>
          <p:cNvPr id="14" name="Divider line"/>
          <p:cNvSpPr/>
          <p:nvPr/>
        </p:nvSpPr>
        <p:spPr>
          <a:xfrm>
            <a:off x="6172200" y="2834640"/>
            <a:ext cx="5394960" cy="0"/>
          </a:xfrm>
          <a:prstGeom prst="line">
            <a:avLst/>
          </a:prstGeom>
          <a:noFill/>
          <a:ln w="12700">
            <a:solidFill>
              <a:srgbClr val="E0E0E0"/>
            </a:solidFill>
            <a:prstDash val="solid"/>
          </a:ln>
        </p:spPr>
      </p:sp>
      <p:sp>
        <p:nvSpPr>
          <p:cNvPr id="15" name="Text 12"/>
          <p:cNvSpPr txBox="1"/>
          <p:nvPr/>
        </p:nvSpPr>
        <p:spPr>
          <a:xfrm>
            <a:off x="6172200" y="3017520"/>
            <a:ext cx="548640" cy="64008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4</a:t>
            </a:r>
            <a:endParaRPr lang="en-US" sz="2600" dirty="0"/>
          </a:p>
        </p:txBody>
      </p:sp>
      <p:sp>
        <p:nvSpPr>
          <p:cNvPr id="16" name="Text 13"/>
          <p:cNvSpPr txBox="1"/>
          <p:nvPr/>
        </p:nvSpPr>
        <p:spPr>
          <a:xfrm>
            <a:off x="6812280" y="3063240"/>
            <a:ext cx="4663440" cy="64008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Inclusiveness</a:t>
            </a:r>
            <a:endParaRPr lang="en-US" sz="1900" dirty="0"/>
          </a:p>
        </p:txBody>
      </p:sp>
      <p:sp>
        <p:nvSpPr>
          <p:cNvPr id="17" name="Divider line"/>
          <p:cNvSpPr/>
          <p:nvPr/>
        </p:nvSpPr>
        <p:spPr>
          <a:xfrm>
            <a:off x="548640" y="3886200"/>
            <a:ext cx="5394960" cy="0"/>
          </a:xfrm>
          <a:prstGeom prst="line">
            <a:avLst/>
          </a:prstGeom>
          <a:noFill/>
          <a:ln w="12700">
            <a:solidFill>
              <a:srgbClr val="E0E0E0"/>
            </a:solidFill>
            <a:prstDash val="solid"/>
          </a:ln>
        </p:spPr>
      </p:sp>
      <p:sp>
        <p:nvSpPr>
          <p:cNvPr id="18" name="Text 15"/>
          <p:cNvSpPr txBox="1"/>
          <p:nvPr/>
        </p:nvSpPr>
        <p:spPr>
          <a:xfrm>
            <a:off x="548640" y="4069080"/>
            <a:ext cx="548640" cy="64008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5</a:t>
            </a:r>
            <a:endParaRPr lang="en-US" sz="2600" dirty="0"/>
          </a:p>
        </p:txBody>
      </p:sp>
      <p:sp>
        <p:nvSpPr>
          <p:cNvPr id="19" name="Text 16"/>
          <p:cNvSpPr txBox="1"/>
          <p:nvPr/>
        </p:nvSpPr>
        <p:spPr>
          <a:xfrm>
            <a:off x="1188720" y="4114800"/>
            <a:ext cx="4663440" cy="64008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Transparency</a:t>
            </a:r>
            <a:endParaRPr lang="en-US" sz="1900" dirty="0"/>
          </a:p>
        </p:txBody>
      </p:sp>
      <p:sp>
        <p:nvSpPr>
          <p:cNvPr id="20" name="Divider line"/>
          <p:cNvSpPr/>
          <p:nvPr/>
        </p:nvSpPr>
        <p:spPr>
          <a:xfrm>
            <a:off x="6172200" y="3886200"/>
            <a:ext cx="5394960" cy="0"/>
          </a:xfrm>
          <a:prstGeom prst="line">
            <a:avLst/>
          </a:prstGeom>
          <a:noFill/>
          <a:ln w="12700">
            <a:solidFill>
              <a:srgbClr val="E0E0E0"/>
            </a:solidFill>
            <a:prstDash val="solid"/>
          </a:ln>
        </p:spPr>
      </p:sp>
      <p:sp>
        <p:nvSpPr>
          <p:cNvPr id="21" name="Text 18"/>
          <p:cNvSpPr txBox="1"/>
          <p:nvPr/>
        </p:nvSpPr>
        <p:spPr>
          <a:xfrm>
            <a:off x="6172200" y="4069080"/>
            <a:ext cx="548640" cy="64008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6</a:t>
            </a:r>
            <a:endParaRPr lang="en-US" sz="2600" dirty="0"/>
          </a:p>
        </p:txBody>
      </p:sp>
      <p:sp>
        <p:nvSpPr>
          <p:cNvPr id="22" name="Text 19"/>
          <p:cNvSpPr txBox="1"/>
          <p:nvPr/>
        </p:nvSpPr>
        <p:spPr>
          <a:xfrm>
            <a:off x="6812280" y="4114800"/>
            <a:ext cx="4663440" cy="64008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Accountability</a:t>
            </a:r>
            <a:endParaRPr lang="en-US" sz="1900" dirty="0"/>
          </a:p>
        </p:txBody>
      </p:sp>
      <p:sp>
        <p:nvSpPr>
          <p:cNvPr id="23" name="Divider line"/>
          <p:cNvSpPr/>
          <p:nvPr/>
        </p:nvSpPr>
        <p:spPr>
          <a:xfrm>
            <a:off x="548640" y="4937760"/>
            <a:ext cx="5394960" cy="0"/>
          </a:xfrm>
          <a:prstGeom prst="line">
            <a:avLst/>
          </a:prstGeom>
          <a:noFill/>
          <a:ln w="12700">
            <a:solidFill>
              <a:srgbClr val="E0E0E0"/>
            </a:solidFill>
            <a:prstDash val="solid"/>
          </a:ln>
        </p:spPr>
      </p:sp>
      <p:sp>
        <p:nvSpPr>
          <p:cNvPr id="24" name="Text 21"/>
          <p:cNvSpPr txBox="1"/>
          <p:nvPr/>
        </p:nvSpPr>
        <p:spPr>
          <a:xfrm>
            <a:off x="548640" y="5120640"/>
            <a:ext cx="548640" cy="640080"/>
          </a:xfrm>
          <a:prstGeom prst="rect">
            <a:avLst/>
          </a:prstGeom>
          <a:noFill/>
          <a:ln/>
        </p:spPr>
        <p:txBody>
          <a:bodyPr wrap="square" lIns="0" tIns="0" rIns="0" bIns="0" rtlCol="0" anchor="t"/>
          <a:lstStyle/>
          <a:p>
            <a:pPr indent="0" marL="0">
              <a:buNone/>
            </a:pPr>
            <a:r>
              <a:rPr lang="en-US" sz="2600" dirty="0">
                <a:solidFill>
                  <a:schemeClr val="accent1"/>
                </a:solidFill>
                <a:latin typeface="Segoe UI Light" pitchFamily="34" charset="0"/>
                <a:ea typeface="Segoe UI Light" pitchFamily="34" charset="-122"/>
                <a:cs typeface="Segoe UI Light" pitchFamily="34" charset="-120"/>
              </a:rPr>
              <a:t>7</a:t>
            </a:r>
            <a:endParaRPr lang="en-US" sz="2600" dirty="0"/>
          </a:p>
        </p:txBody>
      </p:sp>
      <p:sp>
        <p:nvSpPr>
          <p:cNvPr id="25" name="Text 22"/>
          <p:cNvSpPr txBox="1"/>
          <p:nvPr/>
        </p:nvSpPr>
        <p:spPr>
          <a:xfrm>
            <a:off x="1188720" y="5166360"/>
            <a:ext cx="4663440" cy="64008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Pursuit of human benefit and happiness</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12</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Rules and a register for your department</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12.1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List the department's AI uses</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12.2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Rate the risk</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12.3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Write the department's AI rules</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12.4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Check them against the national principles</a:t>
            </a:r>
            <a:endParaRPr lang="en-US" sz="1600" dirty="0"/>
          </a:p>
        </p:txBody>
      </p:sp>
      <p:sp>
        <p:nvSpPr>
          <p:cNvPr id="13"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4"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5" name="Text 11"/>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6" name="Text 12"/>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Every use case has a risk rating with a reason, a human check and an owner. Every rule is something a person can actually do.</a:t>
            </a:r>
            <a:endParaRPr lang="en-US" sz="1600" dirty="0"/>
          </a:p>
        </p:txBody>
      </p:sp>
      <p:sp>
        <p:nvSpPr>
          <p:cNvPr id="17" name="Divider line"/>
          <p:cNvSpPr/>
          <p:nvPr/>
        </p:nvSpPr>
        <p:spPr>
          <a:xfrm>
            <a:off x="7909560" y="4983480"/>
            <a:ext cx="3429000" cy="0"/>
          </a:xfrm>
          <a:prstGeom prst="line">
            <a:avLst/>
          </a:prstGeom>
          <a:noFill/>
          <a:ln w="12700">
            <a:solidFill>
              <a:srgbClr val="E0E0E0"/>
            </a:solidFill>
            <a:prstDash val="solid"/>
          </a:ln>
        </p:spPr>
      </p:sp>
      <p:sp>
        <p:nvSpPr>
          <p:cNvPr id="18" name="Text 14"/>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12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body" hasCustomPrompt="1"/>
          </p:nvPr>
        </p:nvSpPr>
        <p:spPr>
          <a:xfrm>
            <a:off x="731520" y="914400"/>
            <a:ext cx="3657600" cy="1463040"/>
          </a:xfrm>
          <a:prstGeom prst="rect">
            <a:avLst/>
          </a:prstGeom>
          <a:noFill/>
          <a:ln/>
        </p:spPr>
        <p:txBody>
          <a:bodyPr wrap="square" lIns="0" tIns="0" rIns="0" bIns="0" rtlCol="0" anchor="b"/>
          <a:lstStyle/>
          <a:p>
            <a:pPr indent="0" marL="0">
              <a:buNone/>
            </a:pPr>
            <a:r>
              <a:rPr lang="en-US" sz="8800" dirty="0">
                <a:solidFill>
                  <a:srgbClr val="00EEFC"/>
                </a:solidFill>
                <a:latin typeface="Segoe UI Light" pitchFamily="34" charset="0"/>
                <a:ea typeface="Segoe UI Light" pitchFamily="34" charset="-122"/>
                <a:cs typeface="Segoe UI Light" pitchFamily="34" charset="-120"/>
              </a:rPr>
              <a:t>13</a:t>
            </a:r>
            <a:endParaRPr lang="en-US" sz="8800" dirty="0"/>
          </a:p>
        </p:txBody>
      </p:sp>
      <p:sp>
        <p:nvSpPr>
          <p:cNvPr id="3" name="Text 0"/>
          <p:cNvSpPr/>
          <p:nvPr>
            <p:ph type="title" hasCustomPrompt="1"/>
          </p:nvPr>
        </p:nvSpPr>
        <p:spPr>
          <a:xfrm>
            <a:off x="731520" y="2606040"/>
            <a:ext cx="10515600" cy="1097280"/>
          </a:xfrm>
          <a:prstGeom prst="rect">
            <a:avLst/>
          </a:prstGeom>
          <a:noFill/>
          <a:ln/>
        </p:spPr>
        <p:txBody>
          <a:bodyPr wrap="square" lIns="0" tIns="0" rIns="0" bIns="0" rtlCol="0" anchor="t"/>
          <a:lstStyle/>
          <a:p>
            <a:pPr algn="l" indent="0" marL="0">
              <a:buNone/>
            </a:pPr>
            <a:r>
              <a:rPr lang="en-US" sz="4000" dirty="0">
                <a:solidFill>
                  <a:schemeClr val="bg1"/>
                </a:solidFill>
              </a:rPr>
              <a:t>Capstone Project</a:t>
            </a:r>
            <a:endParaRPr lang="en-US" sz="4000" dirty="0"/>
          </a:p>
        </p:txBody>
      </p:sp>
      <p:sp>
        <p:nvSpPr>
          <p:cNvPr id="4" name="Text 0"/>
          <p:cNvSpPr/>
          <p:nvPr>
            <p:ph idx="103" type="body" hasCustomPrompt="1"/>
          </p:nvPr>
        </p:nvSpPr>
        <p:spPr>
          <a:xfrm>
            <a:off x="731520" y="3931920"/>
            <a:ext cx="6949440" cy="1463040"/>
          </a:xfrm>
          <a:prstGeom prst="rect">
            <a:avLst/>
          </a:prstGeom>
          <a:noFill/>
          <a:ln/>
        </p:spPr>
        <p:txBody>
          <a:bodyPr wrap="square" lIns="0" tIns="0" rIns="0" bIns="0" rtlCol="0" anchor="t"/>
          <a:lstStyle/>
          <a:p>
            <a:pPr indent="0" marL="0">
              <a:buNone/>
            </a:pPr>
            <a:r>
              <a:rPr lang="en-US" sz="1800" dirty="0">
                <a:solidFill>
                  <a:schemeClr val="bg1"/>
                </a:solidFill>
                <a:latin typeface="Segoe UI Semibold" pitchFamily="34" charset="0"/>
                <a:ea typeface="Segoe UI Semibold" pitchFamily="34" charset="-122"/>
                <a:cs typeface="Segoe UI Semibold" pitchFamily="34" charset="-120"/>
              </a:rPr>
              <a:t>Stage: Pitch  |  90 minutes</a:t>
            </a:r>
            <a:endParaRPr lang="en-US" sz="1800" dirty="0"/>
          </a:p>
          <a:p>
            <a:pPr indent="0" marL="0">
              <a:buNone/>
            </a:pPr>
            <a:r>
              <a:rPr lang="en-US" sz="800" dirty="0">
                <a:solidFill>
                  <a:schemeClr val="bg1"/>
                </a:solidFill>
              </a:rPr>
              <a:t> </a:t>
            </a:r>
            <a:endParaRPr lang="en-US" sz="1800" dirty="0"/>
          </a:p>
          <a:p>
            <a:pPr indent="0" marL="0">
              <a:buNone/>
            </a:pPr>
            <a:r>
              <a:rPr lang="en-US" sz="1800" dirty="0">
                <a:solidFill>
                  <a:schemeClr val="bg1"/>
                </a:solidFill>
              </a:rPr>
              <a:t>Your result: an AI Workflow Canvas for a new Sinar Maju process, tested on its data, and a five-minute pitch.</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13</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Pick one of four briefs</a:t>
            </a:r>
            <a:endParaRPr lang="en-US" sz="3200" dirty="0"/>
          </a:p>
        </p:txBody>
      </p:sp>
      <p:pic>
        <p:nvPicPr>
          <p:cNvPr id="5" name="Image 0" descr="preencoded.png">    </p:cNvPr>
          <p:cNvPicPr>
            <a:picLocks noChangeAspect="1"/>
          </p:cNvPicPr>
          <p:nvPr/>
        </p:nvPicPr>
        <p:blipFill>
          <a:blip r:embed="rId1"/>
          <a:stretch>
            <a:fillRect/>
          </a:stretch>
        </p:blipFill>
        <p:spPr>
          <a:xfrm>
            <a:off x="548640" y="2011680"/>
            <a:ext cx="502920" cy="502920"/>
          </a:xfrm>
          <a:prstGeom prst="rect">
            <a:avLst/>
          </a:prstGeom>
        </p:spPr>
      </p:pic>
      <p:sp>
        <p:nvSpPr>
          <p:cNvPr id="6" name="Text 2"/>
          <p:cNvSpPr txBox="1"/>
          <p:nvPr/>
        </p:nvSpPr>
        <p:spPr>
          <a:xfrm>
            <a:off x="548640" y="27432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A: Invoice matching</a:t>
            </a:r>
            <a:endParaRPr lang="en-US" sz="1900" dirty="0"/>
          </a:p>
        </p:txBody>
      </p:sp>
      <p:sp>
        <p:nvSpPr>
          <p:cNvPr id="7" name="Text 3"/>
          <p:cNvSpPr txBox="1"/>
          <p:nvPr/>
        </p:nvSpPr>
        <p:spPr>
          <a:xfrm>
            <a:off x="548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Finance matches each invoice to its purchase order and goods received note</a:t>
            </a:r>
            <a:endParaRPr lang="en-US" sz="1600" dirty="0"/>
          </a:p>
        </p:txBody>
      </p:sp>
      <p:pic>
        <p:nvPicPr>
          <p:cNvPr id="8" name="Image 1" descr="preencoded.png">    </p:cNvPr>
          <p:cNvPicPr>
            <a:picLocks noChangeAspect="1"/>
          </p:cNvPicPr>
          <p:nvPr/>
        </p:nvPicPr>
        <p:blipFill>
          <a:blip r:embed="rId2"/>
          <a:stretch>
            <a:fillRect/>
          </a:stretch>
        </p:blipFill>
        <p:spPr>
          <a:xfrm>
            <a:off x="3406140" y="2011680"/>
            <a:ext cx="502920" cy="502920"/>
          </a:xfrm>
          <a:prstGeom prst="rect">
            <a:avLst/>
          </a:prstGeom>
        </p:spPr>
      </p:pic>
      <p:sp>
        <p:nvSpPr>
          <p:cNvPr id="9" name="Text 4"/>
          <p:cNvSpPr txBox="1"/>
          <p:nvPr/>
        </p:nvSpPr>
        <p:spPr>
          <a:xfrm>
            <a:off x="3406140" y="27432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B: Stock enquiries</a:t>
            </a:r>
            <a:endParaRPr lang="en-US" sz="1900" dirty="0"/>
          </a:p>
        </p:txBody>
      </p:sp>
      <p:sp>
        <p:nvSpPr>
          <p:cNvPr id="10" name="Text 5"/>
          <p:cNvSpPr txBox="1"/>
          <p:nvPr/>
        </p:nvSpPr>
        <p:spPr>
          <a:xfrm>
            <a:off x="3406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Sales answers customer emails about stock, prices and delivery</a:t>
            </a:r>
            <a:endParaRPr lang="en-US" sz="1600" dirty="0"/>
          </a:p>
        </p:txBody>
      </p:sp>
      <p:pic>
        <p:nvPicPr>
          <p:cNvPr id="11" name="Image 2" descr="preencoded.png">    </p:cNvPr>
          <p:cNvPicPr>
            <a:picLocks noChangeAspect="1"/>
          </p:cNvPicPr>
          <p:nvPr/>
        </p:nvPicPr>
        <p:blipFill>
          <a:blip r:embed="rId3"/>
          <a:stretch>
            <a:fillRect/>
          </a:stretch>
        </p:blipFill>
        <p:spPr>
          <a:xfrm>
            <a:off x="6263640" y="2011680"/>
            <a:ext cx="502920" cy="502920"/>
          </a:xfrm>
          <a:prstGeom prst="rect">
            <a:avLst/>
          </a:prstGeom>
        </p:spPr>
      </p:pic>
      <p:sp>
        <p:nvSpPr>
          <p:cNvPr id="12" name="Text 6"/>
          <p:cNvSpPr txBox="1"/>
          <p:nvPr/>
        </p:nvSpPr>
        <p:spPr>
          <a:xfrm>
            <a:off x="6263640" y="27432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C: Monthly spend report</a:t>
            </a:r>
            <a:endParaRPr lang="en-US" sz="1900" dirty="0"/>
          </a:p>
        </p:txBody>
      </p:sp>
      <p:sp>
        <p:nvSpPr>
          <p:cNvPr id="13" name="Text 7"/>
          <p:cNvSpPr txBox="1"/>
          <p:nvPr/>
        </p:nvSpPr>
        <p:spPr>
          <a:xfrm>
            <a:off x="62636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Procurement reports spend against budget to the Finance Director</a:t>
            </a:r>
            <a:endParaRPr lang="en-US" sz="1600" dirty="0"/>
          </a:p>
        </p:txBody>
      </p:sp>
      <p:pic>
        <p:nvPicPr>
          <p:cNvPr id="14" name="Image 3" descr="preencoded.png">    </p:cNvPr>
          <p:cNvPicPr>
            <a:picLocks noChangeAspect="1"/>
          </p:cNvPicPr>
          <p:nvPr/>
        </p:nvPicPr>
        <p:blipFill>
          <a:blip r:embed="rId4"/>
          <a:stretch>
            <a:fillRect/>
          </a:stretch>
        </p:blipFill>
        <p:spPr>
          <a:xfrm>
            <a:off x="9121140" y="2011680"/>
            <a:ext cx="502920" cy="502920"/>
          </a:xfrm>
          <a:prstGeom prst="rect">
            <a:avLst/>
          </a:prstGeom>
        </p:spPr>
      </p:pic>
      <p:sp>
        <p:nvSpPr>
          <p:cNvPr id="15" name="Text 8"/>
          <p:cNvSpPr txBox="1"/>
          <p:nvPr/>
        </p:nvSpPr>
        <p:spPr>
          <a:xfrm>
            <a:off x="9121140" y="2743200"/>
            <a:ext cx="2491740" cy="777240"/>
          </a:xfrm>
          <a:prstGeom prst="rect">
            <a:avLst/>
          </a:prstGeom>
          <a:noFill/>
          <a:ln/>
        </p:spPr>
        <p:txBody>
          <a:bodyPr wrap="square" lIns="0" tIns="0" rIns="0" bIns="0" rtlCol="0" anchor="t"/>
          <a:lstStyle/>
          <a:p>
            <a:pPr indent="0" marL="0">
              <a:buNone/>
            </a:pPr>
            <a:r>
              <a:rPr lang="en-US" sz="1900" dirty="0">
                <a:solidFill>
                  <a:schemeClr val="tx1"/>
                </a:solidFill>
                <a:latin typeface="Segoe UI Semibold" pitchFamily="34" charset="0"/>
                <a:ea typeface="Segoe UI Semibold" pitchFamily="34" charset="-122"/>
                <a:cs typeface="Segoe UI Semibold" pitchFamily="34" charset="-120"/>
              </a:rPr>
              <a:t>D: Staff leave queries</a:t>
            </a:r>
            <a:endParaRPr lang="en-US" sz="1900" dirty="0"/>
          </a:p>
        </p:txBody>
      </p:sp>
      <p:sp>
        <p:nvSpPr>
          <p:cNvPr id="16" name="Text 9"/>
          <p:cNvSpPr txBox="1"/>
          <p:nvPr/>
        </p:nvSpPr>
        <p:spPr>
          <a:xfrm>
            <a:off x="9121140" y="3566160"/>
            <a:ext cx="2400300" cy="1828800"/>
          </a:xfrm>
          <a:prstGeom prst="rect">
            <a:avLst/>
          </a:prstGeom>
          <a:noFill/>
          <a:ln/>
        </p:spPr>
        <p:txBody>
          <a:bodyPr wrap="square" lIns="0" tIns="0" rIns="0" bIns="0" rtlCol="0" anchor="t"/>
          <a:lstStyle/>
          <a:p>
            <a:pPr indent="0" marL="0">
              <a:buNone/>
            </a:pPr>
            <a:r>
              <a:rPr lang="en-US" sz="1600" dirty="0">
                <a:solidFill>
                  <a:schemeClr val="tx1"/>
                </a:solidFill>
              </a:rPr>
              <a:t>HR answers staff emails about leave, with personal data to protect</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Module 13</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Five minutes to pitch, scored out of 24</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108960"/>
                <a:gridCol w="7955280"/>
              </a:tblGrid>
              <a:tr h="530352">
                <a:tc>
                  <a:txBody>
                    <a:bodyP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Criterion</a:t>
                      </a:r>
                      <a:endParaRPr lang="en-US" sz="14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c>
                  <a:txBody>
                    <a:bodyP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Strong looks like</a:t>
                      </a:r>
                      <a:endParaRPr lang="en-US" sz="14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25400" cap="flat" cmpd="sng" algn="ctr">
                      <a:solidFill>
                        <a:srgbClr val="1A1A2E"/>
                      </a:solidFill>
                      <a:prstDash val="solid"/>
                      <a:round/>
                      <a:headEnd type="none" w="med" len="med"/>
                      <a:tailEnd type="none" w="med" len="med"/>
                    </a:lnB>
                  </a:tcPr>
                </a:tc>
              </a:tr>
              <a:tr h="530352">
                <a:tc>
                  <a:txBody>
                    <a:bodyP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Problem and value</a:t>
                      </a:r>
                      <a:endParaRPr lang="en-US" sz="14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400" dirty="0">
                          <a:solidFill>
                            <a:schemeClr val="tx1"/>
                          </a:solidFill>
                        </a:rPr>
                        <a:t>Clear problem and users, with time or errors saved worked out</a:t>
                      </a:r>
                      <a:endParaRPr lang="en-US" sz="14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Workflow design</a:t>
                      </a:r>
                      <a:endParaRPr lang="en-US" sz="14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400" dirty="0">
                          <a:solidFill>
                            <a:schemeClr val="tx1"/>
                          </a:solidFill>
                        </a:rPr>
                        <a:t>Every step marked AI, rule or person, with a clear trigger</a:t>
                      </a:r>
                      <a:endParaRPr lang="en-US" sz="14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Human approval</a:t>
                      </a:r>
                      <a:endParaRPr lang="en-US" sz="14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400" dirty="0">
                          <a:solidFill>
                            <a:schemeClr val="tx1"/>
                          </a:solidFill>
                        </a:rPr>
                        <a:t>A person approves before anything leaves the company or money moves</a:t>
                      </a:r>
                      <a:endParaRPr lang="en-US" sz="14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Risks and controls</a:t>
                      </a:r>
                      <a:endParaRPr lang="en-US" sz="14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400" dirty="0">
                          <a:solidFill>
                            <a:schemeClr val="tx1"/>
                          </a:solidFill>
                        </a:rPr>
                        <a:t>Hidden instructions and personal data handled, tricky cases covered</a:t>
                      </a:r>
                      <a:endParaRPr lang="en-US" sz="14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Testing</a:t>
                      </a:r>
                      <a:endParaRPr lang="en-US" sz="14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400" dirty="0">
                          <a:solidFill>
                            <a:schemeClr val="tx1"/>
                          </a:solidFill>
                        </a:rPr>
                        <a:t>Test cases from the data, and a score to beat</a:t>
                      </a:r>
                      <a:endParaRPr lang="en-US" sz="14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r h="530352">
                <a:tc>
                  <a:txBody>
                    <a:bodyPr/>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Pitch</a:t>
                      </a:r>
                      <a:endParaRPr lang="en-US" sz="1400" dirty="0">
                        <a:latin typeface="Segoe UI Semibold" charset="0"/>
                        <a:ea typeface="Segoe UI Semibold" charset="0"/>
                        <a:cs typeface="Segoe UI Semibold" charset="0"/>
                      </a:endParaRPr>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c>
                  <a:txBody>
                    <a:bodyPr/>
                    <a:lstStyle/>
                    <a:p>
                      <a:pPr indent="0" marL="0">
                        <a:buNone/>
                      </a:pPr>
                      <a:r>
                        <a:rPr lang="en-US" sz="1400" dirty="0">
                          <a:solidFill>
                            <a:schemeClr val="tx1"/>
                          </a:solidFill>
                        </a:rPr>
                        <a:t>Clear, on time, answers questions with the design</a:t>
                      </a:r>
                      <a:endParaRPr lang="en-US" sz="1400" dirty="0"/>
                    </a:p>
                  </a:txBody>
                  <a:tcPr marL="0" marR="91440" marT="54864" marB="54864" anchor="ctr">
                    <a:lnL w="0" cap="flat" cmpd="sng" algn="ctr">
                      <a:noFill/>
                    </a:lnL>
                    <a:lnR w="0" cap="flat" cmpd="sng" algn="ctr">
                      <a:noFill/>
                    </a:lnR>
                    <a:lnT w="0" cap="flat" cmpd="sng" algn="ctr">
                      <a:noFill/>
                    </a:lnT>
                    <a:lnB w="12700" cap="flat" cmpd="sng" algn="ctr">
                      <a:solidFill>
                        <a:srgbClr val="E0E0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Your turn  |  Module 13</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Design and pitch an AI workflow</a:t>
            </a:r>
            <a:endParaRPr lang="en-US" sz="3200" dirty="0"/>
          </a:p>
        </p:txBody>
      </p:sp>
      <p:sp>
        <p:nvSpPr>
          <p:cNvPr id="5" name="Text 2"/>
          <p:cNvSpPr txBox="1"/>
          <p:nvPr/>
        </p:nvSpPr>
        <p:spPr>
          <a:xfrm>
            <a:off x="548640" y="1783080"/>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13.1</a:t>
            </a:r>
            <a:endParaRPr lang="en-US" sz="1600" dirty="0"/>
          </a:p>
        </p:txBody>
      </p:sp>
      <p:sp>
        <p:nvSpPr>
          <p:cNvPr id="6" name="Text 3"/>
          <p:cNvSpPr txBox="1"/>
          <p:nvPr/>
        </p:nvSpPr>
        <p:spPr>
          <a:xfrm>
            <a:off x="1325880" y="1783080"/>
            <a:ext cx="5852160" cy="566928"/>
          </a:xfrm>
          <a:prstGeom prst="rect">
            <a:avLst/>
          </a:prstGeom>
          <a:noFill/>
          <a:ln/>
        </p:spPr>
        <p:txBody>
          <a:bodyPr wrap="square" lIns="0" tIns="0" rIns="0" bIns="0" rtlCol="0" anchor="t"/>
          <a:lstStyle/>
          <a:p>
            <a:pPr indent="0" marL="0">
              <a:buNone/>
            </a:pPr>
            <a:r>
              <a:rPr lang="en-US" sz="1600" dirty="0">
                <a:solidFill>
                  <a:schemeClr val="tx1"/>
                </a:solidFill>
              </a:rPr>
              <a:t>Pick your brief</a:t>
            </a:r>
            <a:endParaRPr lang="en-US" sz="1600" dirty="0"/>
          </a:p>
        </p:txBody>
      </p:sp>
      <p:sp>
        <p:nvSpPr>
          <p:cNvPr id="7" name="Text 4"/>
          <p:cNvSpPr txBox="1"/>
          <p:nvPr/>
        </p:nvSpPr>
        <p:spPr>
          <a:xfrm>
            <a:off x="548640" y="2350008"/>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13.2</a:t>
            </a:r>
            <a:endParaRPr lang="en-US" sz="1600" dirty="0"/>
          </a:p>
        </p:txBody>
      </p:sp>
      <p:sp>
        <p:nvSpPr>
          <p:cNvPr id="8" name="Text 5"/>
          <p:cNvSpPr txBox="1"/>
          <p:nvPr/>
        </p:nvSpPr>
        <p:spPr>
          <a:xfrm>
            <a:off x="1325880" y="2350008"/>
            <a:ext cx="5852160" cy="566928"/>
          </a:xfrm>
          <a:prstGeom prst="rect">
            <a:avLst/>
          </a:prstGeom>
          <a:noFill/>
          <a:ln/>
        </p:spPr>
        <p:txBody>
          <a:bodyPr wrap="square" lIns="0" tIns="0" rIns="0" bIns="0" rtlCol="0" anchor="t"/>
          <a:lstStyle/>
          <a:p>
            <a:pPr indent="0" marL="0">
              <a:buNone/>
            </a:pPr>
            <a:r>
              <a:rPr lang="en-US" sz="1600" dirty="0">
                <a:solidFill>
                  <a:schemeClr val="tx1"/>
                </a:solidFill>
              </a:rPr>
              <a:t>Understand the process</a:t>
            </a:r>
            <a:endParaRPr lang="en-US" sz="1600" dirty="0"/>
          </a:p>
        </p:txBody>
      </p:sp>
      <p:sp>
        <p:nvSpPr>
          <p:cNvPr id="9" name="Text 6"/>
          <p:cNvSpPr txBox="1"/>
          <p:nvPr/>
        </p:nvSpPr>
        <p:spPr>
          <a:xfrm>
            <a:off x="548640" y="2916936"/>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13.3</a:t>
            </a:r>
            <a:endParaRPr lang="en-US" sz="1600" dirty="0"/>
          </a:p>
        </p:txBody>
      </p:sp>
      <p:sp>
        <p:nvSpPr>
          <p:cNvPr id="10" name="Text 7"/>
          <p:cNvSpPr txBox="1"/>
          <p:nvPr/>
        </p:nvSpPr>
        <p:spPr>
          <a:xfrm>
            <a:off x="1325880" y="2916936"/>
            <a:ext cx="5852160" cy="566928"/>
          </a:xfrm>
          <a:prstGeom prst="rect">
            <a:avLst/>
          </a:prstGeom>
          <a:noFill/>
          <a:ln/>
        </p:spPr>
        <p:txBody>
          <a:bodyPr wrap="square" lIns="0" tIns="0" rIns="0" bIns="0" rtlCol="0" anchor="t"/>
          <a:lstStyle/>
          <a:p>
            <a:pPr indent="0" marL="0">
              <a:buNone/>
            </a:pPr>
            <a:r>
              <a:rPr lang="en-US" sz="1600" dirty="0">
                <a:solidFill>
                  <a:schemeClr val="tx1"/>
                </a:solidFill>
              </a:rPr>
              <a:t>Test the data</a:t>
            </a:r>
            <a:endParaRPr lang="en-US" sz="1600" dirty="0"/>
          </a:p>
        </p:txBody>
      </p:sp>
      <p:sp>
        <p:nvSpPr>
          <p:cNvPr id="11" name="Text 8"/>
          <p:cNvSpPr txBox="1"/>
          <p:nvPr/>
        </p:nvSpPr>
        <p:spPr>
          <a:xfrm>
            <a:off x="548640" y="3483864"/>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13.4</a:t>
            </a:r>
            <a:endParaRPr lang="en-US" sz="1600" dirty="0"/>
          </a:p>
        </p:txBody>
      </p:sp>
      <p:sp>
        <p:nvSpPr>
          <p:cNvPr id="12" name="Text 9"/>
          <p:cNvSpPr txBox="1"/>
          <p:nvPr/>
        </p:nvSpPr>
        <p:spPr>
          <a:xfrm>
            <a:off x="1325880" y="3483864"/>
            <a:ext cx="5852160" cy="566928"/>
          </a:xfrm>
          <a:prstGeom prst="rect">
            <a:avLst/>
          </a:prstGeom>
          <a:noFill/>
          <a:ln/>
        </p:spPr>
        <p:txBody>
          <a:bodyPr wrap="square" lIns="0" tIns="0" rIns="0" bIns="0" rtlCol="0" anchor="t"/>
          <a:lstStyle/>
          <a:p>
            <a:pPr indent="0" marL="0">
              <a:buNone/>
            </a:pPr>
            <a:r>
              <a:rPr lang="en-US" sz="1600" dirty="0">
                <a:solidFill>
                  <a:schemeClr val="tx1"/>
                </a:solidFill>
              </a:rPr>
              <a:t>Design the workflow on the canvas</a:t>
            </a:r>
            <a:endParaRPr lang="en-US" sz="1600" dirty="0"/>
          </a:p>
        </p:txBody>
      </p:sp>
      <p:sp>
        <p:nvSpPr>
          <p:cNvPr id="13" name="Text 10"/>
          <p:cNvSpPr txBox="1"/>
          <p:nvPr/>
        </p:nvSpPr>
        <p:spPr>
          <a:xfrm>
            <a:off x="548640" y="4050792"/>
            <a:ext cx="731520" cy="566928"/>
          </a:xfrm>
          <a:prstGeom prst="rect">
            <a:avLst/>
          </a:prstGeom>
          <a:noFill/>
          <a:ln/>
        </p:spPr>
        <p:txBody>
          <a:bodyPr wrap="square" lIns="0" tIns="0" rIns="0" bIns="0" rtlCol="0" anchor="t"/>
          <a:lstStyle/>
          <a:p>
            <a:pPr indent="0" marL="0">
              <a:buNone/>
            </a:pPr>
            <a:r>
              <a:rPr lang="en-US" sz="1600" dirty="0">
                <a:solidFill>
                  <a:schemeClr val="accent1"/>
                </a:solidFill>
                <a:latin typeface="Segoe UI Semibold" pitchFamily="34" charset="0"/>
                <a:ea typeface="Segoe UI Semibold" pitchFamily="34" charset="-122"/>
                <a:cs typeface="Segoe UI Semibold" pitchFamily="34" charset="-120"/>
              </a:rPr>
              <a:t>13.5</a:t>
            </a:r>
            <a:endParaRPr lang="en-US" sz="1600" dirty="0"/>
          </a:p>
        </p:txBody>
      </p:sp>
      <p:sp>
        <p:nvSpPr>
          <p:cNvPr id="14" name="Text 11"/>
          <p:cNvSpPr txBox="1"/>
          <p:nvPr/>
        </p:nvSpPr>
        <p:spPr>
          <a:xfrm>
            <a:off x="1325880" y="4050792"/>
            <a:ext cx="5852160" cy="566928"/>
          </a:xfrm>
          <a:prstGeom prst="rect">
            <a:avLst/>
          </a:prstGeom>
          <a:noFill/>
          <a:ln/>
        </p:spPr>
        <p:txBody>
          <a:bodyPr wrap="square" lIns="0" tIns="0" rIns="0" bIns="0" rtlCol="0" anchor="t"/>
          <a:lstStyle/>
          <a:p>
            <a:pPr indent="0" marL="0">
              <a:buNone/>
            </a:pPr>
            <a:r>
              <a:rPr lang="en-US" sz="1600" dirty="0">
                <a:solidFill>
                  <a:schemeClr val="tx1"/>
                </a:solidFill>
              </a:rPr>
              <a:t>Pitch and score</a:t>
            </a:r>
            <a:endParaRPr lang="en-US" sz="1600" dirty="0"/>
          </a:p>
        </p:txBody>
      </p:sp>
      <p:sp>
        <p:nvSpPr>
          <p:cNvPr id="15" name="Checkpoint panel"/>
          <p:cNvSpPr/>
          <p:nvPr/>
        </p:nvSpPr>
        <p:spPr>
          <a:xfrm>
            <a:off x="7589520" y="1783080"/>
            <a:ext cx="4050792" cy="4160520"/>
          </a:xfrm>
          <a:prstGeom prst="roundRect">
            <a:avLst>
              <a:gd name="adj" fmla="val 2257"/>
            </a:avLst>
          </a:prstGeom>
          <a:solidFill>
            <a:schemeClr val="bg1"/>
          </a:solidFill>
          <a:ln/>
          <a:effectLst>
            <a:outerShdw sx="100000" sy="100000" kx="0" ky="0" algn="bl" rotWithShape="0" blurRad="177800" dist="38100" dir="5400000">
              <a:srgbClr val="1B2A4A">
                <a:alpha val="12000"/>
              </a:srgbClr>
            </a:outerShdw>
          </a:effectLst>
        </p:spPr>
      </p:sp>
      <p:pic>
        <p:nvPicPr>
          <p:cNvPr id="16" name="Image 0" descr="preencoded.png">    </p:cNvPr>
          <p:cNvPicPr>
            <a:picLocks noChangeAspect="1"/>
          </p:cNvPicPr>
          <p:nvPr/>
        </p:nvPicPr>
        <p:blipFill>
          <a:blip r:embed="rId1"/>
          <a:stretch>
            <a:fillRect/>
          </a:stretch>
        </p:blipFill>
        <p:spPr>
          <a:xfrm>
            <a:off x="7909560" y="2103120"/>
            <a:ext cx="457200" cy="457200"/>
          </a:xfrm>
          <a:prstGeom prst="rect">
            <a:avLst/>
          </a:prstGeom>
        </p:spPr>
      </p:pic>
      <p:sp>
        <p:nvSpPr>
          <p:cNvPr id="17" name="Text 13"/>
          <p:cNvSpPr txBox="1"/>
          <p:nvPr/>
        </p:nvSpPr>
        <p:spPr>
          <a:xfrm>
            <a:off x="7909560" y="2697480"/>
            <a:ext cx="3474720" cy="457200"/>
          </a:xfrm>
          <a:prstGeom prst="rect">
            <a:avLst/>
          </a:prstGeom>
          <a:noFill/>
          <a:ln/>
        </p:spPr>
        <p:txBody>
          <a:bodyPr wrap="square" lIns="0" tIns="0" rIns="0" bIns="0" rtlCol="0" anchor="t"/>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Checkpoint</a:t>
            </a:r>
            <a:endParaRPr lang="en-US" sz="2000" dirty="0"/>
          </a:p>
        </p:txBody>
      </p:sp>
      <p:sp>
        <p:nvSpPr>
          <p:cNvPr id="18" name="Text 14"/>
          <p:cNvSpPr txBox="1"/>
          <p:nvPr/>
        </p:nvSpPr>
        <p:spPr>
          <a:xfrm>
            <a:off x="7909560" y="3200400"/>
            <a:ext cx="3429000" cy="1737360"/>
          </a:xfrm>
          <a:prstGeom prst="rect">
            <a:avLst/>
          </a:prstGeom>
          <a:noFill/>
          <a:ln/>
        </p:spPr>
        <p:txBody>
          <a:bodyPr wrap="square" lIns="0" tIns="0" rIns="0" bIns="0" rtlCol="0" anchor="t"/>
          <a:lstStyle/>
          <a:p>
            <a:pPr indent="0" marL="0">
              <a:buNone/>
            </a:pPr>
            <a:r>
              <a:rPr lang="en-US" sz="1600" dirty="0">
                <a:solidFill>
                  <a:schemeClr val="tx1"/>
                </a:solidFill>
              </a:rPr>
              <a:t>Your canvas marks every step as AI, rule or person, and your design handles the tricky cases in the data.</a:t>
            </a:r>
            <a:endParaRPr lang="en-US" sz="1600" dirty="0"/>
          </a:p>
        </p:txBody>
      </p:sp>
      <p:sp>
        <p:nvSpPr>
          <p:cNvPr id="19" name="Divider line"/>
          <p:cNvSpPr/>
          <p:nvPr/>
        </p:nvSpPr>
        <p:spPr>
          <a:xfrm>
            <a:off x="7909560" y="4983480"/>
            <a:ext cx="3429000" cy="0"/>
          </a:xfrm>
          <a:prstGeom prst="line">
            <a:avLst/>
          </a:prstGeom>
          <a:noFill/>
          <a:ln w="12700">
            <a:solidFill>
              <a:srgbClr val="E0E0E0"/>
            </a:solidFill>
            <a:prstDash val="solid"/>
          </a:ln>
        </p:spPr>
      </p:sp>
      <p:sp>
        <p:nvSpPr>
          <p:cNvPr id="20" name="Text 16"/>
          <p:cNvSpPr txBox="1"/>
          <p:nvPr/>
        </p:nvSpPr>
        <p:spPr>
          <a:xfrm>
            <a:off x="7909560" y="5120640"/>
            <a:ext cx="3429000" cy="685800"/>
          </a:xfrm>
          <a:prstGeom prst="rect">
            <a:avLst/>
          </a:prstGeom>
          <a:noFill/>
          <a:ln/>
        </p:spPr>
        <p:txBody>
          <a:bodyPr wrap="square" lIns="0" tIns="0" rIns="0" bIns="0" rtlCol="0" anchor="t"/>
          <a:lstStyle/>
          <a:p>
            <a:pPr indent="0" marL="0">
              <a:buNone/>
            </a:pPr>
            <a:r>
              <a:rPr lang="en-US" sz="1400" dirty="0">
                <a:solidFill>
                  <a:schemeClr val="tx1"/>
                </a:solidFill>
                <a:latin typeface="Segoe UI Semibold" pitchFamily="34" charset="0"/>
                <a:ea typeface="Segoe UI Semibold" pitchFamily="34" charset="-122"/>
                <a:cs typeface="Segoe UI Semibold" pitchFamily="34" charset="-120"/>
              </a:rPr>
              <a:t>Prompts: </a:t>
            </a:r>
            <a:pPr indent="0" marL="0">
              <a:buNone/>
            </a:pPr>
            <a:r>
              <a:rPr lang="en-US" sz="1400" dirty="0">
                <a:solidFill>
                  <a:schemeClr val="accent4"/>
                </a:solidFill>
              </a:rPr>
              <a:t>copy them from the Module 13 prompts page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10972800" cy="320040"/>
          </a:xfrm>
          <a:prstGeom prst="rect">
            <a:avLst/>
          </a:prstGeom>
          <a:noFill/>
          <a:ln/>
        </p:spPr>
        <p:txBody>
          <a:bodyPr wrap="square" lIns="0" tIns="0" rIns="0" bIns="0" rtlCol="0"/>
          <a:lstStyle/>
          <a:p>
            <a:pPr indent="0" marL="0">
              <a:buNone/>
            </a:pPr>
            <a:r>
              <a:rPr lang="en-US" sz="1400" dirty="0">
                <a:solidFill>
                  <a:schemeClr val="accent4"/>
                </a:solidFill>
              </a:rPr>
              <a:t>Wrap-up</a:t>
            </a:r>
            <a:endParaRPr lang="en-US" sz="1400" dirty="0"/>
          </a:p>
        </p:txBody>
      </p:sp>
      <p:sp>
        <p:nvSpPr>
          <p:cNvPr id="3" name="Text 0"/>
          <p:cNvSpPr/>
          <p:nvPr>
            <p:ph type="title" hasCustomPrompt="1"/>
          </p:nvPr>
        </p:nvSpPr>
        <p:spPr>
          <a:xfrm>
            <a:off x="548640" y="685800"/>
            <a:ext cx="11064240" cy="777240"/>
          </a:xfrm>
          <a:prstGeom prst="rect">
            <a:avLst/>
          </a:prstGeom>
          <a:noFill/>
          <a:ln/>
        </p:spPr>
        <p:txBody>
          <a:bodyPr wrap="square" lIns="0" tIns="0" rIns="0" bIns="0" rtlCol="0" anchor="t"/>
          <a:lstStyle/>
          <a:p>
            <a:pPr algn="l" indent="0" marL="0">
              <a:buNone/>
            </a:pPr>
            <a:r>
              <a:rPr lang="en-US" sz="3200" dirty="0">
                <a:solidFill>
                  <a:schemeClr val="tx1"/>
                </a:solidFill>
              </a:rPr>
              <a:t>Five habits to take back to work</a:t>
            </a:r>
            <a:endParaRPr lang="en-US" sz="3200" dirty="0"/>
          </a:p>
        </p:txBody>
      </p:sp>
      <p:pic>
        <p:nvPicPr>
          <p:cNvPr id="5" name="Image 0" descr="preencoded.png">    </p:cNvPr>
          <p:cNvPicPr>
            <a:picLocks noChangeAspect="1"/>
          </p:cNvPicPr>
          <p:nvPr/>
        </p:nvPicPr>
        <p:blipFill>
          <a:blip r:embed="rId1"/>
          <a:stretch>
            <a:fillRect/>
          </a:stretch>
        </p:blipFill>
        <p:spPr>
          <a:xfrm>
            <a:off x="548640" y="1892808"/>
            <a:ext cx="411480" cy="411480"/>
          </a:xfrm>
          <a:prstGeom prst="rect">
            <a:avLst/>
          </a:prstGeom>
        </p:spPr>
      </p:pic>
      <p:sp>
        <p:nvSpPr>
          <p:cNvPr id="6" name="Text 2"/>
          <p:cNvSpPr txBox="1"/>
          <p:nvPr/>
        </p:nvSpPr>
        <p:spPr>
          <a:xfrm>
            <a:off x="1234440" y="178308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Give the AI bounded context</a:t>
            </a:r>
            <a:endParaRPr lang="en-US" sz="2000" dirty="0"/>
          </a:p>
        </p:txBody>
      </p:sp>
      <p:sp>
        <p:nvSpPr>
          <p:cNvPr id="7" name="Text 3"/>
          <p:cNvSpPr txBox="1"/>
          <p:nvPr/>
        </p:nvSpPr>
        <p:spPr>
          <a:xfrm>
            <a:off x="6400800" y="1783080"/>
            <a:ext cx="5212080" cy="640080"/>
          </a:xfrm>
          <a:prstGeom prst="rect">
            <a:avLst/>
          </a:prstGeom>
          <a:noFill/>
          <a:ln/>
        </p:spPr>
        <p:txBody>
          <a:bodyPr wrap="square" lIns="0" tIns="0" rIns="0" bIns="0" rtlCol="0" anchor="ctr"/>
          <a:lstStyle/>
          <a:p>
            <a:pPr indent="0" marL="0">
              <a:buNone/>
            </a:pPr>
            <a:r>
              <a:rPr lang="en-US" sz="1700" dirty="0">
                <a:solidFill>
                  <a:schemeClr val="accent4"/>
                </a:solidFill>
              </a:rPr>
              <a:t>the goal, the source, and the format</a:t>
            </a:r>
            <a:endParaRPr lang="en-US" sz="1700" dirty="0"/>
          </a:p>
        </p:txBody>
      </p:sp>
      <p:sp>
        <p:nvSpPr>
          <p:cNvPr id="8" name="Divider line"/>
          <p:cNvSpPr/>
          <p:nvPr/>
        </p:nvSpPr>
        <p:spPr>
          <a:xfrm>
            <a:off x="548640" y="2514600"/>
            <a:ext cx="11064240" cy="0"/>
          </a:xfrm>
          <a:prstGeom prst="line">
            <a:avLst/>
          </a:prstGeom>
          <a:noFill/>
          <a:ln w="12700">
            <a:solidFill>
              <a:srgbClr val="E0E0E0"/>
            </a:solidFill>
            <a:prstDash val="solid"/>
          </a:ln>
        </p:spPr>
      </p:sp>
      <p:pic>
        <p:nvPicPr>
          <p:cNvPr id="9" name="Image 1" descr="preencoded.png">    </p:cNvPr>
          <p:cNvPicPr>
            <a:picLocks noChangeAspect="1"/>
          </p:cNvPicPr>
          <p:nvPr/>
        </p:nvPicPr>
        <p:blipFill>
          <a:blip r:embed="rId2"/>
          <a:stretch>
            <a:fillRect/>
          </a:stretch>
        </p:blipFill>
        <p:spPr>
          <a:xfrm>
            <a:off x="548640" y="2715768"/>
            <a:ext cx="411480" cy="411480"/>
          </a:xfrm>
          <a:prstGeom prst="rect">
            <a:avLst/>
          </a:prstGeom>
        </p:spPr>
      </p:pic>
      <p:sp>
        <p:nvSpPr>
          <p:cNvPr id="10" name="Text 5"/>
          <p:cNvSpPr txBox="1"/>
          <p:nvPr/>
        </p:nvSpPr>
        <p:spPr>
          <a:xfrm>
            <a:off x="1234440" y="260604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Test before you trust</a:t>
            </a:r>
            <a:endParaRPr lang="en-US" sz="2000" dirty="0"/>
          </a:p>
        </p:txBody>
      </p:sp>
      <p:sp>
        <p:nvSpPr>
          <p:cNvPr id="11" name="Text 6"/>
          <p:cNvSpPr txBox="1"/>
          <p:nvPr/>
        </p:nvSpPr>
        <p:spPr>
          <a:xfrm>
            <a:off x="6400800" y="2606040"/>
            <a:ext cx="5212080" cy="640080"/>
          </a:xfrm>
          <a:prstGeom prst="rect">
            <a:avLst/>
          </a:prstGeom>
          <a:noFill/>
          <a:ln/>
        </p:spPr>
        <p:txBody>
          <a:bodyPr wrap="square" lIns="0" tIns="0" rIns="0" bIns="0" rtlCol="0" anchor="ctr"/>
          <a:lstStyle/>
          <a:p>
            <a:pPr indent="0" marL="0">
              <a:buNone/>
            </a:pPr>
            <a:r>
              <a:rPr lang="en-US" sz="1700" dirty="0">
                <a:solidFill>
                  <a:schemeClr val="accent4"/>
                </a:solidFill>
              </a:rPr>
              <a:t>cases with known answers, and a score</a:t>
            </a:r>
            <a:endParaRPr lang="en-US" sz="1700" dirty="0"/>
          </a:p>
        </p:txBody>
      </p:sp>
      <p:sp>
        <p:nvSpPr>
          <p:cNvPr id="12" name="Divider line"/>
          <p:cNvSpPr/>
          <p:nvPr/>
        </p:nvSpPr>
        <p:spPr>
          <a:xfrm>
            <a:off x="548640" y="3337560"/>
            <a:ext cx="11064240" cy="0"/>
          </a:xfrm>
          <a:prstGeom prst="line">
            <a:avLst/>
          </a:prstGeom>
          <a:noFill/>
          <a:ln w="12700">
            <a:solidFill>
              <a:srgbClr val="E0E0E0"/>
            </a:solidFill>
            <a:prstDash val="solid"/>
          </a:ln>
        </p:spPr>
      </p:sp>
      <p:pic>
        <p:nvPicPr>
          <p:cNvPr id="13" name="Image 2" descr="preencoded.png">    </p:cNvPr>
          <p:cNvPicPr>
            <a:picLocks noChangeAspect="1"/>
          </p:cNvPicPr>
          <p:nvPr/>
        </p:nvPicPr>
        <p:blipFill>
          <a:blip r:embed="rId3"/>
          <a:stretch>
            <a:fillRect/>
          </a:stretch>
        </p:blipFill>
        <p:spPr>
          <a:xfrm>
            <a:off x="548640" y="3538728"/>
            <a:ext cx="411480" cy="411480"/>
          </a:xfrm>
          <a:prstGeom prst="rect">
            <a:avLst/>
          </a:prstGeom>
        </p:spPr>
      </p:pic>
      <p:sp>
        <p:nvSpPr>
          <p:cNvPr id="14" name="Text 8"/>
          <p:cNvSpPr txBox="1"/>
          <p:nvPr/>
        </p:nvSpPr>
        <p:spPr>
          <a:xfrm>
            <a:off x="1234440" y="342900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Ground it in your sources</a:t>
            </a:r>
            <a:endParaRPr lang="en-US" sz="2000" dirty="0"/>
          </a:p>
        </p:txBody>
      </p:sp>
      <p:sp>
        <p:nvSpPr>
          <p:cNvPr id="15" name="Text 9"/>
          <p:cNvSpPr txBox="1"/>
          <p:nvPr/>
        </p:nvSpPr>
        <p:spPr>
          <a:xfrm>
            <a:off x="6400800" y="3429000"/>
            <a:ext cx="5212080" cy="640080"/>
          </a:xfrm>
          <a:prstGeom prst="rect">
            <a:avLst/>
          </a:prstGeom>
          <a:noFill/>
          <a:ln/>
        </p:spPr>
        <p:txBody>
          <a:bodyPr wrap="square" lIns="0" tIns="0" rIns="0" bIns="0" rtlCol="0" anchor="ctr"/>
          <a:lstStyle/>
          <a:p>
            <a:pPr indent="0" marL="0">
              <a:buNone/>
            </a:pPr>
            <a:r>
              <a:rPr lang="en-US" sz="1700" dirty="0">
                <a:solidFill>
                  <a:schemeClr val="accent4"/>
                </a:solidFill>
              </a:rPr>
              <a:t>and check the citation</a:t>
            </a:r>
            <a:endParaRPr lang="en-US" sz="1700" dirty="0"/>
          </a:p>
        </p:txBody>
      </p:sp>
      <p:sp>
        <p:nvSpPr>
          <p:cNvPr id="16" name="Divider line"/>
          <p:cNvSpPr/>
          <p:nvPr/>
        </p:nvSpPr>
        <p:spPr>
          <a:xfrm>
            <a:off x="548640" y="4160520"/>
            <a:ext cx="11064240" cy="0"/>
          </a:xfrm>
          <a:prstGeom prst="line">
            <a:avLst/>
          </a:prstGeom>
          <a:noFill/>
          <a:ln w="12700">
            <a:solidFill>
              <a:srgbClr val="E0E0E0"/>
            </a:solidFill>
            <a:prstDash val="solid"/>
          </a:ln>
        </p:spPr>
      </p:sp>
      <p:pic>
        <p:nvPicPr>
          <p:cNvPr id="17" name="Image 3" descr="preencoded.png">    </p:cNvPr>
          <p:cNvPicPr>
            <a:picLocks noChangeAspect="1"/>
          </p:cNvPicPr>
          <p:nvPr/>
        </p:nvPicPr>
        <p:blipFill>
          <a:blip r:embed="rId4"/>
          <a:stretch>
            <a:fillRect/>
          </a:stretch>
        </p:blipFill>
        <p:spPr>
          <a:xfrm>
            <a:off x="548640" y="4361688"/>
            <a:ext cx="411480" cy="411480"/>
          </a:xfrm>
          <a:prstGeom prst="rect">
            <a:avLst/>
          </a:prstGeom>
        </p:spPr>
      </p:pic>
      <p:sp>
        <p:nvSpPr>
          <p:cNvPr id="18" name="Text 11"/>
          <p:cNvSpPr txBox="1"/>
          <p:nvPr/>
        </p:nvSpPr>
        <p:spPr>
          <a:xfrm>
            <a:off x="1234440" y="425196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Keep a person in front of actions</a:t>
            </a:r>
            <a:endParaRPr lang="en-US" sz="2000" dirty="0"/>
          </a:p>
        </p:txBody>
      </p:sp>
      <p:sp>
        <p:nvSpPr>
          <p:cNvPr id="19" name="Text 12"/>
          <p:cNvSpPr txBox="1"/>
          <p:nvPr/>
        </p:nvSpPr>
        <p:spPr>
          <a:xfrm>
            <a:off x="6400800" y="4251960"/>
            <a:ext cx="5212080" cy="640080"/>
          </a:xfrm>
          <a:prstGeom prst="rect">
            <a:avLst/>
          </a:prstGeom>
          <a:noFill/>
          <a:ln/>
        </p:spPr>
        <p:txBody>
          <a:bodyPr wrap="square" lIns="0" tIns="0" rIns="0" bIns="0" rtlCol="0" anchor="ctr"/>
          <a:lstStyle/>
          <a:p>
            <a:pPr indent="0" marL="0">
              <a:buNone/>
            </a:pPr>
            <a:r>
              <a:rPr lang="en-US" sz="1700" dirty="0">
                <a:solidFill>
                  <a:schemeClr val="accent4"/>
                </a:solidFill>
              </a:rPr>
              <a:t>AI for judgement, rules for facts, people for decisions</a:t>
            </a:r>
            <a:endParaRPr lang="en-US" sz="1700" dirty="0"/>
          </a:p>
        </p:txBody>
      </p:sp>
      <p:sp>
        <p:nvSpPr>
          <p:cNvPr id="20" name="Divider line"/>
          <p:cNvSpPr/>
          <p:nvPr/>
        </p:nvSpPr>
        <p:spPr>
          <a:xfrm>
            <a:off x="548640" y="4983480"/>
            <a:ext cx="11064240" cy="0"/>
          </a:xfrm>
          <a:prstGeom prst="line">
            <a:avLst/>
          </a:prstGeom>
          <a:noFill/>
          <a:ln w="12700">
            <a:solidFill>
              <a:srgbClr val="E0E0E0"/>
            </a:solidFill>
            <a:prstDash val="solid"/>
          </a:ln>
        </p:spPr>
      </p:sp>
      <p:pic>
        <p:nvPicPr>
          <p:cNvPr id="21" name="Image 4" descr="preencoded.png">    </p:cNvPr>
          <p:cNvPicPr>
            <a:picLocks noChangeAspect="1"/>
          </p:cNvPicPr>
          <p:nvPr/>
        </p:nvPicPr>
        <p:blipFill>
          <a:blip r:embed="rId5"/>
          <a:stretch>
            <a:fillRect/>
          </a:stretch>
        </p:blipFill>
        <p:spPr>
          <a:xfrm>
            <a:off x="548640" y="5184648"/>
            <a:ext cx="411480" cy="411480"/>
          </a:xfrm>
          <a:prstGeom prst="rect">
            <a:avLst/>
          </a:prstGeom>
        </p:spPr>
      </p:pic>
      <p:sp>
        <p:nvSpPr>
          <p:cNvPr id="22" name="Text 14"/>
          <p:cNvSpPr txBox="1"/>
          <p:nvPr/>
        </p:nvSpPr>
        <p:spPr>
          <a:xfrm>
            <a:off x="1234440" y="5074920"/>
            <a:ext cx="5120640" cy="640080"/>
          </a:xfrm>
          <a:prstGeom prst="rect">
            <a:avLst/>
          </a:prstGeom>
          <a:noFill/>
          <a:ln/>
        </p:spPr>
        <p:txBody>
          <a:bodyPr wrap="square" lIns="0" tIns="0" rIns="0" bIns="0" rtlCol="0" anchor="ctr"/>
          <a:lstStyle/>
          <a:p>
            <a:pPr indent="0" marL="0">
              <a:buNone/>
            </a:pPr>
            <a:r>
              <a:rPr lang="en-US" sz="2000" dirty="0">
                <a:solidFill>
                  <a:schemeClr val="tx1"/>
                </a:solidFill>
                <a:latin typeface="Segoe UI Semibold" pitchFamily="34" charset="0"/>
                <a:ea typeface="Segoe UI Semibold" pitchFamily="34" charset="-122"/>
                <a:cs typeface="Segoe UI Semibold" pitchFamily="34" charset="-120"/>
              </a:rPr>
              <a:t>Decide the data before you paste</a:t>
            </a:r>
            <a:endParaRPr lang="en-US" sz="2000" dirty="0"/>
          </a:p>
        </p:txBody>
      </p:sp>
      <p:sp>
        <p:nvSpPr>
          <p:cNvPr id="23" name="Text 15"/>
          <p:cNvSpPr txBox="1"/>
          <p:nvPr/>
        </p:nvSpPr>
        <p:spPr>
          <a:xfrm>
            <a:off x="6400800" y="5074920"/>
            <a:ext cx="5212080" cy="640080"/>
          </a:xfrm>
          <a:prstGeom prst="rect">
            <a:avLst/>
          </a:prstGeom>
          <a:noFill/>
          <a:ln/>
        </p:spPr>
        <p:txBody>
          <a:bodyPr wrap="square" lIns="0" tIns="0" rIns="0" bIns="0" rtlCol="0" anchor="ctr"/>
          <a:lstStyle/>
          <a:p>
            <a:pPr indent="0" marL="0">
              <a:buNone/>
            </a:pPr>
            <a:r>
              <a:rPr lang="en-US" sz="1700" dirty="0">
                <a:solidFill>
                  <a:schemeClr val="accent4"/>
                </a:solidFill>
              </a:rPr>
              <a:t>which tool, which data, who checks</a:t>
            </a:r>
            <a:endParaRPr lang="en-US" sz="1700" dirty="0"/>
          </a:p>
        </p:txBody>
      </p:sp>
      <p:sp>
        <p:nvSpPr>
          <p:cNvPr id="24" name="Divider line"/>
          <p:cNvSpPr/>
          <p:nvPr/>
        </p:nvSpPr>
        <p:spPr>
          <a:xfrm>
            <a:off x="548640" y="5806440"/>
            <a:ext cx="11064240" cy="0"/>
          </a:xfrm>
          <a:prstGeom prst="line">
            <a:avLst/>
          </a:prstGeom>
          <a:noFill/>
          <a:ln w="12700">
            <a:solidFill>
              <a:srgbClr val="E0E0E0"/>
            </a:solidFill>
            <a:prstDash val="solid"/>
          </a:ln>
        </p:spPr>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body" hasCustomPrompt="1"/>
          </p:nvPr>
        </p:nvSpPr>
        <p:spPr>
          <a:xfrm>
            <a:off x="731520" y="1463040"/>
            <a:ext cx="10058400" cy="365760"/>
          </a:xfrm>
          <a:prstGeom prst="rect">
            <a:avLst/>
          </a:prstGeom>
          <a:noFill/>
          <a:ln/>
        </p:spPr>
        <p:txBody>
          <a:bodyPr wrap="square" lIns="0" tIns="0" rIns="0" bIns="0" rtlCol="0"/>
          <a:lstStyle/>
          <a:p>
            <a:pPr indent="0" marL="0">
              <a:buNone/>
            </a:pPr>
            <a:r>
              <a:rPr lang="en-US" sz="1600" dirty="0">
                <a:solidFill>
                  <a:srgbClr val="00EEFC"/>
                </a:solidFill>
              </a:rPr>
              <a:t>Thank you</a:t>
            </a:r>
            <a:endParaRPr lang="en-US" sz="1600" dirty="0"/>
          </a:p>
        </p:txBody>
      </p:sp>
      <p:sp>
        <p:nvSpPr>
          <p:cNvPr id="3" name="Text 0"/>
          <p:cNvSpPr/>
          <p:nvPr>
            <p:ph type="title" hasCustomPrompt="1"/>
          </p:nvPr>
        </p:nvSpPr>
        <p:spPr>
          <a:xfrm>
            <a:off x="731520" y="1920240"/>
            <a:ext cx="10515600" cy="1371600"/>
          </a:xfrm>
          <a:prstGeom prst="rect">
            <a:avLst/>
          </a:prstGeom>
          <a:noFill/>
          <a:ln/>
        </p:spPr>
        <p:txBody>
          <a:bodyPr wrap="square" lIns="0" tIns="0" rIns="0" bIns="0" rtlCol="0" anchor="t"/>
          <a:lstStyle/>
          <a:p>
            <a:pPr algn="l" indent="0" marL="0">
              <a:buNone/>
            </a:pPr>
            <a:r>
              <a:rPr lang="en-US" sz="4800" dirty="0">
                <a:solidFill>
                  <a:schemeClr val="bg1"/>
                </a:solidFill>
              </a:rPr>
              <a:t>Keep building, keep checking</a:t>
            </a:r>
            <a:endParaRPr lang="en-US" sz="4800" dirty="0"/>
          </a:p>
        </p:txBody>
      </p:sp>
      <p:sp>
        <p:nvSpPr>
          <p:cNvPr id="4" name="Text 0"/>
          <p:cNvSpPr/>
          <p:nvPr>
            <p:ph idx="103" type="body" hasCustomPrompt="1"/>
          </p:nvPr>
        </p:nvSpPr>
        <p:spPr>
          <a:xfrm>
            <a:off x="731520" y="3383280"/>
            <a:ext cx="9144000" cy="914400"/>
          </a:xfrm>
          <a:prstGeom prst="rect">
            <a:avLst/>
          </a:prstGeom>
          <a:noFill/>
          <a:ln/>
        </p:spPr>
        <p:txBody>
          <a:bodyPr wrap="square" lIns="0" tIns="0" rIns="0" bIns="0" rtlCol="0" anchor="t"/>
          <a:lstStyle/>
          <a:p>
            <a:pPr indent="0" marL="0">
              <a:buNone/>
            </a:pPr>
            <a:r>
              <a:rPr lang="en-US" sz="2200" dirty="0">
                <a:solidFill>
                  <a:schemeClr val="bg2"/>
                </a:solidFill>
              </a:rPr>
              <a:t>Notes, prompts, product cards, the course book and the sample files stay online after the course.</a:t>
            </a:r>
            <a:endParaRPr lang="en-US" sz="2200" dirty="0"/>
          </a:p>
        </p:txBody>
      </p:sp>
      <p:sp>
        <p:nvSpPr>
          <p:cNvPr id="5" name="Text 0"/>
          <p:cNvSpPr/>
          <p:nvPr>
            <p:ph idx="104" type="body" hasCustomPrompt="1"/>
          </p:nvPr>
        </p:nvSpPr>
        <p:spPr>
          <a:xfrm>
            <a:off x="731520" y="5669280"/>
            <a:ext cx="9601200" cy="365760"/>
          </a:xfrm>
          <a:prstGeom prst="rect">
            <a:avLst/>
          </a:prstGeom>
          <a:noFill/>
          <a:ln/>
        </p:spPr>
        <p:txBody>
          <a:bodyPr wrap="square" lIns="0" tIns="0" rIns="0" bIns="0" rtlCol="0"/>
          <a:lstStyle/>
          <a:p>
            <a:pPr indent="0" marL="0">
              <a:buNone/>
            </a:pPr>
            <a:r>
              <a:rPr lang="en-US" sz="1400" dirty="0">
                <a:solidFill>
                  <a:schemeClr val="bg2"/>
                </a:solidFill>
              </a:rPr>
              <a:t>asraf-js.github.io/AI-for-Workplace-Advanced</a:t>
            </a:r>
            <a:endParaRPr lang="en-US" sz="1400" dirty="0"/>
          </a:p>
        </p:txBody>
      </p:sp>
    </p:spTree>
  </p:cSld>
  <p:clrMapOvr>
    <a:masterClrMapping/>
  </p:clrMapOvr>
</p:sld>
</file>

<file path=ppt/theme/theme1.xml><?xml version="1.0" encoding="utf-8"?>
<a:theme xmlns:a="http://schemas.openxmlformats.org/drawingml/2006/main" name="AI for Workplace Advanced">
  <a:themeElements>
    <a:clrScheme name="AI for Workplace Advanced">
      <a:dk1>
        <a:srgbClr val="1A1A2E"/>
      </a:dk1>
      <a:lt1>
        <a:srgbClr val="FFFFFF"/>
      </a:lt1>
      <a:dk2>
        <a:srgbClr val="1E2761"/>
      </a:dk2>
      <a:lt2>
        <a:srgbClr val="F5F5F5"/>
      </a:lt2>
      <a:accent1>
        <a:srgbClr val="6B5DD3"/>
      </a:accent1>
      <a:accent2>
        <a:srgbClr val="028090"/>
      </a:accent2>
      <a:accent3>
        <a:srgbClr val="D83B01"/>
      </a:accent3>
      <a:accent4>
        <a:srgbClr val="616161"/>
      </a:accent4>
      <a:accent5>
        <a:srgbClr val="107C10"/>
      </a:accent5>
      <a:accent6>
        <a:srgbClr val="D13438"/>
      </a:accent6>
      <a:hlink>
        <a:srgbClr val="6B5DD3"/>
      </a:hlink>
      <a:folHlink>
        <a:srgbClr val="1E2761"/>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Workplace (Advanced)</dc:title>
  <dc:subject>PptxGenJS Presentation</dc:subject>
  <dc:creator>Asraf Jaafar Sidik</dc:creator>
  <cp:lastModifiedBy>Asraf Jaafar Sidik</cp:lastModifiedBy>
  <cp:revision>1</cp:revision>
  <dcterms:created xsi:type="dcterms:W3CDTF">2026-10-09T12:00:00Z</dcterms:created>
  <dcterms:modified xsi:type="dcterms:W3CDTF">2026-10-09T12:00:00Z</dcterms:modified>
</cp:coreProperties>
</file>